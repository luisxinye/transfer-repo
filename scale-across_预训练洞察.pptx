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览" id="{1e548613-e067-ec63-d284-5229c20a9079}">
          <p14:sldIdLst>
            <p14:sldId id="256"/>
            <p14:sldId id="257"/>
          </p14:sldIdLst>
        </p14:section>
        <p14:section name="背景" id="{54d7a5d8-7322-a4ab-0c81-be584bbc2183}">
          <p14:sldIdLst>
            <p14:sldId id="258"/>
            <p14:sldId id="259"/>
            <p14:sldId id="260"/>
          </p14:sldIdLst>
        </p14:section>
        <p14:section name="并行与带宽" id="{e243d41b-eaeb-5d47-f162-62a533db7551}">
          <p14:sldIdLst>
            <p14:sldId id="261"/>
            <p14:sldId id="262"/>
            <p14:sldId id="263"/>
            <p14:sldId id="264"/>
            <p14:sldId id="265"/>
          </p14:sldIdLst>
        </p14:section>
        <p14:section name="算法" id="{176d9f63-b884-3b0a-9272-9fa29292d764}">
          <p14:sldIdLst>
            <p14:sldId id="266"/>
            <p14:sldId id="267"/>
            <p14:sldId id="268"/>
          </p14:sldIdLst>
        </p14:section>
        <p14:section name="可靠性与调度" id="{b5b82ea6-7ae4-3e21-799a-82c8e53c5d33}">
          <p14:sldIdLst>
            <p14:sldId id="269"/>
            <p14:sldId id="270"/>
          </p14:sldIdLst>
        </p14:section>
        <p14:section name="模型与硬件" id="{b2b7e932-d83f-a4a0-5292-afc4199b7d2b}">
          <p14:sldIdLst>
            <p14:sldId id="271"/>
            <p14:sldId id="272"/>
            <p14:sldId id="273"/>
          </p14:sldIdLst>
        </p14:section>
        <p14:section name="对比与展望" id="{2754ee59-f16a-ff06-d281-0fddb23523d7}">
          <p14:sldIdLst>
            <p14:sldId id="274"/>
            <p14:sldId id="275"/>
            <p14:sldId id="276"/>
          </p14:sldIdLst>
        </p14:section>
        <p14:section name="参考" id="{6d380bc5-77af-a0d4-67fc-69330f6406d0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</a:rPr>
              <a:t>跨站带宽需求（Tbps，每方向）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DP 跨站</c:v>
                </c:pt>
              </c:strCache>
            </c:strRef>
          </c:tx>
          <c:spPr>
            <a:solidFill>
              <a:srgbClr val="0091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MoE 671B</c:v>
                  </c:pt>
                  <c:pt idx="1">
                    <c:v>稠密 70B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12.9</c:v>
                </c:pt>
                <c:pt idx="1">
                  <c:v>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 跨站（单边界）</c:v>
                </c:pt>
              </c:strCache>
            </c:strRef>
          </c:tx>
          <c:spPr>
            <a:solidFill>
              <a:srgbClr val="C77C1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MoE 671B</c:v>
                  </c:pt>
                  <c:pt idx="1">
                    <c:v>稠密 70B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8.3</c:v>
                </c:pt>
                <c:pt idx="1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</a:rPr>
              <a:t>MoE 跨站 DP 带宽随卡数增长（Tbps，每方向）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MoE 跨站 DP</c:v>
                </c:pt>
              </c:strCache>
            </c:strRef>
          </c:tx>
          <c:spPr>
            <a:solidFill>
              <a:srgbClr val="0091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万卡</c:v>
                  </c:pt>
                  <c:pt idx="1">
                    <c:v>2 万卡</c:v>
                  </c:pt>
                  <c:pt idx="2">
                    <c:v>5 万卡</c:v>
                  </c:pt>
                  <c:pt idx="3">
                    <c:v>10 万卡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12.9</c:v>
                </c:pt>
                <c:pt idx="2">
                  <c:v>32.3</c:v>
                </c:pt>
                <c:pt idx="3">
                  <c:v>64.5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</a:rPr>
              <a:t>同步开销占墙钟时间（%）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同步开销占比</c:v>
                </c:pt>
              </c:strCache>
            </c:strRef>
          </c:tx>
          <c:spPr>
            <a:solidFill>
              <a:srgbClr val="0091B0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 = 100</c:v>
                  </c:pt>
                  <c:pt idx="1">
                    <c:v>H = 1000</c:v>
                  </c:pt>
                  <c:pt idx="2">
                    <c:v>H = 2000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5.7</c:v>
                </c:pt>
                <c:pt idx="2">
                  <c:v>3.1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accent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 deck 汇总跨站（scale-across）预训练的洞察：哪一维跨站、跨站带宽怎么估算、低通信算法的边界、可靠性与调度、对模型配方与网络硬件的要求，以及与 RL 后训练的对比。
封面四个数字：NVIDIA NeMo 博客（Nemotron-4 340B，芝加哥—阿什本约 1000 km，RTT 21 ms，扩展效率 &gt;96%）；MoE 671B/37B 的 P/P_act≈18；2 万卡算例（假设见第 8 页）；Meta Prometheus 博客（BAG 区域对之间 16–48 Pbps）。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六条结论对应后文各部分：1→第 4 页；2→第 6 页；3→第 7–9 页；4→第 9、11 页；5→第 12–13 页；6→第 14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scale-across 由 NVIDIA（Spectrum-XGS，2025.08）、Broadcom（Jericho4）、Cisco（Silicon One P200）等推动，作为 scale-up、scale-out 之后的第三个维度。区分点不是距离，而是是否有一个紧耦合作业跨过站点边界；跨 AZ 部署（容灾）与跨 AZ 训练目的相反。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推理其实是部署最分散的工作负载（多 region 就近服务），但单个实例/请求不跨站。RL 的 rollout 跨站，跨的是推理池与训练池之间的边界，不是实例内部。例子按 DeepSeek-V3 类 MoE 估算（约 58 个 MoE 层，每层 dispatch + combine）。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1.0 技术报告：超节点（superpod）内模型并行、超节点间数据并行，同步训练。NVIDIA 博客未给跨站带宽，也未说明本次实验具体跨的是哪一维。Fairwater 的“weeks instead of months”为微软自述。跨三台超算论文作者评价为“能跑通，还没有竞争力”。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放置原则：越内层通信越密、越怕时延。跨站只放 DP（必要时 PP）。NVIDIA NeMo 的跨站建议同样是优先 DP、PP。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推导：训练 FLOPs ≈ 6 × 激活参数 × token 数。分层 AllReduce：站内 ReduceScatter 后每卡持有 S/n 的分片，跨站对分片做 AllReduce，每卡发送 2(k−1)/k·S/n，站内 n 卡合计 2(k−1)/k·S，与 n 无关。所需带宽 = 每步量 ÷ 可重叠的时间窗，这里取整个 step（理想重叠）。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计算：MoE 每步 FLOPs = 6×37e9×6e7 ≈ 1.33e19；2 万卡×0.8 PF = 1.6e19 FLOP/s → 0.83 s。DP：671e9×2 B = 1.34 TB / 0.83 s ≈ 1.61 TB/s ≈ 12.9 Tbps。PP：6e7×7168×2 B = 0.86 TB → 8.3 Tbps。稠密：6×70e9×1.6e7 = 6.72e18 → 0.42 s；DP 140 GB → 2.7 Tbps；PP 1.6e7×8192×2 = 262 GB → 5.0 Tbps。MoE 配置参考 DeepSeek-V3 量级，仅为示意。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BW_DP ∝ N：每步跨站量固定，step 时间 ∝ 1/N。实际中卡数增加时通常会加大 batch，从而部分摊薄，但受临界 batch size 限制（第 11 页）。PP 的跨站带宽不随 batch 变化，但时延和故障耦合是主要代价。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左栏会放大第 8 页的估算；右栏是 NVIDIA NeMo 等已有的工程手段。HSDP：Hybrid Sharded Data Parallel，在站内做 FSDP 式切分，跨站只复制。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临界 batch size：超过后，增大 batch 带来的步数减少不再与 batch 成比例，样本效率下降（梯度噪声尺度理论）。训练过程中 loss 下降，临界 batch 通常增大，这也是常见的 batch ramp-up 做法的依据。DiLoCo 缩放律：Charles et al., NeurIPS 2025。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DiLoCo：每个副本（站点）用 AdamW 做 H 步内层优化，然后把参数变化量（伪梯度）跨站平均，用 Nesterov 动量做外层更新。缩放律论文（arXiv 2503.09799）指出仍需要能在大规模部署 DiLoCo 的系统软件。Streaming DiLoCo：arXiv 2501.18512。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是两次外层同步之间的本地步数。H 越大，同步开销越小，但各站点模型漂移越大，收敛质量受影响。Gemini（同步、跨多个数据中心）、Fairwater（跨多地单作业）、Prometheus（副本跨 BAG 同步）都是同步方案。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字节/参数 = bf16 权重 2 + fp32 主权重 4 + Adam 一阶矩 4 + 二阶矩 4。GGN 的隔离边界：路由器及以上严格隔离，L0/L1（光纤、光传输系统）机会性隔离，海缆等共用。Meta 原文：副本失败时自动排除，其余副本继续跨 BAG 同步。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 OCP 2026：目标是更长距离、混合多代硬件与多厂商的训练作业；跨 fabric 时延为 fabric 内的数倍。ECMP 与 WCMP 的区别见 GGN 解读：WCMP 按权重重复填写表项实现，比例越细表项越多。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这一页均为推导或设想：结论来自第 7–9 页的公式（BW_DP ∝ P/P_act）。“专家参数降频同步”目前没有公开的大规模验证。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在途数据量 = 带宽 × RTT；无损（PFC）要求下游为每端口每优先级预留不少于在途数据量的余量。容量为示意值：以 51.2T、64×800G 芯片计，160 MB 平均到每端口约 2.5 MB，约 25 µs；8 GB 平均每端口 125 MB，约 1.25 ms。Meta Prometheus 博客：BAG 线卡为 Jericho3，BAG 之间的长链路用深缓存提供 PFC 余量。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依据：Meta Prometheus 博客（Jericho3、UCMP、MACsec、16–48 Pbps）；GGN 论文（N−1 只覆盖 Tier-0/1，L0/L1 机会性隔离，ECMP 与 6% 不均衡，SE 的表项限制）；Cisco 赞助文章（The Register，2026.10）；Meta 10X Backbone（ZR 替代转发器，功耗降低 80–90%）。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前端/后端：后端网络专门承载加速器之间的集合通信（RDMA、无损、无收敛）；前端承载业务、存储、管理与对外流量。RL 的权重下发若训练与 rollout 同在一个后端网络，可走 NCCL/HCCL；跨集群或跨站只能走前端或 DCI。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按这个顺序可以把第 7–9 页的公式用到自己的集群上：先确定放置，再算 step 时间与两种切法的带宽，然后用可用带宽、临界 batch 和故障模型做约束检查。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这些问题在现有公开资料中都没有答案，可作为后续跟踪方向。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全部链接可点击。GGN 原文与中文解读位于同目录：3789240.3829114.pdf、GGN_解读.md。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zh-CN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zh-CN" alt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zh-CN" alt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chemeClr val="accent6"/>
                </a:solidFill>
              </a:rPr>
              <a:t>Scale-across：预训练层面的洞察 · 2026-10-21</a:t>
            </a:r>
            <a:endParaRPr lang="zh-CN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1003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null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nvidia.com/blog/turbocharge-llm-training-across-long-haul-data-center-networks-with-nvidia-nemo-framework/" TargetMode="External"/><Relationship Id="rId2" Type="http://schemas.openxmlformats.org/officeDocument/2006/relationships/hyperlink" Target="https://arxiv.org/pdf/2503.09799" TargetMode="External"/><Relationship Id="rId3" Type="http://schemas.openxmlformats.org/officeDocument/2006/relationships/hyperlink" Target="https://arxiv.org/pdf/2501.18512" TargetMode="External"/><Relationship Id="rId4" Type="http://schemas.openxmlformats.org/officeDocument/2006/relationships/hyperlink" Target="https://arxiv.org/abs/2610.03457" TargetMode="External"/><Relationship Id="rId5" Type="http://schemas.openxmlformats.org/officeDocument/2006/relationships/hyperlink" Target="https://arxiv.org/pdf/2507.00217" TargetMode="External"/><Relationship Id="rId6" Type="http://schemas.openxmlformats.org/officeDocument/2006/relationships/hyperlink" Target="https://arxiv.org/pdf/2605.25375" TargetMode="External"/><Relationship Id="rId7" Type="http://schemas.openxmlformats.org/officeDocument/2006/relationships/hyperlink" Target="https://arxiv.org/pdf/2510.12064" TargetMode="External"/><Relationship Id="rId8" Type="http://schemas.openxmlformats.org/officeDocument/2006/relationships/hyperlink" Target="https://arxiv.org/pdf/2503.11023" TargetMode="External"/><Relationship Id="rId9" Type="http://schemas.openxmlformats.org/officeDocument/2006/relationships/hyperlink" Target="https://news.microsoft.com/source/features/ai/from-wisconsin-to-atlanta-microsoft-connects-datacenters-to-build-its-first-ai-superfactory/" TargetMode="External"/><Relationship Id="rId10" Type="http://schemas.openxmlformats.org/officeDocument/2006/relationships/hyperlink" Target="https://engineering.fb.com/2026/02/09/data-center-engineering/building-prometheus-how-backend-aggregation-enables-gigawatt-scale-ai-clusters/" TargetMode="External"/><Relationship Id="rId11" Type="http://schemas.openxmlformats.org/officeDocument/2006/relationships/hyperlink" Target="https://engineering.fb.com/2026/10/12/open-source/ocp-summit-2026-powering-ai-with-open-innovations-in-scale-up-scale-out-and-scale-across-networks/" TargetMode="External"/><Relationship Id="rId12" Type="http://schemas.openxmlformats.org/officeDocument/2006/relationships/hyperlink" Target="https://doi.org/10.1145/3789240.3829114" TargetMode="External"/><Relationship Id="rId13" Type="http://schemas.openxmlformats.org/officeDocument/2006/relationships/hyperlink" Target="https://www.theregister.com/networks/2026/10/09/sponsored-growing-pains-how-distributed-ai-training-changes-the-network-between-datacenters/5301554" TargetMode="External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400" b="1" dirty="0">
                <a:solidFill>
                  <a:schemeClr val="bg1"/>
                </a:solidFill>
              </a:rPr>
              <a:t>Scale-across：预训练层面的洞察</a:t>
            </a:r>
            <a:endParaRPr lang="zh-CN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dirty="0">
                <a:solidFill>
                  <a:schemeClr val="accent4"/>
                </a:solidFill>
              </a:rPr>
              <a:t>哪一维跨站、带宽要多少、算法与可靠性怎么配合、对网络硬件的要求</a:t>
            </a:r>
            <a:endParaRPr lang="zh-CN" altLang="en-US" sz="2000" dirty="0"/>
          </a:p>
        </p:txBody>
      </p:sp>
      <p:sp>
        <p:nvSpPr>
          <p:cNvPr id="4" name="source line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4"/>
                </a:solidFill>
              </a:rPr>
              <a:t>依据：Google、NVIDIA、Meta、Microsoft 等公开论文与技术博客；标【推断】处为推导结论 · 2026-10-21</a:t>
            </a:r>
            <a:endParaRPr lang="zh-CN" altLang="en-US" sz="1200" dirty="0"/>
          </a:p>
        </p:txBody>
      </p:sp>
      <p:sp>
        <p:nvSpPr>
          <p:cNvPr id="5" name="hero tile 1"/>
          <p:cNvSpPr/>
          <p:nvPr/>
        </p:nvSpPr>
        <p:spPr>
          <a:xfrm>
            <a:off x="548640" y="306324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6" name="hero value 1"/>
          <p:cNvSpPr txBox="1"/>
          <p:nvPr/>
        </p:nvSpPr>
        <p:spPr>
          <a:xfrm>
            <a:off x="777240" y="329184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96%</a:t>
            </a:r>
            <a:endParaRPr lang="zh-CN" altLang="en-US" sz="2800" dirty="0"/>
          </a:p>
        </p:txBody>
      </p:sp>
      <p:sp>
        <p:nvSpPr>
          <p:cNvPr id="7" name="hero label 1"/>
          <p:cNvSpPr txBox="1"/>
          <p:nvPr/>
        </p:nvSpPr>
        <p:spPr>
          <a:xfrm>
            <a:off x="777240" y="4023360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NVIDIA：Nemotron-4 340B 跨约 1000 km 两地训练的扩展效率</a:t>
            </a:r>
            <a:endParaRPr lang="zh-CN" altLang="en-US" sz="1400" dirty="0"/>
          </a:p>
        </p:txBody>
      </p:sp>
      <p:sp>
        <p:nvSpPr>
          <p:cNvPr id="8" name="hero tile 2"/>
          <p:cNvSpPr/>
          <p:nvPr/>
        </p:nvSpPr>
        <p:spPr>
          <a:xfrm>
            <a:off x="3390824" y="306324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hero value 2"/>
          <p:cNvSpPr txBox="1"/>
          <p:nvPr/>
        </p:nvSpPr>
        <p:spPr>
          <a:xfrm>
            <a:off x="3619424" y="329184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≈18×</a:t>
            </a:r>
            <a:endParaRPr lang="zh-CN" altLang="en-US" sz="2800" dirty="0"/>
          </a:p>
        </p:txBody>
      </p:sp>
      <p:sp>
        <p:nvSpPr>
          <p:cNvPr id="10" name="hero label 2"/>
          <p:cNvSpPr txBox="1"/>
          <p:nvPr/>
        </p:nvSpPr>
        <p:spPr>
          <a:xfrm>
            <a:off x="3619424" y="4023360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MoE（671B 总参 / 37B 激活）跨站 DP 每单位算力的字节放大倍数【推断】</a:t>
            </a:r>
            <a:endParaRPr lang="zh-CN" altLang="en-US" sz="1400" dirty="0"/>
          </a:p>
        </p:txBody>
      </p:sp>
      <p:sp>
        <p:nvSpPr>
          <p:cNvPr id="11" name="hero tile 3"/>
          <p:cNvSpPr/>
          <p:nvPr/>
        </p:nvSpPr>
        <p:spPr>
          <a:xfrm>
            <a:off x="6233008" y="306324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2" name="hero value 3"/>
          <p:cNvSpPr txBox="1"/>
          <p:nvPr/>
        </p:nvSpPr>
        <p:spPr>
          <a:xfrm>
            <a:off x="6461608" y="329184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≈13 Tbps</a:t>
            </a:r>
            <a:endParaRPr lang="zh-CN" altLang="en-US" sz="2800" dirty="0"/>
          </a:p>
        </p:txBody>
      </p:sp>
      <p:sp>
        <p:nvSpPr>
          <p:cNvPr id="13" name="hero label 3"/>
          <p:cNvSpPr txBox="1"/>
          <p:nvPr/>
        </p:nvSpPr>
        <p:spPr>
          <a:xfrm>
            <a:off x="6461608" y="4023360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2 万卡 MoE 预训练跨站 DP 所需带宽，每方向【推断】</a:t>
            </a:r>
            <a:endParaRPr lang="zh-CN" altLang="en-US" sz="1400" dirty="0"/>
          </a:p>
        </p:txBody>
      </p:sp>
      <p:sp>
        <p:nvSpPr>
          <p:cNvPr id="14" name="hero tile 4"/>
          <p:cNvSpPr/>
          <p:nvPr/>
        </p:nvSpPr>
        <p:spPr>
          <a:xfrm>
            <a:off x="9075191" y="3063240"/>
            <a:ext cx="2567864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5" name="hero value 4"/>
          <p:cNvSpPr txBox="1"/>
          <p:nvPr/>
        </p:nvSpPr>
        <p:spPr>
          <a:xfrm>
            <a:off x="9303791" y="329184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16–48 Pbps</a:t>
            </a:r>
            <a:endParaRPr lang="zh-CN" altLang="en-US" sz="2800" dirty="0"/>
          </a:p>
        </p:txBody>
      </p:sp>
      <p:sp>
        <p:nvSpPr>
          <p:cNvPr id="16" name="hero label 4"/>
          <p:cNvSpPr txBox="1"/>
          <p:nvPr/>
        </p:nvSpPr>
        <p:spPr>
          <a:xfrm>
            <a:off x="9303791" y="4023360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Meta Prometheus 两个区域之间的 BAG 互联容量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00 · 结论摘要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六条核心结论</a:t>
            </a:r>
            <a:endParaRPr lang="zh-CN" altLang="en-US" sz="3200" dirty="0"/>
          </a:p>
        </p:txBody>
      </p:sp>
      <p:sp>
        <p:nvSpPr>
          <p:cNvPr id="4" name="conclusion 1"/>
          <p:cNvSpPr/>
          <p:nvPr/>
        </p:nvSpPr>
        <p:spPr>
          <a:xfrm>
            <a:off x="548640" y="1371600"/>
            <a:ext cx="351525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预训练是主要驱动</a:t>
            </a:r>
            <a:endParaRPr lang="zh-CN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同步单作业，每步跨站同步，单站点供电装不下；推理和 RL rollout 可以分散部署，不必拆单个作业</a:t>
            </a:r>
            <a:endParaRPr lang="zh-CN" altLang="en-US" sz="1600" dirty="0"/>
          </a:p>
        </p:txBody>
      </p:sp>
      <p:sp>
        <p:nvSpPr>
          <p:cNvPr id="8" name="conclusion 2"/>
          <p:cNvSpPr/>
          <p:nvPr/>
        </p:nvSpPr>
        <p:spPr>
          <a:xfrm>
            <a:off x="4338218" y="1371600"/>
            <a:ext cx="351525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456681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61178" y="160020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只有 DP、PP 能跨站</a:t>
            </a:r>
            <a:endParaRPr lang="zh-CN" alt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24028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TP、CP、EP 每层都要通信且对时延极敏感，必须留在超节点内</a:t>
            </a:r>
            <a:endParaRPr lang="zh-CN" altLang="en-US" sz="1600" dirty="0"/>
          </a:p>
        </p:txBody>
      </p:sp>
      <p:sp>
        <p:nvSpPr>
          <p:cNvPr id="12" name="conclusion 3"/>
          <p:cNvSpPr/>
          <p:nvPr/>
        </p:nvSpPr>
        <p:spPr>
          <a:xfrm>
            <a:off x="8127797" y="1371600"/>
            <a:ext cx="351525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/>
          <p:nvPr/>
        </p:nvSpPr>
        <p:spPr>
          <a:xfrm>
            <a:off x="8356397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3</a:t>
            </a:r>
            <a:endParaRPr lang="zh-CN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50757" y="160020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稀疏度决定切 DP 还是 PP</a:t>
            </a:r>
            <a:endParaRPr lang="zh-CN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24028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稠密模型跨站 DP 更省；MoE 的 DP 流量约放大 P/P_act 倍，PP 流量更小但耦合更紧【推断】</a:t>
            </a:r>
            <a:endParaRPr lang="zh-CN" altLang="en-US" sz="1600" dirty="0"/>
          </a:p>
        </p:txBody>
      </p:sp>
      <p:sp>
        <p:nvSpPr>
          <p:cNvPr id="16" name="conclusion 4"/>
          <p:cNvSpPr/>
          <p:nvPr/>
        </p:nvSpPr>
        <p:spPr>
          <a:xfrm>
            <a:off x="548640" y="3977640"/>
            <a:ext cx="351525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4</a:t>
            </a:r>
            <a:endParaRPr lang="zh-CN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0624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带宽随卡数线性增长</a:t>
            </a:r>
            <a:endParaRPr lang="zh-CN" alt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4632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每步跨站量固定，卡越多 step 越短；加大 batch 可以摊薄，但受临界 batch size 限制</a:t>
            </a:r>
            <a:endParaRPr lang="zh-CN" altLang="en-US" sz="1600" dirty="0"/>
          </a:p>
        </p:txBody>
      </p:sp>
      <p:sp>
        <p:nvSpPr>
          <p:cNvPr id="20" name="conclusion 5"/>
          <p:cNvSpPr/>
          <p:nvPr/>
        </p:nvSpPr>
        <p:spPr>
          <a:xfrm>
            <a:off x="4338218" y="3977640"/>
            <a:ext cx="351525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1" name="badge 5"/>
          <p:cNvSpPr/>
          <p:nvPr/>
        </p:nvSpPr>
        <p:spPr>
          <a:xfrm>
            <a:off x="4566818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5</a:t>
            </a:r>
            <a:endParaRPr lang="zh-CN" alt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61178" y="420624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同城同步训练已可行</a:t>
            </a:r>
            <a:endParaRPr lang="zh-CN" alt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484632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NVIDIA 在 1000 km、RTT 21 ms 下扩展效率 96%；DiLoCo 适合跨区域、低带宽、多站点</a:t>
            </a:r>
            <a:endParaRPr lang="zh-CN" altLang="en-US" sz="1600" dirty="0"/>
          </a:p>
        </p:txBody>
      </p:sp>
      <p:sp>
        <p:nvSpPr>
          <p:cNvPr id="24" name="conclusion 6"/>
          <p:cNvSpPr/>
          <p:nvPr/>
        </p:nvSpPr>
        <p:spPr>
          <a:xfrm>
            <a:off x="8127797" y="3977640"/>
            <a:ext cx="351525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5" name="badge 6"/>
          <p:cNvSpPr/>
          <p:nvPr/>
        </p:nvSpPr>
        <p:spPr>
          <a:xfrm>
            <a:off x="8356397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6</a:t>
            </a:r>
            <a:endParaRPr lang="zh-CN" alt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50757" y="420624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故障对齐到 DP 副本</a:t>
            </a:r>
            <a:endParaRPr lang="zh-CN" alt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484632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一个站点出问题应只损失若干副本、训练继续；PP 跨站做不到这一点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01 · 背景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scale-across 是什么，分哪几档</a:t>
            </a:r>
            <a:endParaRPr lang="zh-CN" altLang="en-US" sz="3200" dirty="0"/>
          </a:p>
        </p:txBody>
      </p:sp>
      <p:sp>
        <p:nvSpPr>
          <p:cNvPr id="4" name="tier 1"/>
          <p:cNvSpPr/>
          <p:nvPr/>
        </p:nvSpPr>
        <p:spPr>
          <a:xfrm>
            <a:off x="548640" y="1371600"/>
            <a:ext cx="5120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scale-up：超节点内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NVLink、UB、HCCS；时延百 ns～1 µs</a:t>
            </a:r>
            <a:endParaRPr lang="zh-CN" altLang="en-US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承载 TP、EP、CP</a:t>
            </a:r>
            <a:endParaRPr lang="zh-CN" altLang="en-US" sz="1400" dirty="0"/>
          </a:p>
        </p:txBody>
      </p:sp>
      <p:sp>
        <p:nvSpPr>
          <p:cNvPr id="7" name="tier 2"/>
          <p:cNvSpPr/>
          <p:nvPr/>
        </p:nvSpPr>
        <p:spPr>
          <a:xfrm>
            <a:off x="548640" y="2971800"/>
            <a:ext cx="5120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136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scale-out：数据中心内</a:t>
            </a:r>
            <a:endParaRPr lang="zh-CN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InfiniBand / RoCE Clos；时延几 µs</a:t>
            </a:r>
            <a:endParaRPr lang="zh-CN" altLang="en-US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承载 PP、DP</a:t>
            </a:r>
            <a:endParaRPr lang="zh-CN" altLang="en-US" sz="1400" dirty="0"/>
          </a:p>
        </p:txBody>
      </p:sp>
      <p:sp>
        <p:nvSpPr>
          <p:cNvPr id="10" name="tier 3"/>
          <p:cNvSpPr/>
          <p:nvPr/>
        </p:nvSpPr>
        <p:spPr>
          <a:xfrm>
            <a:off x="548640" y="4572000"/>
            <a:ext cx="512064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scale-across：多个数据中心</a:t>
            </a:r>
            <a:endParaRPr lang="zh-CN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DCI + 深缓存；每 100 km 单程约 0.5 ms</a:t>
            </a:r>
            <a:endParaRPr lang="zh-CN" altLang="en-US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跨站的维度以 DP 为主</a:t>
            </a:r>
            <a:endParaRPr lang="zh-CN" altLang="en-US" sz="1400" dirty="0"/>
          </a:p>
        </p:txBody>
      </p:sp>
      <p:graphicFrame>
        <p:nvGraphicFramePr>
          <p:cNvPr id="4" name="distance ti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371600"/>
          <a:ext cx="565373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234440"/>
                <a:gridCol w="1767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档位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距离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RTT（光纤传播）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典型做法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同园区跨楼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几公里内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10 µs 级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楼级 fabric + 汇聚层（如 Meta BAG）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同城 / 跨 AZ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几十到一百多公里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0.1～5 ms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同步分层 DP；长距无损需要深缓存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跨区域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几百到几千公里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几～几十 ms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 DP 仍可行；带宽不足时用 DiLoCo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4" name="concept notes"/>
          <p:cNvSpPr/>
          <p:nvPr/>
        </p:nvSpPr>
        <p:spPr>
          <a:xfrm>
            <a:off x="5989320" y="3840480"/>
            <a:ext cx="5653735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40233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光纤约 5 µs/km，100 km 往返约 1 ms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Google GGN 把 metro 定义为组内 RTT ≤ 5 ms 的一组 region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跨 AZ 训练：一个训练作业横跨同一 region 的多个 AZ，是 scale-across 最常见的一档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01 · 背景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为什么跨站的是训练，而不是推理</a:t>
            </a:r>
            <a:endParaRPr lang="zh-CN" altLang="en-US" sz="3200" dirty="0"/>
          </a:p>
        </p:txBody>
      </p:sp>
      <p:graphicFrame>
        <p:nvGraphicFramePr>
          <p:cNvPr id="5" name="workload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648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预训练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推理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RL 后训练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作业形态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一个超大同步作业，十万卡级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海量独立请求，单实例几卡到几百卡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训练同步；rollout 是大量独立推理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单作业是否必须拆到多个站点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是：单个站点的供电装不下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否：副本可分散到各站点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训练侧否；rollout 池可放到其他站点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跨站时延容忍度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DP 每步同步一次，毫秒级可接受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单实例内部不能跨站（TPOT 目标 20～50 ms）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权重每步同步一次，可用 staleness 掩盖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结论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scale-across 的主要驱动力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多 region 部署，但实例不跨站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最容易落地跨站的场景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inference example"/>
          <p:cNvSpPr/>
          <p:nvPr/>
        </p:nvSpPr>
        <p:spPr>
          <a:xfrm>
            <a:off x="548640" y="484632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93776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例：</a:t>
            </a:r>
            <a:pPr indent="0" marL="0"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MoE 推理如果把 EP 切到两个站点，每生成 1 个 token 要经过约 58 个 MoE 层 × 2 次 all-to-all；100 km 单程 0.5 ms，每个 token 至少多出约 58 ms，超过 20～50 ms 的 TPOT 目标。所以推理的单个实例不跨站。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01 · 背景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已有的跨站预训练实践</a:t>
            </a:r>
            <a:endParaRPr lang="zh-CN" altLang="en-US" sz="3200" dirty="0"/>
          </a:p>
        </p:txBody>
      </p:sp>
      <p:graphicFrame>
        <p:nvGraphicFramePr>
          <p:cNvPr id="6" name="cas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651760"/>
                <a:gridCol w="24076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案例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规模与距离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跨站维度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结果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Google Gemini Ultra（2023）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多个数据中心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超节点内模型并行，超节点之间 DP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同步训练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NVIDIA NeMo · Nemotron-4 340B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3072 卡；芝加哥—阿什本约 1000 km，RTT 21 ms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推荐 DP 与 PP（本次实验未说明）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扩展效率 &gt;96%；MFU 51% → 49%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Microsoft Fairwater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威斯康星—亚特兰大约 700 英里，专用 AI-WAN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未公开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跨多地的单个大作业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Meta Prometheus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一个区域内多栋楼，约 1 GW，经 BAG 互联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副本（DP）跨 BAG 同步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副本故障自动剔除，其余继续同步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跨三台超算（arXiv 2610.03457）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Qwen3-0.6B，最远相距 7400 km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DiLoCo 式两层循环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困惑度 34.7，集中式 28.2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vidia features"/>
          <p:cNvSpPr/>
          <p:nvPr/>
        </p:nvSpPr>
        <p:spPr>
          <a:xfrm>
            <a:off x="548640" y="4617720"/>
            <a:ext cx="11094415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70916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</a:rPr>
              <a:t>NVIDIA 为跨站训练加入的功能（NeMo 25.02 / Megatron-Core 0.11）</a:t>
            </a:r>
            <a:endParaRPr lang="zh-CN" alt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2064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分层 AllReduce：</a:t>
            </a:r>
            <a:pPr indent="0" marL="0">
              <a:spcAft>
                <a:spcPts val="40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站内 ReduceScatter → 跨站 AllReduce → 站内 AllGather</a:t>
            </a:r>
            <a:endParaRPr lang="zh-CN" alt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部分 DP 分布式优化器：</a:t>
            </a:r>
            <a:pPr indent="0" marL="0">
              <a:spcAft>
                <a:spcPts val="40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优化器状态只在站内切分，跨站只做一次梯度归约</a:t>
            </a:r>
            <a:endParaRPr lang="zh-CN" alt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5120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分块传输：</a:t>
            </a:r>
            <a:pPr indent="0" marL="0">
              <a:spcAft>
                <a:spcPts val="40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跨站传输切块，与计算重叠</a:t>
            </a:r>
            <a:endParaRPr lang="zh-CN" alt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按时延容忍度选并行：</a:t>
            </a:r>
            <a:pPr indent="0" marL="0">
              <a:spcAft>
                <a:spcPts val="400"/>
              </a:spcAft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跨站优先 DP、PP，不用 TP、CP、EP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02 · 并行与带宽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能跨站的只有 DP 和 PP</a:t>
            </a:r>
            <a:endParaRPr lang="zh-CN" altLang="en-US" sz="3200" dirty="0"/>
          </a:p>
        </p:txBody>
      </p:sp>
      <p:graphicFrame>
        <p:nvGraphicFramePr>
          <p:cNvPr id="7" name="dim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1463040"/>
                <a:gridCol w="1783080"/>
                <a:gridCol w="868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维度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通信频率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通信量正比于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对时延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能否跨站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TP / CP / EP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每层、每个 micro-batch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激活值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极敏感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否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PP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每个 micro-batch、每个 stage 边界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每步 token × hidden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敏感：时延累加进流水线气泡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可以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DP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每个 step 一次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总参数量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不敏感：大块传输，可与反向重叠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可以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dims notes"/>
          <p:cNvSpPr/>
          <p:nvPr/>
        </p:nvSpPr>
        <p:spPr>
          <a:xfrm>
            <a:off x="548640" y="4160520"/>
            <a:ext cx="7132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343400"/>
            <a:ext cx="6583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跨站只能选通信不频繁、可以和计算重叠的维度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PP 跨站：流量小，但每个 micro-batch 都要过站点边界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tx1"/>
                </a:solidFill>
              </a:rPr>
              <a:t>DP 跨站：每步一次大块同步，站点故障时只损失副本</a:t>
            </a:r>
            <a:endParaRPr lang="zh-CN" altLang="en-US" sz="1600" dirty="0"/>
          </a:p>
        </p:txBody>
      </p:sp>
      <p:sp>
        <p:nvSpPr>
          <p:cNvPr id="7" name="across ring"/>
          <p:cNvSpPr/>
          <p:nvPr/>
        </p:nvSpPr>
        <p:spPr>
          <a:xfrm>
            <a:off x="8001000" y="1371600"/>
            <a:ext cx="3642055" cy="4754880"/>
          </a:xfrm>
          <a:prstGeom prst="roundRect">
            <a:avLst>
              <a:gd name="adj" fmla="val 200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1481328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</a:rPr>
              <a:t>跨站（scale-across）：DP</a:t>
            </a:r>
            <a:endParaRPr lang="zh-CN" altLang="en-US" sz="1400" dirty="0"/>
          </a:p>
        </p:txBody>
      </p:sp>
      <p:sp>
        <p:nvSpPr>
          <p:cNvPr id="9" name="site ring"/>
          <p:cNvSpPr/>
          <p:nvPr/>
        </p:nvSpPr>
        <p:spPr>
          <a:xfrm>
            <a:off x="8275320" y="1965960"/>
            <a:ext cx="3093415" cy="3886200"/>
          </a:xfrm>
          <a:prstGeom prst="roundRect">
            <a:avLst>
              <a:gd name="adj" fmla="val 23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2075688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</a:rPr>
              <a:t>站内（scale-out）：PP、DP</a:t>
            </a:r>
            <a:endParaRPr lang="zh-CN" altLang="en-US" sz="1400" dirty="0"/>
          </a:p>
        </p:txBody>
      </p:sp>
      <p:sp>
        <p:nvSpPr>
          <p:cNvPr id="11" name="superpod core"/>
          <p:cNvSpPr/>
          <p:nvPr/>
        </p:nvSpPr>
        <p:spPr>
          <a:xfrm>
            <a:off x="8549640" y="2606040"/>
            <a:ext cx="2544775" cy="2971800"/>
          </a:xfrm>
          <a:prstGeom prst="roundRect">
            <a:avLst>
              <a:gd name="adj" fmla="val 2875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78240" y="2788920"/>
            <a:ext cx="2087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超节点内（scale-up）</a:t>
            </a:r>
            <a:endParaRPr lang="zh-CN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291840"/>
            <a:ext cx="2087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TP、EP、CP</a:t>
            </a:r>
            <a:endParaRPr lang="zh-CN" altLang="en-US" sz="1600" dirty="0"/>
          </a:p>
          <a:p>
            <a:pPr indent="0" marL="0"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通信最密集</a:t>
            </a:r>
            <a:endParaRPr lang="zh-CN" altLang="en-US" sz="1600" dirty="0"/>
          </a:p>
          <a:p>
            <a:pPr indent="0" marL="0"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时延要求最高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02 · 并行与带宽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跨站流量与带宽的估算公式</a:t>
            </a:r>
            <a:endParaRPr lang="zh-CN" altLang="en-US" sz="3200" dirty="0"/>
          </a:p>
        </p:txBody>
      </p:sp>
      <p:sp>
        <p:nvSpPr>
          <p:cNvPr id="4" name="formula 1"/>
          <p:cNvSpPr/>
          <p:nvPr/>
        </p:nvSpPr>
        <p:spPr>
          <a:xfrm>
            <a:off x="548640" y="1371600"/>
            <a:ext cx="73152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</a:rPr>
              <a:t>step 时间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4708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T_step ≈ 6 · P_act · B_tok / (N · F_eff)</a:t>
            </a:r>
            <a:endParaRPr lang="zh-CN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算力只由激活参数 P_act 决定</a:t>
            </a:r>
            <a:endParaRPr lang="zh-CN" altLang="en-US" sz="1200" dirty="0"/>
          </a:p>
        </p:txBody>
      </p:sp>
      <p:sp>
        <p:nvSpPr>
          <p:cNvPr id="8" name="formula 2"/>
          <p:cNvSpPr/>
          <p:nvPr/>
        </p:nvSpPr>
        <p:spPr>
          <a:xfrm>
            <a:off x="548640" y="2999232"/>
            <a:ext cx="73152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108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</a:rPr>
              <a:t>DP 跨站（分层 AllReduce，k 个站点）</a:t>
            </a:r>
            <a:endParaRPr lang="zh-CN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74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每站每步发送 ≈ 2(k−1)/k · P · b_g</a:t>
            </a:r>
            <a:endParaRPr lang="zh-CN" altLang="en-US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BW_DP ≈ 2(k−1)/k · b_g · (P/P_act) · N · F_eff / (6 · B_tok)</a:t>
            </a:r>
            <a:endParaRPr lang="zh-CN" alt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96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k = 2 时，每站每步发送 ≈ P · b_g</a:t>
            </a:r>
            <a:endParaRPr lang="zh-CN" altLang="en-US" sz="1200" dirty="0"/>
          </a:p>
        </p:txBody>
      </p:sp>
      <p:sp>
        <p:nvSpPr>
          <p:cNvPr id="12" name="formula 3"/>
          <p:cNvSpPr/>
          <p:nvPr/>
        </p:nvSpPr>
        <p:spPr>
          <a:xfrm>
            <a:off x="548640" y="4626864"/>
            <a:ext cx="731520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36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</a:rPr>
              <a:t>PP 跨站（每个 stage 边界、每个方向）</a:t>
            </a:r>
            <a:endParaRPr lang="zh-CN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1023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每步 ≈ B_tok · h · b_a</a:t>
            </a:r>
            <a:endParaRPr lang="zh-CN" altLang="en-US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BW_PP ≈ h · b_a · N · F_eff / (6 · P_act)</a:t>
            </a:r>
            <a:endParaRPr lang="zh-CN" alt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241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前向传激活值、反向传梯度，两个方向各一份</a:t>
            </a:r>
            <a:endParaRPr lang="zh-CN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1371600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怎么读这些公式</a:t>
            </a:r>
            <a:endParaRPr lang="zh-CN" alt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1828800"/>
            <a:ext cx="345917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BW_DP ∝ 稀疏度 P/P_act × 卡数 N ÷ 每步 token B_tok</a:t>
            </a:r>
            <a:endParaRPr lang="zh-CN" alt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每步 DP 跨站量与站内卡数无关：分层 AllReduce 把它摊到多条并行链路上</a:t>
            </a:r>
            <a:endParaRPr lang="zh-CN" alt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BW_PP 与 B_tok、总参数 P 都无关，只取决于 hidden 和激活参数</a:t>
            </a:r>
            <a:endParaRPr lang="zh-CN" alt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站点数 k 增大，DP 每站发送量按 2(k−1)/k 增长</a:t>
            </a:r>
            <a:endParaRPr lang="zh-CN" alt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5074920"/>
            <a:ext cx="34591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符号：P 总参数 · P_act 激活参数 · h hidden size · B_tok 每步 token 数 · N 卡数 · F_eff 每卡有效算力 · b_g / b_a 梯度 / 激活的字节数 · k 站点数</a:t>
            </a:r>
            <a:endParaRPr lang="zh-CN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02 · 并行与带宽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算例：MoE 与稠密模型的跨站带宽</a:t>
            </a:r>
            <a:endParaRPr lang="zh-CN" altLang="en-US" sz="3200" dirty="0"/>
          </a:p>
        </p:txBody>
      </p:sp>
      <p:sp>
        <p:nvSpPr>
          <p:cNvPr id="4" name="assumptions"/>
          <p:cNvSpPr/>
          <p:nvPr/>
        </p:nvSpPr>
        <p:spPr>
          <a:xfrm>
            <a:off x="548640" y="1371600"/>
            <a:ext cx="5257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</a:rPr>
              <a:t>假设【推断】</a:t>
            </a:r>
            <a:endParaRPr lang="zh-CN" altLang="en-US" sz="1400" dirty="0"/>
          </a:p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两个站点共 20,000 张卡；每卡有效算力 0.8 PFLOP/s（约 2 PFLOPS 峰值 × 40% MFU）；梯度与激活值用 bf16；通信与计算完全重叠</a:t>
            </a:r>
            <a:endParaRPr lang="zh-CN" altLang="en-US" sz="1400" dirty="0"/>
          </a:p>
        </p:txBody>
      </p:sp>
      <p:graphicFrame>
        <p:nvGraphicFramePr>
          <p:cNvPr id="9" name="example nu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257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916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MoE 671B（37B 激活）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稠密 70B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hidden / 每步 token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7168 / 6000 万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8192 / 1600 万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step 时间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≈ 0.83 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≈ 0.42 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DP 跨站量（每方向每步）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1.34 TB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140 GB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PP 跨站量（每方向每步，一个边界）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0.86 TB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262 GB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bandwidth chart" descr=""/>
          <p:cNvGraphicFramePr/>
          <p:nvPr/>
        </p:nvGraphicFramePr>
        <p:xfrm>
          <a:off x="6172200" y="1371600"/>
          <a:ext cx="5470855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example takeaway"/>
          <p:cNvSpPr/>
          <p:nvPr/>
        </p:nvSpPr>
        <p:spPr>
          <a:xfrm>
            <a:off x="6172200" y="5623560"/>
            <a:ext cx="5470855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355080" y="5623560"/>
            <a:ext cx="5105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MoE：PP 更省；稠密：DP 更省 —— 稀疏度决定跨站切哪一维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02 · 并行与带宽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从算例得出的三点推论</a:t>
            </a:r>
            <a:endParaRPr lang="zh-CN" altLang="en-US" sz="3200" dirty="0"/>
          </a:p>
        </p:txBody>
      </p:sp>
      <p:graphicFrame>
        <p:nvGraphicFramePr>
          <p:cNvPr id="4" name="scaling chart" descr=""/>
          <p:cNvGraphicFramePr/>
          <p:nvPr/>
        </p:nvGraphicFramePr>
        <p:xfrm>
          <a:off x="548640" y="13716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假设每步 token 数不变（6000 万）；稠密 70B 同条件下为 1.3 / 2.7 / 6.7 / 13.3 Tbps</a:t>
            </a:r>
            <a:endParaRPr lang="zh-CN" altLang="en-US" sz="1200" dirty="0"/>
          </a:p>
        </p:txBody>
      </p:sp>
      <p:sp>
        <p:nvSpPr>
          <p:cNvPr id="6" name="badge 1"/>
          <p:cNvSpPr/>
          <p:nvPr/>
        </p:nvSpPr>
        <p:spPr>
          <a:xfrm>
            <a:off x="6263640" y="138988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37160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MoE 让跨站 DP 变贵</a:t>
            </a:r>
            <a:endParaRPr lang="zh-CN" alt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847088"/>
            <a:ext cx="4785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DP 流量跟总参数 P 走，算力跟激活参数 P_act 走；每步 token 相同时，每单位算力的跨站字节约放大 P/P_act ≈ 18 倍</a:t>
            </a:r>
            <a:endParaRPr lang="zh-CN" altLang="en-US" sz="1400" dirty="0"/>
          </a:p>
        </p:txBody>
      </p:sp>
      <p:sp>
        <p:nvSpPr>
          <p:cNvPr id="9" name="badge 2"/>
          <p:cNvSpPr/>
          <p:nvPr/>
        </p:nvSpPr>
        <p:spPr>
          <a:xfrm>
            <a:off x="6263640" y="299008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97180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卡数翻倍，带宽翻倍</a:t>
            </a:r>
            <a:endParaRPr lang="zh-CN" alt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447288"/>
            <a:ext cx="4785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每步跨站量不变，step 时间减半；10 万卡约需 64 Tbps。Meta 区域对之间的 BAG 做到 16～48 Pbps，还要为突发、多作业和放置留余量</a:t>
            </a:r>
            <a:endParaRPr lang="zh-CN" altLang="en-US" sz="1400" dirty="0"/>
          </a:p>
        </p:txBody>
      </p:sp>
      <p:sp>
        <p:nvSpPr>
          <p:cNvPr id="12" name="badge 3"/>
          <p:cNvSpPr/>
          <p:nvPr/>
        </p:nvSpPr>
        <p:spPr>
          <a:xfrm>
            <a:off x="6263640" y="459028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3</a:t>
            </a:r>
            <a:endParaRPr lang="zh-CN" alt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4572000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PP 流量小，但耦合紧</a:t>
            </a:r>
            <a:endParaRPr lang="zh-CN" alt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5047488"/>
            <a:ext cx="4785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每个 micro-batch 都过站点边界，时延进入流水线气泡；任一站点的 stage 出问题，所有流水线都停。GeoPipe、CrossPipe 专门优化跨站 PP 调度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02 · 并行与带宽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估算的局限，以及降低跨站流量的工程手段</a:t>
            </a:r>
            <a:endParaRPr lang="zh-CN" altLang="en-US" sz="3200" dirty="0"/>
          </a:p>
        </p:txBody>
      </p:sp>
      <p:sp>
        <p:nvSpPr>
          <p:cNvPr id="4" name="raises demand"/>
          <p:cNvSpPr/>
          <p:nvPr/>
        </p:nvSpPr>
        <p:spPr>
          <a:xfrm>
            <a:off x="548640" y="1371600"/>
            <a:ext cx="5410048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5"/>
                </a:solidFill>
              </a:rPr>
              <a:t>会让实际需求更高的因素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614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反向尾部无法重叠：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最后几层的梯度算完才能开始同步，实际需要更高带宽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fp32 梯度归约：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DP 跨站流量翻倍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跨站使用 ZeRO-3 / FSDP：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每步还要跨站 AllGather 参数，流量成倍增加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交错（interleaved）PP：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跨站的 stage 边界可能不止一个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突发与多作业：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集合通信是毫秒级突发，链路还被多个作业共享</a:t>
            </a:r>
            <a:endParaRPr lang="zh-CN" altLang="en-US" sz="1600" dirty="0"/>
          </a:p>
        </p:txBody>
      </p:sp>
      <p:sp>
        <p:nvSpPr>
          <p:cNvPr id="7" name="reduces demand"/>
          <p:cNvSpPr/>
          <p:nvPr/>
        </p:nvSpPr>
        <p:spPr>
          <a:xfrm>
            <a:off x="6233008" y="1371600"/>
            <a:ext cx="5410048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07328" y="150876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</a:rPr>
              <a:t>降低跨站流量的工程手段</a:t>
            </a:r>
            <a:endParaRPr lang="zh-CN" alt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011680"/>
            <a:ext cx="48614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分层 AllReduce：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跨站量与站内卡数无关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站内切分、跨站复制：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HSDP，或 NVIDIA 的部分 DP 分布式优化器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分块传输并与计算重叠：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隐藏跨站时延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低精度梯度通信：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bf16 / fp8 归约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加大每步 token：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摊薄每步固定的跨站量，受临界 batch 限制</a:t>
            </a:r>
            <a:endParaRPr lang="zh-CN" alt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降低同步频率：</a:t>
            </a:r>
            <a:pPr indent="0" marL="0">
              <a:spcAft>
                <a:spcPts val="14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DiLoCo 一类方法（第 03 部分）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03 · 算法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临界 batch size 与跨站 DP 的结构性矛盾</a:t>
            </a:r>
            <a:endParaRPr lang="zh-CN" altLang="en-US" sz="3200" dirty="0"/>
          </a:p>
        </p:txBody>
      </p:sp>
      <p:sp>
        <p:nvSpPr>
          <p:cNvPr id="4" name="chain 1"/>
          <p:cNvSpPr/>
          <p:nvPr/>
        </p:nvSpPr>
        <p:spPr>
          <a:xfrm>
            <a:off x="548640" y="1463040"/>
            <a:ext cx="19262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集群变大</a:t>
            </a:r>
            <a:endParaRPr lang="zh-CN" altLang="en-US" sz="1400" dirty="0"/>
          </a:p>
        </p:txBody>
      </p:sp>
      <p:sp>
        <p:nvSpPr>
          <p:cNvPr id="5" name="chain arrow 1"/>
          <p:cNvSpPr/>
          <p:nvPr/>
        </p:nvSpPr>
        <p:spPr>
          <a:xfrm>
            <a:off x="2538923" y="1801368"/>
            <a:ext cx="23774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hain 2"/>
          <p:cNvSpPr/>
          <p:nvPr/>
        </p:nvSpPr>
        <p:spPr>
          <a:xfrm>
            <a:off x="2840675" y="1463040"/>
            <a:ext cx="19262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DP 副本增加</a:t>
            </a:r>
            <a:endParaRPr lang="zh-CN" altLang="en-US" sz="1400" dirty="0"/>
          </a:p>
        </p:txBody>
      </p:sp>
      <p:sp>
        <p:nvSpPr>
          <p:cNvPr id="7" name="chain arrow 2"/>
          <p:cNvSpPr/>
          <p:nvPr/>
        </p:nvSpPr>
        <p:spPr>
          <a:xfrm>
            <a:off x="4830958" y="1801368"/>
            <a:ext cx="23774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hain 3"/>
          <p:cNvSpPr/>
          <p:nvPr/>
        </p:nvSpPr>
        <p:spPr>
          <a:xfrm>
            <a:off x="5132710" y="1463040"/>
            <a:ext cx="19262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全局 batch 超过临界值</a:t>
            </a:r>
            <a:endParaRPr lang="zh-CN" altLang="en-US" sz="1400" dirty="0"/>
          </a:p>
        </p:txBody>
      </p:sp>
      <p:sp>
        <p:nvSpPr>
          <p:cNvPr id="9" name="chain arrow 3"/>
          <p:cNvSpPr/>
          <p:nvPr/>
        </p:nvSpPr>
        <p:spPr>
          <a:xfrm>
            <a:off x="7122993" y="1801368"/>
            <a:ext cx="23774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ain 4"/>
          <p:cNvSpPr/>
          <p:nvPr/>
        </p:nvSpPr>
        <p:spPr>
          <a:xfrm>
            <a:off x="7424745" y="1463040"/>
            <a:ext cx="1926275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只能加 PP / EP</a:t>
            </a:r>
            <a:endParaRPr lang="zh-CN" altLang="en-US" sz="1400" dirty="0"/>
          </a:p>
        </p:txBody>
      </p:sp>
      <p:sp>
        <p:nvSpPr>
          <p:cNvPr id="11" name="chain arrow 4"/>
          <p:cNvSpPr/>
          <p:nvPr/>
        </p:nvSpPr>
        <p:spPr>
          <a:xfrm>
            <a:off x="9415028" y="1801368"/>
            <a:ext cx="237744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hain 5"/>
          <p:cNvSpPr/>
          <p:nvPr/>
        </p:nvSpPr>
        <p:spPr>
          <a:xfrm>
            <a:off x="9716780" y="1463040"/>
            <a:ext cx="1926275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而 PP / EP 最不适合跨站</a:t>
            </a:r>
            <a:endParaRPr lang="zh-CN" altLang="en-US" sz="1400" dirty="0"/>
          </a:p>
        </p:txBody>
      </p:sp>
      <p:sp>
        <p:nvSpPr>
          <p:cNvPr id="13" name="meaning"/>
          <p:cNvSpPr/>
          <p:nvPr/>
        </p:nvSpPr>
        <p:spPr>
          <a:xfrm>
            <a:off x="548640" y="2788920"/>
            <a:ext cx="5410048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9260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含义【推断】</a:t>
            </a:r>
            <a:endParaRPr lang="zh-CN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8328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最容易跨站的维度（DP），正好是最先被临界 batch size 卡住的维度。规模越大，越难只靠跨站 DP 扩展。</a:t>
            </a:r>
            <a:endParaRPr lang="zh-CN" alt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43400"/>
            <a:ext cx="4861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超过临界 batch 后，每个 token 的训练效率下降，要用更多 token 才能达到同样的 loss</a:t>
            </a:r>
            <a:endParaRPr lang="zh-CN" alt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600" dirty="0">
                <a:solidFill>
                  <a:schemeClr val="bg1"/>
                </a:solidFill>
              </a:rPr>
              <a:t>剔除故障副本也会改变全局 batch，需要调整学习率或用梯度累积补齐</a:t>
            </a:r>
            <a:endParaRPr lang="zh-CN" altLang="en-US" sz="1600" dirty="0"/>
          </a:p>
        </p:txBody>
      </p:sp>
      <p:sp>
        <p:nvSpPr>
          <p:cNvPr id="17" name="mitigations"/>
          <p:cNvSpPr/>
          <p:nvPr/>
        </p:nvSpPr>
        <p:spPr>
          <a:xfrm>
            <a:off x="6233008" y="2788920"/>
            <a:ext cx="5410048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29260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</a:rPr>
              <a:t>缓解方向</a:t>
            </a:r>
            <a:endParaRPr lang="zh-CN" alt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338328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DiLoCo：</a:t>
            </a:r>
            <a:pPr indent="0" marL="0">
              <a:spcAft>
                <a:spcPts val="10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缩放律论文显示其最优 batch 更大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batch 随训练增大：</a:t>
            </a:r>
            <a:pPr indent="0" marL="0">
              <a:spcAft>
                <a:spcPts val="10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训练后期的临界 batch 通常更大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放置：</a:t>
            </a:r>
            <a:pPr indent="0" marL="0">
              <a:spcAft>
                <a:spcPts val="10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PP、EP 在站内用足，只让 DP 跨站</a:t>
            </a:r>
            <a:endParaRPr lang="zh-CN" alt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提升单站规模：</a:t>
            </a:r>
            <a:pPr indent="0" marL="0">
              <a:spcAft>
                <a:spcPts val="10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更大的超节点、更高的单站功率，减少需要跨站的 DP 份数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03 · 算法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低通信算法：DiLoCo 家族</a:t>
            </a:r>
            <a:endParaRPr lang="zh-CN" altLang="en-US" sz="3200" dirty="0"/>
          </a:p>
        </p:txBody>
      </p:sp>
      <p:sp>
        <p:nvSpPr>
          <p:cNvPr id="4" name="站点 A：本地优化 H 步（内层）"/>
          <p:cNvSpPr/>
          <p:nvPr/>
        </p:nvSpPr>
        <p:spPr>
          <a:xfrm>
            <a:off x="548640" y="1463040"/>
            <a:ext cx="33832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站点 A：本地优化 H 步（内层）</a:t>
            </a:r>
            <a:endParaRPr lang="zh-CN" altLang="en-US" sz="1400" dirty="0"/>
          </a:p>
        </p:txBody>
      </p:sp>
      <p:sp>
        <p:nvSpPr>
          <p:cNvPr id="5" name="站点 A：本地优化 H 步（内层） arrow"/>
          <p:cNvSpPr/>
          <p:nvPr/>
        </p:nvSpPr>
        <p:spPr>
          <a:xfrm>
            <a:off x="4005072" y="1737360"/>
            <a:ext cx="32918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站点 B：本地优化 H 步（内层）"/>
          <p:cNvSpPr/>
          <p:nvPr/>
        </p:nvSpPr>
        <p:spPr>
          <a:xfrm>
            <a:off x="548640" y="2514600"/>
            <a:ext cx="33832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站点 B：本地优化 H 步（内层）</a:t>
            </a:r>
            <a:endParaRPr lang="zh-CN" altLang="en-US" sz="1400" dirty="0"/>
          </a:p>
        </p:txBody>
      </p:sp>
      <p:sp>
        <p:nvSpPr>
          <p:cNvPr id="7" name="站点 B：本地优化 H 步（内层） arrow"/>
          <p:cNvSpPr/>
          <p:nvPr/>
        </p:nvSpPr>
        <p:spPr>
          <a:xfrm>
            <a:off x="4005072" y="2788920"/>
            <a:ext cx="329184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uter sync"/>
          <p:cNvSpPr/>
          <p:nvPr/>
        </p:nvSpPr>
        <p:spPr>
          <a:xfrm>
            <a:off x="4407408" y="1463040"/>
            <a:ext cx="1828800" cy="192024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外层：跨站交换伪梯度 Δθ，Nesterov 更新，然后进入下一轮</a:t>
            </a:r>
            <a:endParaRPr lang="zh-CN" altLang="en-US" sz="1400" dirty="0"/>
          </a:p>
        </p:txBody>
      </p:sp>
      <p:sp>
        <p:nvSpPr>
          <p:cNvPr id="9" name="diloco notes"/>
          <p:cNvSpPr/>
          <p:nvPr/>
        </p:nvSpPr>
        <p:spPr>
          <a:xfrm>
            <a:off x="548640" y="3611880"/>
            <a:ext cx="5687568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94760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降频：</a:t>
            </a:r>
            <a:pPr indent="0" marL="0">
              <a:spcAft>
                <a:spcPts val="8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跨站同步频率降到原来的 1/H</a:t>
            </a:r>
            <a:endParaRPr lang="zh-CN" alt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压缩：</a:t>
            </a:r>
            <a:pPr indent="0" marL="0">
              <a:spcAft>
                <a:spcPts val="8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伪梯度可以再量化</a:t>
            </a:r>
            <a:endParaRPr lang="zh-CN" alt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Streaming DiLoCo：</a:t>
            </a:r>
            <a:pPr indent="0" marL="0">
              <a:spcAft>
                <a:spcPts val="8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参数分片、错开时间同步，并与计算重叠，峰值带宽进一步降低</a:t>
            </a:r>
            <a:endParaRPr lang="zh-CN" alt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代价：</a:t>
            </a:r>
            <a:pPr indent="0" marL="0">
              <a:spcAft>
                <a:spcPts val="8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收敛质量和更复杂的超参调优</a:t>
            </a:r>
            <a:endParaRPr lang="zh-CN" altLang="en-US" sz="1600" dirty="0"/>
          </a:p>
        </p:txBody>
      </p:sp>
      <p:graphicFrame>
        <p:nvGraphicFramePr>
          <p:cNvPr id="13" name="diloco 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463040"/>
          <a:ext cx="510509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562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工作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结论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DiLoCo 缩放律（Google，NeurIPS 2025）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随模型规模可预测地扩展；最优 batch 更大；带宽比 DP 少几个数量级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Streaming DiLoCo（2025）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分片错峰同步并与计算重叠，峰值带宽再降；实验规模到 1B（部分到 4B）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跨三台超算（2026.10）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同步开销随 H 增大而下降；困惑度明显差于集中式训练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2" name="diloco hyperparams"/>
          <p:cNvSpPr/>
          <p:nvPr/>
        </p:nvSpPr>
        <p:spPr>
          <a:xfrm>
            <a:off x="6537960" y="4251960"/>
            <a:ext cx="5105095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1228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关键超参</a:t>
            </a:r>
            <a:endParaRPr lang="zh-CN" alt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4800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bg1"/>
                </a:solidFill>
              </a:rPr>
              <a:t>H（内层步数）：</a:t>
            </a:r>
            <a:pPr indent="0" marL="0">
              <a:spcAft>
                <a:spcPts val="800"/>
              </a:spcAft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越大越省带宽，但各站点模型漂移越大</a:t>
            </a:r>
            <a:endParaRPr lang="zh-CN" alt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bg1"/>
                </a:solidFill>
              </a:rPr>
              <a:t>副本数 M、外层学习率与动量：</a:t>
            </a:r>
            <a:pPr indent="0" marL="0">
              <a:spcAft>
                <a:spcPts val="800"/>
              </a:spcAft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缩放律论文给出了它们随模型规模的拟合规律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03 · 算法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同步 DP 还是 DiLoCo：适用边界</a:t>
            </a:r>
            <a:endParaRPr lang="zh-CN" altLang="en-US" sz="3200" dirty="0"/>
          </a:p>
        </p:txBody>
      </p:sp>
      <p:graphicFrame>
        <p:nvGraphicFramePr>
          <p:cNvPr id="4" name="overhead chart" descr=""/>
          <p:cNvGraphicFramePr/>
          <p:nvPr/>
        </p:nvGraphicFramePr>
        <p:xfrm>
          <a:off x="548640" y="137160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来源：跨三台超算实验，Qwen3-0.6B（arXiv 2610.03457）</a:t>
            </a:r>
            <a:endParaRPr lang="zh-CN" altLang="en-US" sz="1200" dirty="0"/>
          </a:p>
        </p:txBody>
      </p:sp>
      <p:graphicFrame>
        <p:nvGraphicFramePr>
          <p:cNvPr id="14" name="applicabilit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59737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17320"/>
                <a:gridCol w="24533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场景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推荐做法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依据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同城 / 同区域（RTT ≤ 5 ms，Tbps～Pbps）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同步分层 DP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Gemini、Fairwater、Prometheus 均为同步训练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跨区域、带宽充足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 DP 仍可行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NVIDIA：1000 km、RTT 21 ms，扩展效率 &gt;96%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跨区域带宽不足、站点很多、去中心化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DiLoCo 一类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带宽少几个数量级；代价是收敛质量与调参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ost note"/>
          <p:cNvSpPr/>
          <p:nvPr/>
        </p:nvSpPr>
        <p:spPr>
          <a:xfrm>
            <a:off x="5669280" y="4069080"/>
            <a:ext cx="5973775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943600" y="4160520"/>
            <a:ext cx="5425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代价与现状  </a:t>
            </a:r>
            <a:pPr indent="0" marL="0"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跨三台超算实验的困惑度为 34.7，集中式为 28.2；DiLoCo 在千亿参数以上、真实跨区域条件下仍缺公开验证。【推断】前沿厂商目前倾向于在同城范围内做同步训练。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04 · 可靠性与调度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可靠性：把故障对齐到 DP 副本</a:t>
            </a:r>
            <a:endParaRPr lang="zh-CN" altLang="en-US" sz="3200" dirty="0"/>
          </a:p>
        </p:txBody>
      </p:sp>
      <p:sp>
        <p:nvSpPr>
          <p:cNvPr id="4" name="reliability 1"/>
          <p:cNvSpPr/>
          <p:nvPr/>
        </p:nvSpPr>
        <p:spPr>
          <a:xfrm>
            <a:off x="548640" y="137160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5" name="故障域串联 circle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故障域串联 icon" descr="故障域串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733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727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故障域串联</a:t>
            </a:r>
            <a:endParaRPr lang="zh-CN" alt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495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每多一个站点，就多一组故障域，再加一段跨站链路；作业的平均无故障时间（MTBF）随之下降</a:t>
            </a:r>
            <a:endParaRPr lang="zh-CN" altLang="en-US" sz="1600" dirty="0"/>
          </a:p>
        </p:txBody>
      </p:sp>
      <p:sp>
        <p:nvSpPr>
          <p:cNvPr id="9" name="reliability 2"/>
          <p:cNvSpPr/>
          <p:nvPr/>
        </p:nvSpPr>
        <p:spPr>
          <a:xfrm>
            <a:off x="6233008" y="137160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0" name="把故障对齐到 DP 副本 circle"/>
          <p:cNvSpPr/>
          <p:nvPr/>
        </p:nvSpPr>
        <p:spPr>
          <a:xfrm>
            <a:off x="6461608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把故障对齐到 DP 副本 icon" descr="把故障对齐到 DP 副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733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55968" y="157276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把故障对齐到 DP 副本</a:t>
            </a:r>
            <a:endParaRPr lang="zh-CN" alt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61608" y="2194560"/>
            <a:ext cx="495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跨站的那一维选 DP：站点或链路出问题只损失副本。Meta Prometheus 的副本故障时自动剔除，其余继续跨 BAG 同步；剔除后要调学习率或用梯度累积补齐 batch。PP 跨站没有这个性质</a:t>
            </a:r>
            <a:endParaRPr lang="zh-CN" altLang="en-US" sz="1600" dirty="0"/>
          </a:p>
        </p:txBody>
      </p:sp>
      <p:sp>
        <p:nvSpPr>
          <p:cNvPr id="14" name="reliability 3"/>
          <p:cNvSpPr/>
          <p:nvPr/>
        </p:nvSpPr>
        <p:spPr>
          <a:xfrm>
            <a:off x="548640" y="393192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5" name="光层是共享故障点 circle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光层是共享故障点 icon" descr="光层是共享故障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23367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41330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光层是共享故障点</a:t>
            </a:r>
            <a:endParaRPr lang="zh-CN" alt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754880"/>
            <a:ext cx="495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GGN 只在 L2 及以上严格隔离平面，光缆和海缆共用，一次断缆可能同时打掉多个平面；GGN 只对 Tier-0/1 按 N−1 规划，训练流量若不在保护内，坏一个平面约损失 1/N 带宽</a:t>
            </a:r>
            <a:endParaRPr lang="zh-CN" altLang="en-US" sz="1600" dirty="0"/>
          </a:p>
        </p:txBody>
      </p:sp>
      <p:sp>
        <p:nvSpPr>
          <p:cNvPr id="19" name="reliability 4"/>
          <p:cNvSpPr/>
          <p:nvPr/>
        </p:nvSpPr>
        <p:spPr>
          <a:xfrm>
            <a:off x="6233008" y="3931920"/>
            <a:ext cx="5410048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20" name="Checkpoint circle"/>
          <p:cNvSpPr/>
          <p:nvPr/>
        </p:nvSpPr>
        <p:spPr>
          <a:xfrm>
            <a:off x="6461608" y="4133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Checkpoint icon" descr="Checkpoi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192" y="423367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55968" y="4133088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Checkpoint</a:t>
            </a:r>
            <a:endParaRPr lang="zh-CN" alt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61608" y="4754880"/>
            <a:ext cx="495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万亿参数模型连同优化器状态约 14 字节/参数，一次十几 TB；先写站内存储，再作为低优先级批量流量异步复制到其他站点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04 · 可靠性与调度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异构硬件与跨站调度</a:t>
            </a:r>
            <a:endParaRPr lang="zh-CN" altLang="en-US" sz="3200" dirty="0"/>
          </a:p>
        </p:txBody>
      </p:sp>
      <p:sp>
        <p:nvSpPr>
          <p:cNvPr id="4" name="schedule 1"/>
          <p:cNvSpPr/>
          <p:nvPr/>
        </p:nvSpPr>
        <p:spPr>
          <a:xfrm>
            <a:off x="548640" y="1371600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硬件代际不同 circle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硬件代际不同 icon" descr="硬件代际不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783994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81328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硬件代际不同</a:t>
            </a:r>
            <a:endParaRPr lang="zh-CN" alt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481328"/>
            <a:ext cx="74368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跨站往往混用不同代际、不同厂商的硬件（Meta 已列为目标）。同步 DP 里最慢的站点决定 step 时间；可以按各站点算力分配 micro-batch 数（按 token 加权），跨超算论文的弹性外层更新也按 token 加权</a:t>
            </a:r>
            <a:endParaRPr lang="zh-CN" altLang="en-US" sz="1400" dirty="0"/>
          </a:p>
        </p:txBody>
      </p:sp>
      <p:sp>
        <p:nvSpPr>
          <p:cNvPr id="9" name="schedule 2"/>
          <p:cNvSpPr/>
          <p:nvPr/>
        </p:nvSpPr>
        <p:spPr>
          <a:xfrm>
            <a:off x="548640" y="2587752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放置原则 circle"/>
          <p:cNvSpPr/>
          <p:nvPr/>
        </p:nvSpPr>
        <p:spPr>
          <a:xfrm>
            <a:off x="777240" y="28895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放置原则 icon" descr="放置原则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3000146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697480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放置原则</a:t>
            </a:r>
            <a:endParaRPr lang="zh-CN" alt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977640" y="2697480"/>
            <a:ext cx="74368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TP、EP、CP 放在超节点内；PP 放在站内；只有 DP 跨站。放置决定了跨站流量的大小和形态</a:t>
            </a:r>
            <a:endParaRPr lang="zh-CN" altLang="en-US" sz="1400" dirty="0"/>
          </a:p>
        </p:txBody>
      </p:sp>
      <p:sp>
        <p:nvSpPr>
          <p:cNvPr id="14" name="schedule 3"/>
          <p:cNvSpPr/>
          <p:nvPr/>
        </p:nvSpPr>
        <p:spPr>
          <a:xfrm>
            <a:off x="548640" y="3803904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跨 fabric 时延断崖 circle"/>
          <p:cNvSpPr/>
          <p:nvPr/>
        </p:nvSpPr>
        <p:spPr>
          <a:xfrm>
            <a:off x="777240" y="41056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跨 fabric 时延断崖 icon" descr="跨 fabric 时延断崖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216298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913632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跨 fabric 时延断崖</a:t>
            </a:r>
            <a:endParaRPr lang="zh-CN" alt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977640" y="3913632"/>
            <a:ext cx="74368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Meta：跨 fabric 的时延是 fabric 内部的好几倍，集合通信库会遇到性能断崖；对策是改进自适应路由，并通过调度减少跨 BAG 的集合通信流量</a:t>
            </a:r>
            <a:endParaRPr lang="zh-CN" altLang="en-US" sz="1400" dirty="0"/>
          </a:p>
        </p:txBody>
      </p:sp>
      <p:sp>
        <p:nvSpPr>
          <p:cNvPr id="19" name="schedule 4"/>
          <p:cNvSpPr/>
          <p:nvPr/>
        </p:nvSpPr>
        <p:spPr>
          <a:xfrm>
            <a:off x="548640" y="5020056"/>
            <a:ext cx="11094415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大象流与 ECMP circle"/>
          <p:cNvSpPr/>
          <p:nvPr/>
        </p:nvSpPr>
        <p:spPr>
          <a:xfrm>
            <a:off x="777240" y="5321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大象流与 ECMP icon" descr="大象流与 ECM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543245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129784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大象流与 ECMP</a:t>
            </a:r>
            <a:endParaRPr lang="zh-CN" alt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977640" y="5129784"/>
            <a:ext cx="74368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DP 同步是少量大流，ECMP 按流哈希容易撞车：两条大流落在同一路径，另一条路径却空闲；需要包级喷洒、WCMP 或自适应路由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05 · 模型与硬件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对模型与训练配方的反向影响【推断】</a:t>
            </a:r>
            <a:endParaRPr lang="zh-CN" altLang="en-US" sz="3200" dirty="0"/>
          </a:p>
        </p:txBody>
      </p:sp>
      <p:sp>
        <p:nvSpPr>
          <p:cNvPr id="4" name="recipe 1"/>
          <p:cNvSpPr/>
          <p:nvPr/>
        </p:nvSpPr>
        <p:spPr>
          <a:xfrm>
            <a:off x="548640" y="13716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60020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572768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稀疏度越高，跨站 DP 越贵</a:t>
            </a:r>
            <a:endParaRPr lang="zh-CN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P/P_act 越大，每单位算力需要的跨站带宽越大。每步 token 相同时，671B/37B 的 MoE 约为稠密模型的 18 倍</a:t>
            </a:r>
            <a:endParaRPr lang="zh-CN" altLang="en-US" sz="1600" dirty="0"/>
          </a:p>
        </p:txBody>
      </p:sp>
      <p:sp>
        <p:nvSpPr>
          <p:cNvPr id="8" name="recipe 2"/>
          <p:cNvSpPr/>
          <p:nvPr/>
        </p:nvSpPr>
        <p:spPr>
          <a:xfrm>
            <a:off x="4338218" y="13716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4566818" y="160020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42890" y="1572768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低精度梯度通信</a:t>
            </a:r>
            <a:endParaRPr lang="zh-CN" alt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24028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用 bf16 / fp8 做跨站归约，直接降低 b_g；用 fp32 归约会让 DP 跨站流量翻倍</a:t>
            </a:r>
            <a:endParaRPr lang="zh-CN" altLang="en-US" sz="1600" dirty="0"/>
          </a:p>
        </p:txBody>
      </p:sp>
      <p:sp>
        <p:nvSpPr>
          <p:cNvPr id="12" name="recipe 3"/>
          <p:cNvSpPr/>
          <p:nvPr/>
        </p:nvSpPr>
        <p:spPr>
          <a:xfrm>
            <a:off x="8127797" y="137160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/>
          <p:nvPr/>
        </p:nvSpPr>
        <p:spPr>
          <a:xfrm>
            <a:off x="8356397" y="160020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3</a:t>
            </a:r>
            <a:endParaRPr lang="zh-CN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32469" y="1572768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专家参数降频同步</a:t>
            </a:r>
            <a:endParaRPr lang="zh-CN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24028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专家参数做类似 DiLoCo 的低频同步，稠密部分正常同步。这是一种设想，目前缺少公开验证</a:t>
            </a:r>
            <a:endParaRPr lang="zh-CN" altLang="en-US" sz="1600" dirty="0"/>
          </a:p>
        </p:txBody>
      </p:sp>
      <p:sp>
        <p:nvSpPr>
          <p:cNvPr id="16" name="recipe 4"/>
          <p:cNvSpPr/>
          <p:nvPr/>
        </p:nvSpPr>
        <p:spPr>
          <a:xfrm>
            <a:off x="548640" y="393192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/>
          <p:nvPr/>
        </p:nvSpPr>
        <p:spPr>
          <a:xfrm>
            <a:off x="777240" y="41605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4</a:t>
            </a:r>
            <a:endParaRPr lang="zh-CN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133088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更大的 batch</a:t>
            </a:r>
            <a:endParaRPr lang="zh-CN" alt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80060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在临界 batch 允许的范围内加大每步 token，摊薄每步固定的跨站量；可以配合训练中逐步增大 batch</a:t>
            </a:r>
            <a:endParaRPr lang="zh-CN" altLang="en-US" sz="1600" dirty="0"/>
          </a:p>
        </p:txBody>
      </p:sp>
      <p:sp>
        <p:nvSpPr>
          <p:cNvPr id="20" name="recipe 5"/>
          <p:cNvSpPr/>
          <p:nvPr/>
        </p:nvSpPr>
        <p:spPr>
          <a:xfrm>
            <a:off x="4338218" y="393192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1" name="badge 5"/>
          <p:cNvSpPr/>
          <p:nvPr/>
        </p:nvSpPr>
        <p:spPr>
          <a:xfrm>
            <a:off x="4566818" y="41605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5</a:t>
            </a:r>
            <a:endParaRPr lang="zh-CN" alt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42890" y="4133088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长上下文</a:t>
            </a:r>
            <a:endParaRPr lang="zh-CN" alt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66818" y="480060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CP 必须留在站内；长序列训练要优先保证单站规模，跨站只放 DP</a:t>
            </a:r>
            <a:endParaRPr lang="zh-CN" altLang="en-US" sz="1600" dirty="0"/>
          </a:p>
        </p:txBody>
      </p:sp>
      <p:sp>
        <p:nvSpPr>
          <p:cNvPr id="24" name="recipe 6"/>
          <p:cNvSpPr/>
          <p:nvPr/>
        </p:nvSpPr>
        <p:spPr>
          <a:xfrm>
            <a:off x="8127797" y="3931920"/>
            <a:ext cx="351525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5" name="badge 6"/>
          <p:cNvSpPr/>
          <p:nvPr/>
        </p:nvSpPr>
        <p:spPr>
          <a:xfrm>
            <a:off x="8356397" y="4160520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6</a:t>
            </a:r>
            <a:endParaRPr lang="zh-CN" alt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32469" y="4133088"/>
            <a:ext cx="2509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数据管线</a:t>
            </a:r>
            <a:endParaRPr lang="zh-CN" alt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6397" y="4800600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文本 token 跨站量小；视频等多模态数据量大，宜在各站点本地存储和预处理，避免训练时跨站读数据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05 · 模型与硬件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长距离链路：在途数据与深缓存</a:t>
            </a:r>
            <a:endParaRPr lang="zh-CN" altLang="en-US" sz="3200" dirty="0"/>
          </a:p>
        </p:txBody>
      </p:sp>
      <p:sp>
        <p:nvSpPr>
          <p:cNvPr id="4" name="bdp 1"/>
          <p:cNvSpPr/>
          <p:nvPr/>
        </p:nvSpPr>
        <p:spPr>
          <a:xfrm>
            <a:off x="548640" y="1371600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chemeClr val="accent1"/>
                </a:solidFill>
              </a:rPr>
              <a:t>≈0.5 MB</a:t>
            </a:r>
            <a:endParaRPr lang="zh-CN" alt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6"/>
                </a:solidFill>
              </a:rPr>
              <a:t>数据中心内 · RTT 约 5 µs</a:t>
            </a:r>
            <a:endParaRPr lang="zh-CN" altLang="en-US" sz="1400" dirty="0"/>
          </a:p>
        </p:txBody>
      </p:sp>
      <p:sp>
        <p:nvSpPr>
          <p:cNvPr id="7" name="bdp 2"/>
          <p:cNvSpPr/>
          <p:nvPr/>
        </p:nvSpPr>
        <p:spPr>
          <a:xfrm>
            <a:off x="4338218" y="1371600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2538" y="1463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chemeClr val="accent1"/>
                </a:solidFill>
              </a:rPr>
              <a:t>≈100 MB</a:t>
            </a:r>
            <a:endParaRPr lang="zh-CN" alt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0299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6"/>
                </a:solidFill>
              </a:rPr>
              <a:t>跨站 100 km · RTT 约 1 ms</a:t>
            </a:r>
            <a:endParaRPr lang="zh-CN" altLang="en-US" sz="1400" dirty="0"/>
          </a:p>
        </p:txBody>
      </p:sp>
      <p:sp>
        <p:nvSpPr>
          <p:cNvPr id="10" name="bdp 3"/>
          <p:cNvSpPr/>
          <p:nvPr/>
        </p:nvSpPr>
        <p:spPr>
          <a:xfrm>
            <a:off x="8127797" y="1371600"/>
            <a:ext cx="351525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02117" y="1463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chemeClr val="accent1"/>
                </a:solidFill>
              </a:rPr>
              <a:t>≈500 MB</a:t>
            </a:r>
            <a:endParaRPr lang="zh-CN" alt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0299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accent6"/>
                </a:solidFill>
              </a:rPr>
              <a:t>metro 上限 · RTT 5 ms</a:t>
            </a:r>
            <a:endParaRPr lang="zh-CN" alt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chemeClr val="accent6"/>
                </a:solidFill>
              </a:rPr>
              <a:t>一个 800G 端口的在途数据 = 带宽 × RTT；无损（PFC）时，下游要为每个端口预留不少于这个量的缓存余量</a:t>
            </a:r>
            <a:endParaRPr lang="zh-CN" altLang="en-US" sz="1200" dirty="0"/>
          </a:p>
        </p:txBody>
      </p:sp>
      <p:graphicFrame>
        <p:nvGraphicFramePr>
          <p:cNvPr id="18" name="buff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6400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浅缓存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深缓存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存储介质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只有片上 SRAM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片上 SRAM + 封装内 HBM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容量（51.2T 芯片，示意）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约 160 MB，全芯片共享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约 8 GB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800G 线速可缓冲时间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约 25 µs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约 1.25 ms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典型芯片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Tomahawk、Spectrum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Jericho、Silicon One P200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典型位置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楼内 leaf/spine；AI 后端（Meta NSF）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DCI、广域网、跨站汇聚（Meta BAG）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5" name="two routes"/>
          <p:cNvSpPr/>
          <p:nvPr/>
        </p:nvSpPr>
        <p:spPr>
          <a:xfrm>
            <a:off x="7223760" y="3017520"/>
            <a:ext cx="4419295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98080" y="3127248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2"/>
                </a:solidFill>
              </a:rPr>
              <a:t>两条路线</a:t>
            </a:r>
            <a:endParaRPr lang="zh-CN" alt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3566160"/>
            <a:ext cx="387065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bg1"/>
                </a:solidFill>
              </a:rPr>
              <a:t>无损 + 深缓存（Meta）：</a:t>
            </a:r>
            <a:pPr indent="0" marL="0">
              <a:spcAft>
                <a:spcPts val="1000"/>
              </a:spcAft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楼内浅缓存保低时延；BAG 之间用深缓存 Jericho3 为 PFC 留余量，并按实测线缆长度分配余量</a:t>
            </a:r>
            <a:endParaRPr lang="zh-CN" alt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zh-CN" altLang="en-US" sz="1400" b="1" dirty="0">
                <a:solidFill>
                  <a:schemeClr val="bg1"/>
                </a:solidFill>
              </a:rPr>
              <a:t>源端限速 + 有损（Google 传统）：</a:t>
            </a:r>
            <a:pPr indent="0" marL="0">
              <a:spcAft>
                <a:spcPts val="1000"/>
              </a:spcAft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BwE 在主机上限速，TE 控制链路负载，允许丢包；同步训练的毫秒级突发难以完全平滑，Google 跨站训练的做法未公开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05 · 模型与硬件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跨站训练对网络硬件的六项要求</a:t>
            </a:r>
            <a:endParaRPr lang="zh-CN" altLang="en-US" sz="3200" dirty="0"/>
          </a:p>
        </p:txBody>
      </p:sp>
      <p:graphicFrame>
        <p:nvGraphicFramePr>
          <p:cNvPr id="19" name="requireme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47850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要求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原因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公开依据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长链路深缓存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无损要按在途数据留余量：800G 端口 100 km 约 100 MB，5 ms 约 500 MB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Meta BAG 之间用深缓存 Jericho3；Broadcom Jericho4、Cisco P200 面向跨站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按容量加权分流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各平面、各路径容量常不对称；ECMP 均分时容量最小的路径先拥塞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Meta BAG 用 eBGP 链路带宽属性做 UCMP；GGN 跨 shard 只能 ECMP，观测到 6% 不均衡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多平面，训练流量纳入 N−1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避免坏一个平面导致同步训练整体变慢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GGN 只对 Tier-0/1 按 N−1 规划容量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光层路由多样性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共用光缆是剩余的单点故障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GGN 光层只是有条件才隔离，海缆共用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相干光模块直插路由器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跨站需要的端口数远超传统 DCI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Cisco：两个 100 MW 站点需 1.2～3.2 万个相干端口（传统 DCI 1～2 千）；Meta 用 ZR 替代独立光转发器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足够的 ECMP/WCMP 组与隧道表项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精细加权、按目的地控制；站点多时隧道数按平方增长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GGN 受表项限制：一次只能停一个 shard，只能为 50% 远端 edge 编程独立状态</a:t>
                      </a:r>
                      <a:endParaRPr lang="zh-CN" alt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1"/>
                </a:solidFill>
              </a:rPr>
              <a:t>量级参考：Cisco 估算 scale-across 所需带宽约为传统 DCI 的 14 倍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06 · 对比与展望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与 RL 后训练对比</a:t>
            </a:r>
            <a:endParaRPr lang="zh-CN" altLang="en-US" sz="3200" dirty="0"/>
          </a:p>
        </p:txBody>
      </p:sp>
      <p:graphicFrame>
        <p:nvGraphicFramePr>
          <p:cNvPr id="20" name="rl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5107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预训练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</a:rPr>
                        <a:t>RL 后训练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跨站流量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每个 step 同步一次，量和参数量成正比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训练侧不跨站；rollout 侧跨站，只传权重和轨迹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能否容忍不同步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同步训练不能；DiLoCo 有收敛代价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异步 RL 可以容忍一定的 staleness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一个站点故障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DP 副本减少，或整个作业停下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rollout 吞吐下降，训练不停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走哪张网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后端网络向跨站延伸（如 Meta BAG）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权重和轨迹若跨站，走前端网络 + DCI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跨站带宽量级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随参数量和卡数增长：2 万卡 MoE 约 13 Tbps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每个 RL step 同步一次权重：1T 参数 bf16 约 2 TB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对网络的要求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后端级：无损或可控丢包、深缓存、加权分流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以前端和 DCI 容量为主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结论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要求最严的场景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最容易落地的场景</a:t>
                      </a:r>
                      <a:endParaRPr lang="zh-CN" alt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rl implication"/>
          <p:cNvSpPr/>
          <p:nvPr/>
        </p:nvSpPr>
        <p:spPr>
          <a:xfrm>
            <a:off x="548640" y="4709160"/>
            <a:ext cx="11094415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800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accent2"/>
                </a:solidFill>
              </a:rPr>
              <a:t>对 rollout 与训练分离的架构（如 TQ / AsyncFlow）  </a:t>
            </a:r>
            <a:pPr indent="0" marL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跨站部署天然更有优势。瓶颈在前端网络与 DCI 的带宽、权重同步的频率和 staleness 上限，而不在后端网络。例：1T 参数 bf16 权重约 2 TB，经 10 Tbps 跨站链路传一次约 1.6 s，相对分钟级的 RL step 可以接受。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06 · 对比与展望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评估一个跨站预训练方案的清单</a:t>
            </a:r>
            <a:endParaRPr lang="zh-CN" altLang="en-US" sz="3200" dirty="0"/>
          </a:p>
        </p:txBody>
      </p:sp>
      <p:sp>
        <p:nvSpPr>
          <p:cNvPr id="4" name="inputs"/>
          <p:cNvSpPr/>
          <p:nvPr/>
        </p:nvSpPr>
        <p:spPr>
          <a:xfrm>
            <a:off x="548640" y="1371600"/>
            <a:ext cx="4206240" cy="480060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accent1"/>
                </a:solidFill>
              </a:rPr>
              <a:t>需要的输入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3657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模型：</a:t>
            </a:r>
            <a:pPr indent="0" marL="0"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P、P_act、hidden h</a:t>
            </a:r>
            <a:endParaRPr lang="zh-CN" alt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训练配方：</a:t>
            </a:r>
            <a:pPr indent="0" marL="0"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每步 token B_tok、临界 batch 上限</a:t>
            </a:r>
            <a:endParaRPr lang="zh-CN" alt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集群：</a:t>
            </a:r>
            <a:pPr indent="0" marL="0"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卡数 N、每卡有效算力 F_eff</a:t>
            </a:r>
            <a:endParaRPr lang="zh-CN" alt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网络：</a:t>
            </a:r>
            <a:pPr indent="0" marL="0"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站点数 k、RTT、可用跨站带宽、平面数、是否无损</a:t>
            </a:r>
            <a:endParaRPr lang="zh-CN" alt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zh-CN" altLang="en-US" sz="1600" b="1" dirty="0">
                <a:solidFill>
                  <a:schemeClr val="tx1"/>
                </a:solidFill>
              </a:rPr>
              <a:t>可靠性：</a:t>
            </a:r>
            <a:pPr indent="0" marL="0"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站点和跨站链路的故障率</a:t>
            </a:r>
            <a:endParaRPr lang="zh-CN" altLang="en-US" sz="1600" dirty="0"/>
          </a:p>
        </p:txBody>
      </p:sp>
      <p:sp>
        <p:nvSpPr>
          <p:cNvPr id="7" name="badge 1"/>
          <p:cNvSpPr/>
          <p:nvPr/>
        </p:nvSpPr>
        <p:spPr>
          <a:xfrm>
            <a:off x="5029200" y="14447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3716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定放置：TP/EP/CP 在超节点内，PP 在站内，DP 跨站</a:t>
            </a:r>
            <a:endParaRPr lang="zh-CN" altLang="en-US" sz="1400" dirty="0"/>
          </a:p>
        </p:txBody>
      </p:sp>
      <p:sp>
        <p:nvSpPr>
          <p:cNvPr id="9" name="badge 2"/>
          <p:cNvSpPr/>
          <p:nvPr/>
        </p:nvSpPr>
        <p:spPr>
          <a:xfrm>
            <a:off x="5029200" y="21305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20574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算 step 时间 T_step</a:t>
            </a:r>
            <a:endParaRPr lang="zh-CN" altLang="en-US" sz="1400" dirty="0"/>
          </a:p>
        </p:txBody>
      </p:sp>
      <p:sp>
        <p:nvSpPr>
          <p:cNvPr id="11" name="badge 3"/>
          <p:cNvSpPr/>
          <p:nvPr/>
        </p:nvSpPr>
        <p:spPr>
          <a:xfrm>
            <a:off x="5029200" y="28163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3</a:t>
            </a:r>
            <a:endParaRPr lang="zh-CN" alt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7432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算 BW_DP、BW_PP，判断跨站切 DP 还是 PP</a:t>
            </a:r>
            <a:endParaRPr lang="zh-CN" altLang="en-US" sz="1400" dirty="0"/>
          </a:p>
        </p:txBody>
      </p:sp>
      <p:sp>
        <p:nvSpPr>
          <p:cNvPr id="13" name="badge 4"/>
          <p:cNvSpPr/>
          <p:nvPr/>
        </p:nvSpPr>
        <p:spPr>
          <a:xfrm>
            <a:off x="5029200" y="3502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4</a:t>
            </a:r>
            <a:endParaRPr lang="zh-CN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4290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对比可用跨站带宽与可重叠窗口，计入 fp32、ZeRO、反向尾部的放大</a:t>
            </a:r>
            <a:endParaRPr lang="zh-CN" altLang="en-US" sz="1400" dirty="0"/>
          </a:p>
        </p:txBody>
      </p:sp>
      <p:sp>
        <p:nvSpPr>
          <p:cNvPr id="15" name="badge 5"/>
          <p:cNvSpPr/>
          <p:nvPr/>
        </p:nvSpPr>
        <p:spPr>
          <a:xfrm>
            <a:off x="5029200" y="41879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5</a:t>
            </a:r>
            <a:endParaRPr lang="zh-CN" alt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41148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检查全局 batch 是否超过临界 batch</a:t>
            </a:r>
            <a:endParaRPr lang="zh-CN" altLang="en-US" sz="1400" dirty="0"/>
          </a:p>
        </p:txBody>
      </p:sp>
      <p:sp>
        <p:nvSpPr>
          <p:cNvPr id="17" name="badge 6"/>
          <p:cNvSpPr/>
          <p:nvPr/>
        </p:nvSpPr>
        <p:spPr>
          <a:xfrm>
            <a:off x="5029200" y="48737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6</a:t>
            </a:r>
            <a:endParaRPr lang="zh-CN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48006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设计故障对齐：站点或链路失效时损失多少副本，batch 与学习率怎么调</a:t>
            </a:r>
            <a:endParaRPr lang="zh-CN" altLang="en-US" sz="1400" dirty="0"/>
          </a:p>
        </p:txBody>
      </p:sp>
      <p:sp>
        <p:nvSpPr>
          <p:cNvPr id="19" name="badge 7"/>
          <p:cNvSpPr/>
          <p:nvPr/>
        </p:nvSpPr>
        <p:spPr>
          <a:xfrm>
            <a:off x="5029200" y="55595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7</a:t>
            </a:r>
            <a:endParaRPr lang="zh-CN" alt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5486400"/>
            <a:ext cx="6019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chemeClr val="tx1"/>
                </a:solidFill>
              </a:rPr>
              <a:t>网络：深缓存还是源端限速、加权分流、训练流量是否纳入 N−1、光层路由是否多样</a:t>
            </a:r>
            <a:endParaRPr lang="zh-CN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06 · 对比与展望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开放问题</a:t>
            </a:r>
            <a:endParaRPr lang="zh-CN" altLang="en-US" sz="3200" dirty="0"/>
          </a:p>
        </p:txBody>
      </p:sp>
      <p:sp>
        <p:nvSpPr>
          <p:cNvPr id="4" name="open question 1"/>
          <p:cNvSpPr/>
          <p:nvPr/>
        </p:nvSpPr>
        <p:spPr>
          <a:xfrm>
            <a:off x="548640" y="1371600"/>
            <a:ext cx="541004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1</a:t>
            </a:r>
            <a:endParaRPr lang="zh-CN" alt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前沿 MoE 跨站切哪一维</a:t>
            </a:r>
            <a:endParaRPr lang="zh-CN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各家在前沿规模的 MoE 跨站预训练中，实际切的是 DP 还是 PP，目前没有公开资料。按算例，MoE 的 PP 流量更小但耦合更紧，取舍取决于跨站时延和故障率</a:t>
            </a:r>
            <a:endParaRPr lang="zh-CN" altLang="en-US" sz="1600" dirty="0"/>
          </a:p>
        </p:txBody>
      </p:sp>
      <p:sp>
        <p:nvSpPr>
          <p:cNvPr id="8" name="open question 2"/>
          <p:cNvSpPr/>
          <p:nvPr/>
        </p:nvSpPr>
        <p:spPr>
          <a:xfrm>
            <a:off x="6233008" y="1371600"/>
            <a:ext cx="541004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/>
          <p:nvPr/>
        </p:nvSpPr>
        <p:spPr>
          <a:xfrm>
            <a:off x="6461608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2</a:t>
            </a:r>
            <a:endParaRPr lang="zh-CN" alt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55968" y="16002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DiLoCo 在前沿的代价</a:t>
            </a:r>
            <a:endParaRPr lang="zh-CN" alt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24028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千亿参数以上、真实跨区域条件下，DiLoCo 一类方法的收敛代价究竟有多大。现有公开实验的规模远小于前沿模型</a:t>
            </a:r>
            <a:endParaRPr lang="zh-CN" altLang="en-US" sz="1600" dirty="0"/>
          </a:p>
        </p:txBody>
      </p:sp>
      <p:sp>
        <p:nvSpPr>
          <p:cNvPr id="12" name="open question 3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3" name="badge 3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3</a:t>
            </a:r>
            <a:endParaRPr lang="zh-CN" alt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14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Google 的跨站做法</a:t>
            </a:r>
            <a:endParaRPr lang="zh-CN" alt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跨站训练流量在 GGN 里属于哪个 Tier、是否享受 N−1 保护、站点边界是否使用深缓存，GGN 论文和 Next '26 都没有说明；Next '26 只给出跨站超过 100 万颗 TPU 的规模</a:t>
            </a:r>
            <a:endParaRPr lang="zh-CN" altLang="en-US" sz="1600" dirty="0"/>
          </a:p>
        </p:txBody>
      </p:sp>
      <p:sp>
        <p:nvSpPr>
          <p:cNvPr id="16" name="open question 4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7" name="badge 4"/>
          <p:cNvSpPr/>
          <p:nvPr/>
        </p:nvSpPr>
        <p:spPr>
          <a:xfrm>
            <a:off x="6461608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4</a:t>
            </a:r>
            <a:endParaRPr lang="zh-CN" alt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55968" y="4114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1"/>
                </a:solidFill>
              </a:rPr>
              <a:t>临界 batch 矛盾怎么解</a:t>
            </a:r>
            <a:endParaRPr lang="zh-CN" alt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61608" y="475488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万卡到十万卡规模上，跨站 DP 受临界 batch 限制，要靠更大的单站、算法改进，还是新的并行方式来解决</a:t>
            </a:r>
            <a:endParaRPr lang="zh-CN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参考</a:t>
            </a:r>
            <a:endParaRPr lang="zh-CN" alt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chemeClr val="tx1"/>
                </a:solidFill>
              </a:rPr>
              <a:t>参考资料</a:t>
            </a:r>
            <a:endParaRPr lang="zh-CN" altLang="en-US" sz="3200" dirty="0"/>
          </a:p>
        </p:txBody>
      </p:sp>
      <p:sp>
        <p:nvSpPr>
          <p:cNvPr id="4" name="references 1"/>
          <p:cNvSpPr txBox="1"/>
          <p:nvPr/>
        </p:nvSpPr>
        <p:spPr>
          <a:xfrm>
            <a:off x="548640" y="1371600"/>
            <a:ext cx="5410048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NVIDIA：Turbocharge LLM Training Across Long-Haul Data Center Networks with NeMo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Google：Scaling Laws for DiLoCo（arXiv 2503.09799）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Google：Streaming DiLoCo with overlapping communication（arXiv 2501.18512）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Cross-Facility LLM Pre-training on HPC（arXiv 2610.03457）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CrossPipe: Optimal Pipeline Schedules for Cross-Datacenter Training（arXiv 2507.00217）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Bandwidth-Aware PP Scheduling in Geo-Distributed LLM Training（arXiv 2605.25375）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GeoPipe: Geo-distributed LLM Training with enhanced PP（arXiv 2510.12064）</a:t>
            </a:r>
            <a:endParaRPr lang="zh-CN" altLang="en-US" sz="1200" dirty="0"/>
          </a:p>
        </p:txBody>
      </p:sp>
      <p:sp>
        <p:nvSpPr>
          <p:cNvPr id="5" name="references 2"/>
          <p:cNvSpPr txBox="1"/>
          <p:nvPr/>
        </p:nvSpPr>
        <p:spPr>
          <a:xfrm>
            <a:off x="6233008" y="1371600"/>
            <a:ext cx="5410048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Beyond A Single AI Cluster: A Survey of Decentralized LLM Training（arXiv 2503.11023）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Microsoft：From Wisconsin to Atlanta — first AI superfactory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Meta：Building Prometheus — Backend Aggregation for gigawatt-scale clusters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Meta：OCP Summit 2026 — scale-up, scale-out, and scale-across networks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Google：GGN（SIGCOMM '26），DOI 10.1145/3789240.3829114</a:t>
            </a:r>
            <a:endParaRPr lang="zh-CN" alt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zh-CN" altLang="en-US" sz="1200" u="sng" dirty="0">
                <a:solidFill>
                  <a:schemeClr val="tx1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Cisco（赞助）：How distributed AI training changes the network between datacenters</a:t>
            </a:r>
            <a:endParaRPr lang="zh-CN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zh-CN" altLang="en-US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GN Fiber">
  <a:themeElements>
    <a:clrScheme name="GGN Fiber">
      <a:dk1>
        <a:srgbClr val="14232B"/>
      </a:dk1>
      <a:lt1>
        <a:srgbClr val="FFFFFF"/>
      </a:lt1>
      <a:dk2>
        <a:srgbClr val="0E3B43"/>
      </a:dk2>
      <a:lt2>
        <a:srgbClr val="EEF3F4"/>
      </a:lt2>
      <a:accent1>
        <a:srgbClr val="0F7C80"/>
      </a:accent1>
      <a:accent2>
        <a:srgbClr val="E3A43A"/>
      </a:accent2>
      <a:accent3>
        <a:srgbClr val="5B7A8C"/>
      </a:accent3>
      <a:accent4>
        <a:srgbClr val="A7D3D0"/>
      </a:accent4>
      <a:accent5>
        <a:srgbClr val="B5523B"/>
      </a:accent5>
      <a:accent6>
        <a:srgbClr val="5E6E76"/>
      </a:accent6>
      <a:hlink>
        <a:srgbClr val="0F7C80"/>
      </a:hlink>
      <a:folHlink>
        <a:srgbClr val="5B7A8C"/>
      </a:folHlink>
    </a:clrScheme>
    <a:fontScheme name="GGN Fiber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Scale-across：预训练层面的洞察</dc:title>
  <dc:subject>跨站预训练的并行、带宽、算法、可靠性与网络硬件要求</dc:subject>
  <dc:creator>Xin Ye</dc:creator>
  <cp:lastModifiedBy>Xin Ye</cp:lastModifiedBy>
  <cp:revision>1</cp:revision>
  <dcterms:created xsi:type="dcterms:W3CDTF">2026-10-21T12:59:26Z</dcterms:created>
  <dcterms:modified xsi:type="dcterms:W3CDTF">2026-10-21T12:59:26Z</dcterms:modified>
</cp:coreProperties>
</file>