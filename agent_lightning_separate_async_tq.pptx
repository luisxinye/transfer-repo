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/>
    <p:restoredTop sz="94637"/>
  </p:normalViewPr>
  <p:slideViewPr>
    <p:cSldViewPr snapToGrid="0" snapToObjects="1">
      <p:cViewPr varScale="1">
        <p:scale>
          <a:sx n="108" d="100"/>
          <a:sy n="108" d="100"/>
        </p:scale>
        <p:origin x="59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共卡同步</c:v>
                </c:pt>
              </c:strCache>
            </c:strRef>
          </c:tx>
          <c:spPr>
            <a:ln w="34925">
              <a:solidFill>
                <a:srgbClr val="8A96A3"/>
              </a:solidFill>
            </a:ln>
          </c:spPr>
          <c:marker>
            <c:symbol val="circle"/>
            <c:size val="8"/>
            <c:spPr>
              <a:solidFill>
                <a:srgbClr val="8A96A3"/>
              </a:solidFill>
              <a:ln>
                <a:solidFill>
                  <a:srgbClr val="8A96A3"/>
                </a:solidFill>
              </a:ln>
            </c:spPr>
          </c:marker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8A96A3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294.39999999999998</c:v>
                </c:pt>
                <c:pt idx="1">
                  <c:v>313.10000000000002</c:v>
                </c:pt>
                <c:pt idx="2">
                  <c:v>327.10000000000002</c:v>
                </c:pt>
                <c:pt idx="3">
                  <c:v>317</c:v>
                </c:pt>
                <c:pt idx="4">
                  <c:v>300.2</c:v>
                </c:pt>
                <c:pt idx="5">
                  <c:v>326.7</c:v>
                </c:pt>
                <c:pt idx="6">
                  <c:v>319.5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AD-C746-9D9F-261D34B6D3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TQ 分离异步</c:v>
                </c:pt>
              </c:strCache>
            </c:strRef>
          </c:tx>
          <c:spPr>
            <a:ln w="34925">
              <a:solidFill>
                <a:srgbClr val="2C6E8F"/>
              </a:solidFill>
            </a:ln>
          </c:spPr>
          <c:marker>
            <c:symbol val="circle"/>
            <c:size val="8"/>
            <c:spPr>
              <a:solidFill>
                <a:srgbClr val="2C6E8F"/>
              </a:solidFill>
              <a:ln>
                <a:solidFill>
                  <a:srgbClr val="2C6E8F"/>
                </a:solidFill>
              </a:ln>
            </c:spPr>
          </c:marker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2C6E8F"/>
                      </a:solidFill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2AD-C746-9D9F-261D34B6D32E}"/>
                </c:ext>
              </c:extLst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2C6E8F"/>
                      </a:solidFill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C2AD-C746-9D9F-261D34B6D32E}"/>
                </c:ext>
              </c:extLst>
            </c:dLbl>
            <c:dLbl>
              <c:idx val="2"/>
              <c:numFmt formatCode="0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2C6E8F"/>
                      </a:solidFill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2AD-C746-9D9F-261D34B6D32E}"/>
                </c:ext>
              </c:extLst>
            </c:dLbl>
            <c:dLbl>
              <c:idx val="3"/>
              <c:numFmt formatCode="0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2C6E8F"/>
                      </a:solidFill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2AD-C746-9D9F-261D34B6D32E}"/>
                </c:ext>
              </c:extLst>
            </c:dLbl>
            <c:dLbl>
              <c:idx val="4"/>
              <c:numFmt formatCode="0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2C6E8F"/>
                      </a:solidFill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C2AD-C746-9D9F-261D34B6D32E}"/>
                </c:ext>
              </c:extLst>
            </c:dLbl>
            <c:dLbl>
              <c:idx val="5"/>
              <c:numFmt formatCode="0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2C6E8F"/>
                      </a:solidFill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2AD-C746-9D9F-261D34B6D32E}"/>
                </c:ext>
              </c:extLst>
            </c:dLbl>
            <c:dLbl>
              <c:idx val="6"/>
              <c:numFmt formatCode="0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2C6E8F"/>
                      </a:solidFill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2AD-C746-9D9F-261D34B6D32E}"/>
                </c:ext>
              </c:extLst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2C6E8F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127.7</c:v>
                </c:pt>
                <c:pt idx="1">
                  <c:v>440.3</c:v>
                </c:pt>
                <c:pt idx="2">
                  <c:v>119.6</c:v>
                </c:pt>
                <c:pt idx="3">
                  <c:v>274</c:v>
                </c:pt>
                <c:pt idx="4">
                  <c:v>408.6</c:v>
                </c:pt>
                <c:pt idx="5">
                  <c:v>100.7</c:v>
                </c:pt>
                <c:pt idx="6">
                  <c:v>260.2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C2AD-C746-9D9F-261D34B6D3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共卡平均 314.0 s</c:v>
                </c:pt>
              </c:strCache>
            </c:strRef>
          </c:tx>
          <c:spPr>
            <a:ln w="19050">
              <a:solidFill>
                <a:srgbClr val="8A96A3"/>
              </a:solidFill>
              <a:prstDash val="dash"/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314</c:v>
                </c:pt>
                <c:pt idx="1">
                  <c:v>314</c:v>
                </c:pt>
                <c:pt idx="2">
                  <c:v>314</c:v>
                </c:pt>
                <c:pt idx="3">
                  <c:v>314</c:v>
                </c:pt>
                <c:pt idx="4">
                  <c:v>314</c:v>
                </c:pt>
                <c:pt idx="5">
                  <c:v>314</c:v>
                </c:pt>
                <c:pt idx="6">
                  <c:v>314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C2AD-C746-9D9F-261D34B6D32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TQ 分离平均 247.3 s</c:v>
                </c:pt>
              </c:strCache>
            </c:strRef>
          </c:tx>
          <c:spPr>
            <a:ln w="19050">
              <a:solidFill>
                <a:srgbClr val="2C6E8F"/>
              </a:solidFill>
              <a:prstDash val="dash"/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247.3</c:v>
                </c:pt>
                <c:pt idx="1">
                  <c:v>247.3</c:v>
                </c:pt>
                <c:pt idx="2">
                  <c:v>247.3</c:v>
                </c:pt>
                <c:pt idx="3">
                  <c:v>247.3</c:v>
                </c:pt>
                <c:pt idx="4">
                  <c:v>247.3</c:v>
                </c:pt>
                <c:pt idx="5">
                  <c:v>247.3</c:v>
                </c:pt>
                <c:pt idx="6">
                  <c:v>247.3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C2AD-C746-9D9F-261D34B6D3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SG" sz="1100" b="0">
                    <a:solidFill>
                      <a:srgbClr val="6B7A8A"/>
                    </a:solidFill>
                    <a:latin typeface="PingFang SC"/>
                  </a:rPr>
                  <a:t>step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C5CCD3"/>
            </a:solidFill>
          </a:ln>
        </c:spPr>
        <c:txPr>
          <a:bodyPr/>
          <a:lstStyle/>
          <a:p>
            <a:pPr>
              <a:defRPr sz="1100">
                <a:solidFill>
                  <a:srgbClr val="6B7A8A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500"/>
          <c:min val="0"/>
        </c:scaling>
        <c:delete val="0"/>
        <c:axPos val="l"/>
        <c:majorGridlines>
          <c:spPr>
            <a:ln>
              <a:solidFill>
                <a:srgbClr val="E1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CN" altLang="en-US" sz="1100" b="0">
                    <a:solidFill>
                      <a:srgbClr val="6B7A8A"/>
                    </a:solidFill>
                    <a:latin typeface="PingFang SC"/>
                  </a:rPr>
                  <a:t>端到端时间（</a:t>
                </a:r>
                <a:r>
                  <a:rPr lang="en-SG" sz="1100" b="0">
                    <a:solidFill>
                      <a:srgbClr val="6B7A8A"/>
                    </a:solidFill>
                    <a:latin typeface="PingFang SC"/>
                  </a:rPr>
                  <a:t>s）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A8A"/>
                </a:solidFill>
              </a:defRPr>
            </a:pPr>
            <a:endParaRPr lang="en-US"/>
          </a:p>
        </c:txPr>
        <c:crossAx val="2118791784"/>
        <c:crosses val="autoZero"/>
        <c:crossBetween val="between"/>
        <c:majorUnit val="100"/>
      </c:valAx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1F2933"/>
          </a:solidFill>
          <a:latin typeface="PingFang S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41857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600" b="1" dirty="0">
                <a:solidFill>
                  <a:srgbClr val="1F2933"/>
                </a:solidFill>
                <a:latin typeface="PingFang SC"/>
                <a:ea typeface="PingFang SC"/>
              </a:rPr>
              <a:t>Agent </a:t>
            </a:r>
            <a:r>
              <a:rPr sz="2600" b="1" dirty="0" err="1">
                <a:solidFill>
                  <a:srgbClr val="1F2933"/>
                </a:solidFill>
                <a:latin typeface="PingFang SC"/>
                <a:ea typeface="PingFang SC"/>
              </a:rPr>
              <a:t>Lightning：从</a:t>
            </a:r>
            <a:r>
              <a:rPr lang="zh-CN" altLang="en-US" sz="2600" b="1" dirty="0">
                <a:solidFill>
                  <a:srgbClr val="1F2933"/>
                </a:solidFill>
                <a:latin typeface="PingFang SC"/>
                <a:ea typeface="PingFang SC"/>
              </a:rPr>
              <a:t>“</a:t>
            </a:r>
            <a:r>
              <a:rPr sz="2600" b="1" dirty="0" err="1">
                <a:solidFill>
                  <a:srgbClr val="1F2933"/>
                </a:solidFill>
                <a:latin typeface="PingFang SC"/>
                <a:ea typeface="PingFang SC"/>
              </a:rPr>
              <a:t>共卡同步</a:t>
            </a:r>
            <a:r>
              <a:rPr lang="zh-CN" altLang="en-US" sz="2600" b="1" dirty="0">
                <a:solidFill>
                  <a:srgbClr val="1F2933"/>
                </a:solidFill>
                <a:latin typeface="PingFang SC"/>
                <a:ea typeface="PingFang SC"/>
              </a:rPr>
              <a:t>”</a:t>
            </a:r>
            <a:r>
              <a:rPr sz="2600" b="1" dirty="0" err="1">
                <a:solidFill>
                  <a:srgbClr val="1F2933"/>
                </a:solidFill>
                <a:latin typeface="PingFang SC"/>
                <a:ea typeface="PingFang SC"/>
              </a:rPr>
              <a:t>到</a:t>
            </a:r>
            <a:r>
              <a:rPr lang="zh-CN" altLang="en-US" sz="2600" b="1" dirty="0">
                <a:solidFill>
                  <a:srgbClr val="1F2933"/>
                </a:solidFill>
                <a:latin typeface="PingFang SC"/>
                <a:ea typeface="PingFang SC"/>
              </a:rPr>
              <a:t>“</a:t>
            </a:r>
            <a:r>
              <a:rPr sz="2600" b="1" dirty="0" err="1">
                <a:solidFill>
                  <a:srgbClr val="1F2933"/>
                </a:solidFill>
                <a:latin typeface="PingFang SC"/>
                <a:ea typeface="PingFang SC"/>
              </a:rPr>
              <a:t>分离异步</a:t>
            </a:r>
            <a:r>
              <a:rPr sz="2600" b="1" dirty="0">
                <a:solidFill>
                  <a:srgbClr val="1F2933"/>
                </a:solidFill>
                <a:latin typeface="PingFang SC"/>
                <a:ea typeface="PingFang SC"/>
              </a:rPr>
              <a:t> + </a:t>
            </a:r>
            <a:r>
              <a:rPr sz="2600" b="1" dirty="0" err="1">
                <a:solidFill>
                  <a:srgbClr val="1F2933"/>
                </a:solidFill>
                <a:latin typeface="PingFang SC"/>
                <a:ea typeface="PingFang SC"/>
              </a:rPr>
              <a:t>TransferQueue</a:t>
            </a:r>
            <a:r>
              <a:rPr lang="zh-CN" altLang="en-US" sz="2600" b="1" dirty="0">
                <a:solidFill>
                  <a:srgbClr val="1F2933"/>
                </a:solidFill>
                <a:latin typeface="PingFang SC"/>
                <a:ea typeface="PingFang SC"/>
              </a:rPr>
              <a:t>”</a:t>
            </a:r>
            <a:endParaRPr sz="2600" b="1" dirty="0">
              <a:solidFill>
                <a:srgbClr val="1F2933"/>
              </a:solidFill>
              <a:latin typeface="PingFang SC"/>
              <a:ea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9632" y="1028819"/>
            <a:ext cx="5440680" cy="5029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69632" y="1028819"/>
            <a:ext cx="73152" cy="5029200"/>
          </a:xfrm>
          <a:prstGeom prst="rect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8232" y="1120259"/>
            <a:ext cx="5029200" cy="28007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700" b="1" dirty="0" err="1">
                <a:solidFill>
                  <a:srgbClr val="8A96A3"/>
                </a:solidFill>
                <a:latin typeface="PingFang SC"/>
                <a:ea typeface="PingFang SC"/>
              </a:rPr>
              <a:t>原版</a:t>
            </a:r>
            <a:r>
              <a:rPr sz="1700" b="1" err="1">
                <a:solidFill>
                  <a:srgbClr val="8A96A3"/>
                </a:solidFill>
                <a:latin typeface="PingFang SC"/>
                <a:ea typeface="PingFang SC"/>
              </a:rPr>
              <a:t>：</a:t>
            </a:r>
            <a:r>
              <a:rPr sz="1700" b="1">
                <a:solidFill>
                  <a:srgbClr val="8A96A3"/>
                </a:solidFill>
                <a:latin typeface="PingFang SC"/>
                <a:ea typeface="PingFang SC"/>
              </a:rPr>
              <a:t>共卡同步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3952" y="1696331"/>
            <a:ext cx="114300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0">
                <a:solidFill>
                  <a:srgbClr val="1F2933"/>
                </a:solidFill>
                <a:latin typeface="PingFang SC"/>
                <a:ea typeface="PingFang SC"/>
              </a:rPr>
              <a:t>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1272" y="1696331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0" dirty="0" err="1">
                <a:solidFill>
                  <a:srgbClr val="1F2933"/>
                </a:solidFill>
                <a:latin typeface="PingFang SC"/>
                <a:ea typeface="PingFang SC"/>
              </a:rPr>
              <a:t>LLMProxy</a:t>
            </a:r>
            <a:endParaRPr sz="1200" b="0" dirty="0">
              <a:solidFill>
                <a:srgbClr val="1F2933"/>
              </a:solidFill>
              <a:latin typeface="PingFang SC"/>
              <a:ea typeface="PingFang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51744" y="1559171"/>
            <a:ext cx="2048256" cy="269748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6B7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52912" y="1696331"/>
            <a:ext cx="164592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0">
                <a:solidFill>
                  <a:srgbClr val="1F2933"/>
                </a:solidFill>
                <a:latin typeface="PingFang SC"/>
                <a:ea typeface="PingFang SC"/>
              </a:rPr>
              <a:t>vLLM 推理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2912" y="3250811"/>
            <a:ext cx="164592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0">
                <a:solidFill>
                  <a:srgbClr val="1F2933"/>
                </a:solidFill>
                <a:latin typeface="PingFang SC"/>
                <a:ea typeface="PingFang SC"/>
              </a:rPr>
              <a:t>FSDP 训练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75872" y="2272403"/>
            <a:ext cx="0" cy="905256"/>
          </a:xfrm>
          <a:prstGeom prst="line">
            <a:avLst/>
          </a:prstGeom>
          <a:ln w="19050">
            <a:solidFill>
              <a:srgbClr val="6B7A8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49024" y="2565011"/>
            <a:ext cx="86868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00" b="0">
                <a:solidFill>
                  <a:srgbClr val="6B7A8A"/>
                </a:solidFill>
                <a:latin typeface="PingFang SC"/>
                <a:ea typeface="PingFang SC"/>
              </a:rPr>
              <a:t>轮流占卡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0032" y="3845171"/>
            <a:ext cx="201168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00" b="0">
                <a:solidFill>
                  <a:srgbClr val="6B7A8A"/>
                </a:solidFill>
                <a:latin typeface="PingFang SC"/>
                <a:ea typeface="PingFang SC"/>
              </a:rPr>
              <a:t>同一批卡，wake / sleep 切换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61272" y="2473571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0">
                <a:solidFill>
                  <a:srgbClr val="1F2933"/>
                </a:solidFill>
                <a:latin typeface="PingFang SC"/>
                <a:ea typeface="PingFang SC"/>
              </a:rPr>
              <a:t>LightningStore</a:t>
            </a:r>
          </a:p>
          <a:p>
            <a:pPr algn="ctr"/>
            <a:r>
              <a:rPr sz="900" b="0">
                <a:solidFill>
                  <a:srgbClr val="6B7A8A"/>
                </a:solidFill>
                <a:latin typeface="PingFang SC"/>
                <a:ea typeface="PingFang SC"/>
              </a:rPr>
              <a:t>spans + reward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3952" y="3250811"/>
            <a:ext cx="233172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0">
                <a:solidFill>
                  <a:srgbClr val="1F2933"/>
                </a:solidFill>
                <a:latin typeface="PingFang SC"/>
                <a:ea typeface="PingFang SC"/>
              </a:rPr>
              <a:t>Trainer（daemon）</a:t>
            </a:r>
          </a:p>
          <a:p>
            <a:pPr algn="ctr"/>
            <a:r>
              <a:rPr sz="900" b="0">
                <a:solidFill>
                  <a:srgbClr val="6B7A8A"/>
                </a:solidFill>
                <a:latin typeface="PingFang SC"/>
                <a:ea typeface="PingFang SC"/>
              </a:rPr>
              <a:t>spans → triplet → DataProto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86951" y="1947791"/>
            <a:ext cx="274321" cy="0"/>
          </a:xfrm>
          <a:prstGeom prst="line">
            <a:avLst/>
          </a:prstGeom>
          <a:ln w="19050">
            <a:solidFill>
              <a:srgbClr val="6B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95712" y="1947791"/>
            <a:ext cx="457200" cy="0"/>
          </a:xfrm>
          <a:prstGeom prst="line">
            <a:avLst/>
          </a:prstGeom>
          <a:ln w="19050">
            <a:solidFill>
              <a:srgbClr val="6B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578492" y="2199251"/>
            <a:ext cx="0" cy="274320"/>
          </a:xfrm>
          <a:prstGeom prst="line">
            <a:avLst/>
          </a:prstGeom>
          <a:ln w="19050">
            <a:solidFill>
              <a:srgbClr val="6B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578492" y="2976491"/>
            <a:ext cx="0" cy="274320"/>
          </a:xfrm>
          <a:prstGeom prst="line">
            <a:avLst/>
          </a:prstGeom>
          <a:ln w="19050">
            <a:solidFill>
              <a:srgbClr val="6B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875672" y="3502271"/>
            <a:ext cx="777240" cy="0"/>
          </a:xfrm>
          <a:prstGeom prst="line">
            <a:avLst/>
          </a:prstGeom>
          <a:ln w="19050">
            <a:solidFill>
              <a:srgbClr val="6B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884816" y="3269099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经 Ray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952" y="4485251"/>
            <a:ext cx="182880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>
                <a:solidFill>
                  <a:srgbClr val="6B7A8A"/>
                </a:solidFill>
                <a:latin typeface="PingFang SC"/>
                <a:ea typeface="PingFang SC"/>
              </a:rPr>
              <a:t>时间线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3952" y="4851011"/>
            <a:ext cx="868680" cy="3657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000" b="0">
                <a:solidFill>
                  <a:srgbClr val="1F2933"/>
                </a:solidFill>
                <a:latin typeface="PingFang SC"/>
                <a:ea typeface="PingFang SC"/>
              </a:rPr>
              <a:t>全部卡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58352" y="4851011"/>
            <a:ext cx="1152144" cy="365760"/>
          </a:xfrm>
          <a:prstGeom prst="rect">
            <a:avLst/>
          </a:prstGeom>
          <a:solidFill>
            <a:srgbClr val="B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900" b="0">
                <a:solidFill>
                  <a:srgbClr val="1F2933"/>
                </a:solidFill>
                <a:latin typeface="PingFang SC"/>
                <a:ea typeface="PingFang SC"/>
              </a:rPr>
              <a:t>生成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47072" y="4851011"/>
            <a:ext cx="694944" cy="365760"/>
          </a:xfrm>
          <a:prstGeom prst="rect">
            <a:avLst/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PingFang SC"/>
                <a:ea typeface="PingFang SC"/>
              </a:rPr>
              <a:t>训练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78592" y="4851011"/>
            <a:ext cx="1152144" cy="365760"/>
          </a:xfrm>
          <a:prstGeom prst="rect">
            <a:avLst/>
          </a:prstGeom>
          <a:solidFill>
            <a:srgbClr val="B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900" b="0">
                <a:solidFill>
                  <a:srgbClr val="1F2933"/>
                </a:solidFill>
                <a:latin typeface="PingFang SC"/>
                <a:ea typeface="PingFang SC"/>
              </a:rPr>
              <a:t>生成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67312" y="4851011"/>
            <a:ext cx="694944" cy="365760"/>
          </a:xfrm>
          <a:prstGeom prst="rect">
            <a:avLst/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PingFang SC"/>
                <a:ea typeface="PingFang SC"/>
              </a:rPr>
              <a:t>训练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952" y="5491091"/>
            <a:ext cx="5029200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B7A8A"/>
                </a:solidFill>
                <a:latin typeface="PingFang SC"/>
                <a:ea typeface="PingFang SC"/>
              </a:rPr>
              <a:t>一步内串行：等这批最慢的 rollout 结束才开始训练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13809" y="1028819"/>
            <a:ext cx="5440680" cy="5029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513809" y="1028819"/>
            <a:ext cx="73152" cy="5029200"/>
          </a:xfrm>
          <a:prstGeom prst="rect">
            <a:avLst/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42409" y="1120259"/>
            <a:ext cx="502920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700" b="1">
                <a:solidFill>
                  <a:srgbClr val="2C6E8F"/>
                </a:solidFill>
                <a:latin typeface="PingFang SC"/>
                <a:ea typeface="PingFang SC"/>
              </a:rPr>
              <a:t>现在：分离异步 + TQ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0697" y="1559171"/>
            <a:ext cx="10972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0">
                <a:solidFill>
                  <a:srgbClr val="1F2933"/>
                </a:solidFill>
                <a:latin typeface="PingFang SC"/>
                <a:ea typeface="PingFang SC"/>
              </a:rPr>
              <a:t>Agent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2297" y="1559171"/>
            <a:ext cx="12344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0">
                <a:solidFill>
                  <a:srgbClr val="1F2933"/>
                </a:solidFill>
                <a:latin typeface="PingFang SC"/>
                <a:ea typeface="PingFang SC"/>
              </a:rPr>
              <a:t>LLMProxy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41057" y="1559171"/>
            <a:ext cx="21031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0" dirty="0" err="1">
                <a:solidFill>
                  <a:srgbClr val="1F2933"/>
                </a:solidFill>
                <a:latin typeface="PingFang SC"/>
                <a:ea typeface="PingFang SC"/>
              </a:rPr>
              <a:t>vLLM</a:t>
            </a:r>
            <a:r>
              <a:rPr sz="1100" b="0" dirty="0">
                <a:solidFill>
                  <a:srgbClr val="1F2933"/>
                </a:solidFill>
                <a:latin typeface="PingFang SC"/>
                <a:ea typeface="PingFang SC"/>
              </a:rPr>
              <a:t> </a:t>
            </a:r>
            <a:r>
              <a:rPr sz="1100" b="0" dirty="0" err="1">
                <a:solidFill>
                  <a:srgbClr val="1F2933"/>
                </a:solidFill>
                <a:latin typeface="PingFang SC"/>
                <a:ea typeface="PingFang SC"/>
              </a:rPr>
              <a:t>推理池</a:t>
            </a:r>
            <a:endParaRPr sz="1100" b="0" dirty="0">
              <a:solidFill>
                <a:srgbClr val="1F2933"/>
              </a:solidFill>
              <a:latin typeface="PingFang SC"/>
              <a:ea typeface="PingFang SC"/>
            </a:endParaRPr>
          </a:p>
          <a:p>
            <a:pPr algn="ctr"/>
            <a:r>
              <a:rPr sz="900" b="0" dirty="0" err="1">
                <a:solidFill>
                  <a:srgbClr val="6B7A8A"/>
                </a:solidFill>
                <a:latin typeface="PingFang SC"/>
                <a:ea typeface="PingFang SC"/>
              </a:rPr>
              <a:t>常驻</a:t>
            </a:r>
            <a:endParaRPr sz="900" b="0" dirty="0">
              <a:solidFill>
                <a:srgbClr val="6B7A8A"/>
              </a:solidFill>
              <a:latin typeface="PingFang SC"/>
              <a:ea typeface="PingFang SC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760697" y="2336411"/>
            <a:ext cx="10972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0">
                <a:solidFill>
                  <a:srgbClr val="1F2933"/>
                </a:solidFill>
                <a:latin typeface="PingFang SC"/>
                <a:ea typeface="PingFang SC"/>
              </a:rPr>
              <a:t>LightningStore</a:t>
            </a:r>
          </a:p>
          <a:p>
            <a:pPr algn="ctr"/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spans + reward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15177" y="2016371"/>
            <a:ext cx="0" cy="548640"/>
          </a:xfrm>
          <a:prstGeom prst="line">
            <a:avLst/>
          </a:prstGeom>
          <a:ln w="19050">
            <a:solidFill>
              <a:srgbClr val="6B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7857977" y="2565011"/>
            <a:ext cx="457200" cy="0"/>
          </a:xfrm>
          <a:prstGeom prst="line">
            <a:avLst/>
          </a:prstGeom>
          <a:ln w="19050">
            <a:solidFill>
              <a:srgbClr val="6B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876264" y="2592443"/>
            <a:ext cx="438912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spans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60697" y="3113651"/>
            <a:ext cx="2606040" cy="457200"/>
          </a:xfrm>
          <a:prstGeom prst="roundRect">
            <a:avLst>
              <a:gd name="adj" fmla="val 18000"/>
            </a:avLst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TransferQueue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PingFang SC"/>
                <a:ea typeface="PingFang SC"/>
              </a:rPr>
              <a:t>store 启动时在 Ray 上创建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60697" y="3890891"/>
            <a:ext cx="26060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0">
                <a:solidFill>
                  <a:srgbClr val="1F2933"/>
                </a:solidFill>
                <a:latin typeface="PingFang SC"/>
                <a:ea typeface="PingFang SC"/>
              </a:rPr>
              <a:t>Trainer</a:t>
            </a:r>
          </a:p>
          <a:p>
            <a:pPr algn="ctr"/>
            <a:r>
              <a:rPr sz="900" b="0">
                <a:solidFill>
                  <a:srgbClr val="6B7A8A"/>
                </a:solidFill>
                <a:latin typeface="PingFang SC"/>
                <a:ea typeface="PingFang SC"/>
              </a:rPr>
              <a:t>replay buffer 只取已完成的组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41057" y="3890891"/>
            <a:ext cx="21031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0" dirty="0">
                <a:solidFill>
                  <a:srgbClr val="1F2933"/>
                </a:solidFill>
                <a:latin typeface="PingFang SC"/>
                <a:ea typeface="PingFang SC"/>
              </a:rPr>
              <a:t>FSDP </a:t>
            </a:r>
            <a:r>
              <a:rPr sz="1100" b="0" dirty="0" err="1">
                <a:solidFill>
                  <a:srgbClr val="1F2933"/>
                </a:solidFill>
                <a:latin typeface="PingFang SC"/>
                <a:ea typeface="PingFang SC"/>
              </a:rPr>
              <a:t>训练池</a:t>
            </a:r>
            <a:endParaRPr sz="1100" b="0" dirty="0">
              <a:solidFill>
                <a:srgbClr val="1F2933"/>
              </a:solidFill>
              <a:latin typeface="PingFang SC"/>
              <a:ea typeface="PingFang SC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7857977" y="1787771"/>
            <a:ext cx="274320" cy="0"/>
          </a:xfrm>
          <a:prstGeom prst="line">
            <a:avLst/>
          </a:prstGeom>
          <a:ln w="19050">
            <a:solidFill>
              <a:srgbClr val="6B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366737" y="1787771"/>
            <a:ext cx="274320" cy="0"/>
          </a:xfrm>
          <a:prstGeom prst="line">
            <a:avLst/>
          </a:prstGeom>
          <a:ln w="19050">
            <a:solidFill>
              <a:srgbClr val="6B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309337" y="2016371"/>
            <a:ext cx="0" cy="320040"/>
          </a:xfrm>
          <a:prstGeom prst="line">
            <a:avLst/>
          </a:prstGeom>
          <a:ln w="19050">
            <a:solidFill>
              <a:srgbClr val="6B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355057" y="2062091"/>
            <a:ext cx="7315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reward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309337" y="2793611"/>
            <a:ext cx="0" cy="320040"/>
          </a:xfrm>
          <a:prstGeom prst="line">
            <a:avLst/>
          </a:prstGeom>
          <a:ln w="19050">
            <a:solidFill>
              <a:srgbClr val="2C6E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355057" y="2839331"/>
            <a:ext cx="9144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>
                <a:solidFill>
                  <a:srgbClr val="2C6E8F"/>
                </a:solidFill>
                <a:latin typeface="PingFang SC"/>
                <a:ea typeface="PingFang SC"/>
              </a:rPr>
              <a:t>reward、组完成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726657" y="2016371"/>
            <a:ext cx="0" cy="1097280"/>
          </a:xfrm>
          <a:prstGeom prst="line">
            <a:avLst/>
          </a:prstGeom>
          <a:ln w="19050">
            <a:solidFill>
              <a:srgbClr val="2C6E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772377" y="2382131"/>
            <a:ext cx="82296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>
                <a:solidFill>
                  <a:srgbClr val="2C6E8F"/>
                </a:solidFill>
                <a:latin typeface="PingFang SC"/>
                <a:ea typeface="PingFang SC"/>
              </a:rPr>
              <a:t>每轮 token</a:t>
            </a:r>
          </a:p>
          <a:p>
            <a:pPr algn="l"/>
            <a:r>
              <a:rPr sz="800" b="0">
                <a:solidFill>
                  <a:srgbClr val="2C6E8F"/>
                </a:solidFill>
                <a:latin typeface="PingFang SC"/>
                <a:ea typeface="PingFang SC"/>
              </a:rPr>
              <a:t>先写再回复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063716" y="3570851"/>
            <a:ext cx="0" cy="320040"/>
          </a:xfrm>
          <a:prstGeom prst="line">
            <a:avLst/>
          </a:prstGeom>
          <a:ln w="19050">
            <a:solidFill>
              <a:srgbClr val="2C6E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114009" y="3607427"/>
            <a:ext cx="11887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>
                <a:solidFill>
                  <a:srgbClr val="2C6E8F"/>
                </a:solidFill>
                <a:latin typeface="PingFang SC"/>
                <a:ea typeface="PingFang SC"/>
              </a:rPr>
              <a:t>只拿 key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366737" y="4119491"/>
            <a:ext cx="274320" cy="0"/>
          </a:xfrm>
          <a:prstGeom prst="line">
            <a:avLst/>
          </a:prstGeom>
          <a:ln w="19050">
            <a:solidFill>
              <a:srgbClr val="6B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66737" y="3342251"/>
            <a:ext cx="1188720" cy="0"/>
          </a:xfrm>
          <a:prstGeom prst="line">
            <a:avLst/>
          </a:prstGeom>
          <a:ln w="19050">
            <a:solidFill>
              <a:srgbClr val="2C6E8F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555457" y="3342251"/>
            <a:ext cx="0" cy="548640"/>
          </a:xfrm>
          <a:prstGeom prst="line">
            <a:avLst/>
          </a:prstGeom>
          <a:ln w="19050">
            <a:solidFill>
              <a:srgbClr val="2C6E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439889" y="3040499"/>
            <a:ext cx="114300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>
                <a:solidFill>
                  <a:srgbClr val="2C6E8F"/>
                </a:solidFill>
                <a:latin typeface="PingFang SC"/>
                <a:ea typeface="PingFang SC"/>
              </a:rPr>
              <a:t>worker 按 key 读写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11469857" y="2016371"/>
            <a:ext cx="0" cy="1874520"/>
          </a:xfrm>
          <a:prstGeom prst="line">
            <a:avLst/>
          </a:prstGeom>
          <a:ln w="19050">
            <a:solidFill>
              <a:srgbClr val="1F29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0692617" y="2336411"/>
            <a:ext cx="73152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每步</a:t>
            </a:r>
          </a:p>
          <a:p>
            <a:pPr algn="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推新权重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60697" y="4485251"/>
            <a:ext cx="182880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>
                <a:solidFill>
                  <a:srgbClr val="6B7A8A"/>
                </a:solidFill>
                <a:latin typeface="PingFang SC"/>
                <a:ea typeface="PingFang SC"/>
              </a:rPr>
              <a:t>时间线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0697" y="4805291"/>
            <a:ext cx="914400" cy="3291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000" b="0">
                <a:solidFill>
                  <a:srgbClr val="1F2933"/>
                </a:solidFill>
                <a:latin typeface="PingFang SC"/>
                <a:ea typeface="PingFang SC"/>
              </a:rPr>
              <a:t>推理 8 卡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0697" y="5189339"/>
            <a:ext cx="914400" cy="3291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000" b="0">
                <a:solidFill>
                  <a:srgbClr val="1F2933"/>
                </a:solidFill>
                <a:latin typeface="PingFang SC"/>
                <a:ea typeface="PingFang SC"/>
              </a:rPr>
              <a:t>训练 8 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20816" y="4805291"/>
            <a:ext cx="923544" cy="329184"/>
          </a:xfrm>
          <a:prstGeom prst="rect">
            <a:avLst/>
          </a:prstGeom>
          <a:solidFill>
            <a:srgbClr val="B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900" b="0">
                <a:solidFill>
                  <a:srgbClr val="1F2933"/>
                </a:solidFill>
                <a:latin typeface="PingFang SC"/>
                <a:ea typeface="PingFang SC"/>
              </a:rPr>
              <a:t>生成 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80937" y="4805291"/>
            <a:ext cx="923544" cy="329184"/>
          </a:xfrm>
          <a:prstGeom prst="rect">
            <a:avLst/>
          </a:prstGeom>
          <a:solidFill>
            <a:srgbClr val="B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900" b="0">
                <a:solidFill>
                  <a:srgbClr val="1F2933"/>
                </a:solidFill>
                <a:latin typeface="PingFang SC"/>
                <a:ea typeface="PingFang SC"/>
              </a:rPr>
              <a:t>生成 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1056" y="4805291"/>
            <a:ext cx="923544" cy="329184"/>
          </a:xfrm>
          <a:prstGeom prst="rect">
            <a:avLst/>
          </a:prstGeom>
          <a:solidFill>
            <a:srgbClr val="B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900" b="0">
                <a:solidFill>
                  <a:srgbClr val="1F2933"/>
                </a:solidFill>
                <a:latin typeface="PingFang SC"/>
                <a:ea typeface="PingFang SC"/>
              </a:rPr>
              <a:t>生成 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601177" y="4805291"/>
            <a:ext cx="923544" cy="329184"/>
          </a:xfrm>
          <a:prstGeom prst="rect">
            <a:avLst/>
          </a:prstGeom>
          <a:solidFill>
            <a:srgbClr val="B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900" b="0">
                <a:solidFill>
                  <a:srgbClr val="1F2933"/>
                </a:solidFill>
                <a:latin typeface="PingFang SC"/>
                <a:ea typeface="PingFang SC"/>
              </a:rPr>
              <a:t>生成 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20816" y="5189339"/>
            <a:ext cx="685800" cy="329184"/>
          </a:xfrm>
          <a:prstGeom prst="rect">
            <a:avLst/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PingFang SC"/>
                <a:ea typeface="PingFang SC"/>
              </a:rPr>
              <a:t>训练 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80937" y="5189339"/>
            <a:ext cx="685800" cy="329184"/>
          </a:xfrm>
          <a:prstGeom prst="rect">
            <a:avLst/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PingFang SC"/>
                <a:ea typeface="PingFang SC"/>
              </a:rPr>
              <a:t>训练 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41056" y="5189339"/>
            <a:ext cx="685800" cy="329184"/>
          </a:xfrm>
          <a:prstGeom prst="rect">
            <a:avLst/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PingFang SC"/>
                <a:ea typeface="PingFang SC"/>
              </a:rPr>
              <a:t>训练 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601177" y="5189339"/>
            <a:ext cx="685800" cy="329184"/>
          </a:xfrm>
          <a:prstGeom prst="rect">
            <a:avLst/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PingFang SC"/>
                <a:ea typeface="PingFang SC"/>
              </a:rPr>
              <a:t>训练 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60697" y="5600819"/>
            <a:ext cx="502920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B7A8A"/>
                </a:solidFill>
                <a:latin typeface="PingFang SC"/>
                <a:ea typeface="PingFang SC"/>
              </a:rPr>
              <a:t>提前提交后面的批次：生成下一批的同时训练上一批</a:t>
            </a:r>
          </a:p>
        </p:txBody>
      </p:sp>
      <p:sp>
        <p:nvSpPr>
          <p:cNvPr id="71" name="Right Arrow 70">
            <a:extLst>
              <a:ext uri="{FF2B5EF4-FFF2-40B4-BE49-F238E27FC236}">
                <a16:creationId xmlns:a16="http://schemas.microsoft.com/office/drawing/2014/main" id="{E178C4F2-3340-417A-BBB0-A072F21562E4}"/>
              </a:ext>
            </a:extLst>
          </p:cNvPr>
          <p:cNvSpPr/>
          <p:nvPr/>
        </p:nvSpPr>
        <p:spPr>
          <a:xfrm>
            <a:off x="5815468" y="3232523"/>
            <a:ext cx="621792" cy="53035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5DD1D-899D-1044-B262-2BBB3A6E6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8DCF6C-35B0-15B9-E71B-DA5747DF78F1}"/>
              </a:ext>
            </a:extLst>
          </p:cNvPr>
          <p:cNvSpPr txBox="1"/>
          <p:nvPr/>
        </p:nvSpPr>
        <p:spPr>
          <a:xfrm>
            <a:off x="457200" y="292608"/>
            <a:ext cx="11247120" cy="41857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600" b="1" dirty="0" err="1">
                <a:solidFill>
                  <a:srgbClr val="1F2933"/>
                </a:solidFill>
                <a:latin typeface="PingFang SC"/>
                <a:ea typeface="PingFang SC"/>
              </a:rPr>
              <a:t>调度时间</a:t>
            </a:r>
            <a:r>
              <a:rPr lang="zh-CN" altLang="en-US" sz="2600" b="1" dirty="0">
                <a:solidFill>
                  <a:srgbClr val="1F2933"/>
                </a:solidFill>
                <a:latin typeface="PingFang SC"/>
                <a:ea typeface="PingFang SC"/>
              </a:rPr>
              <a:t>线</a:t>
            </a:r>
            <a:endParaRPr sz="2600" b="1" dirty="0">
              <a:solidFill>
                <a:srgbClr val="1F2933"/>
              </a:solidFill>
              <a:latin typeface="PingFang SC"/>
              <a:ea typeface="PingFang S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E9E911-355F-2A7A-6940-F1BD30D14A72}"/>
              </a:ext>
            </a:extLst>
          </p:cNvPr>
          <p:cNvSpPr txBox="1"/>
          <p:nvPr/>
        </p:nvSpPr>
        <p:spPr>
          <a:xfrm>
            <a:off x="457200" y="1548819"/>
            <a:ext cx="11247120" cy="61863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0" dirty="0">
                <a:solidFill>
                  <a:srgbClr val="6B7A8A"/>
                </a:solidFill>
                <a:latin typeface="PingFang SC"/>
                <a:ea typeface="PingFang SC"/>
              </a:rPr>
              <a:t>G0、G1：推理副本；</a:t>
            </a:r>
            <a:endParaRPr lang="en-SG" sz="1300" b="0" dirty="0">
              <a:solidFill>
                <a:srgbClr val="6B7A8A"/>
              </a:solidFill>
              <a:latin typeface="PingFang SC"/>
              <a:ea typeface="PingFang SC"/>
            </a:endParaRPr>
          </a:p>
          <a:p>
            <a:pPr algn="l"/>
            <a:r>
              <a:rPr lang="en-SG" sz="1300" b="0" dirty="0">
                <a:solidFill>
                  <a:srgbClr val="6B7A8A"/>
                </a:solidFill>
                <a:latin typeface="PingFang SC"/>
                <a:ea typeface="PingFang SC"/>
              </a:rPr>
              <a:t>G</a:t>
            </a:r>
            <a:r>
              <a:rPr lang="en-US" altLang="zh-CN" sz="1300" b="0" dirty="0">
                <a:solidFill>
                  <a:srgbClr val="6B7A8A"/>
                </a:solidFill>
                <a:latin typeface="PingFang SC"/>
                <a:ea typeface="PingFang SC"/>
              </a:rPr>
              <a:t>2</a:t>
            </a:r>
            <a:r>
              <a:rPr lang="zh-CN" altLang="en-US" sz="1300" b="0" dirty="0">
                <a:solidFill>
                  <a:srgbClr val="6B7A8A"/>
                </a:solidFill>
                <a:latin typeface="PingFang SC"/>
                <a:ea typeface="PingFang SC"/>
              </a:rPr>
              <a:t>、</a:t>
            </a:r>
            <a:r>
              <a:rPr sz="1300" b="0" dirty="0">
                <a:solidFill>
                  <a:srgbClr val="6B7A8A"/>
                </a:solidFill>
                <a:latin typeface="PingFang SC"/>
                <a:ea typeface="PingFang SC"/>
              </a:rPr>
              <a:t>G3：训练池；</a:t>
            </a:r>
            <a:endParaRPr lang="en-SG" sz="1300" b="0" dirty="0">
              <a:solidFill>
                <a:srgbClr val="6B7A8A"/>
              </a:solidFill>
              <a:latin typeface="PingFang SC"/>
              <a:ea typeface="PingFang SC"/>
            </a:endParaRPr>
          </a:p>
          <a:p>
            <a:pPr algn="l"/>
            <a:r>
              <a:rPr sz="1300" b="0" dirty="0" err="1">
                <a:solidFill>
                  <a:srgbClr val="6B7A8A"/>
                </a:solidFill>
                <a:latin typeface="PingFang SC"/>
                <a:ea typeface="PingFang SC"/>
              </a:rPr>
              <a:t>编号：一个</a:t>
            </a:r>
            <a:r>
              <a:rPr sz="1300" b="0" dirty="0">
                <a:solidFill>
                  <a:srgbClr val="6B7A8A"/>
                </a:solidFill>
                <a:latin typeface="PingFang SC"/>
                <a:ea typeface="PingFang SC"/>
              </a:rPr>
              <a:t> prompt </a:t>
            </a:r>
            <a:r>
              <a:rPr sz="1300" b="0" dirty="0" err="1">
                <a:solidFill>
                  <a:srgbClr val="6B7A8A"/>
                </a:solidFill>
                <a:latin typeface="PingFang SC"/>
                <a:ea typeface="PingFang SC"/>
              </a:rPr>
              <a:t>组（n</a:t>
            </a:r>
            <a:r>
              <a:rPr sz="1300" b="0" dirty="0">
                <a:solidFill>
                  <a:srgbClr val="6B7A8A"/>
                </a:solidFill>
                <a:latin typeface="PingFang SC"/>
                <a:ea typeface="PingFang SC"/>
              </a:rPr>
              <a:t> </a:t>
            </a:r>
            <a:r>
              <a:rPr sz="1300" b="0" dirty="0" err="1">
                <a:solidFill>
                  <a:srgbClr val="6B7A8A"/>
                </a:solidFill>
                <a:latin typeface="PingFang SC"/>
                <a:ea typeface="PingFang SC"/>
              </a:rPr>
              <a:t>条</a:t>
            </a:r>
            <a:r>
              <a:rPr sz="1300" b="0" dirty="0">
                <a:solidFill>
                  <a:srgbClr val="6B7A8A"/>
                </a:solidFill>
                <a:latin typeface="PingFang SC"/>
                <a:ea typeface="PingFang SC"/>
              </a:rPr>
              <a:t> rollout）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FA5ABB-258F-F2F7-A7D0-2BA6894689E2}"/>
              </a:ext>
            </a:extLst>
          </p:cNvPr>
          <p:cNvSpPr/>
          <p:nvPr/>
        </p:nvSpPr>
        <p:spPr>
          <a:xfrm>
            <a:off x="457200" y="2434918"/>
            <a:ext cx="1127455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7AA27B-4A39-E5D0-7C7E-23D110908D37}"/>
              </a:ext>
            </a:extLst>
          </p:cNvPr>
          <p:cNvSpPr/>
          <p:nvPr/>
        </p:nvSpPr>
        <p:spPr>
          <a:xfrm>
            <a:off x="621792" y="2498926"/>
            <a:ext cx="237744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6B7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700" b="0">
                <a:solidFill>
                  <a:srgbClr val="1F2933"/>
                </a:solidFill>
                <a:latin typeface="PingFang SC"/>
                <a:ea typeface="PingFang SC"/>
              </a:rPr>
              <a:t>G0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4AABD4-239B-8A77-1C39-A891EE1193CC}"/>
              </a:ext>
            </a:extLst>
          </p:cNvPr>
          <p:cNvSpPr txBox="1"/>
          <p:nvPr/>
        </p:nvSpPr>
        <p:spPr>
          <a:xfrm>
            <a:off x="914400" y="2471494"/>
            <a:ext cx="292608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GPU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E8BE2B-E15F-4F18-967F-29136315B0D3}"/>
              </a:ext>
            </a:extLst>
          </p:cNvPr>
          <p:cNvSpPr/>
          <p:nvPr/>
        </p:nvSpPr>
        <p:spPr>
          <a:xfrm>
            <a:off x="1444752" y="2498926"/>
            <a:ext cx="27432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9AA5B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A2A0B325-5932-FEBB-00F0-386BA47DCAF5}"/>
              </a:ext>
            </a:extLst>
          </p:cNvPr>
          <p:cNvCxnSpPr/>
          <p:nvPr/>
        </p:nvCxnSpPr>
        <p:spPr>
          <a:xfrm flipV="1">
            <a:off x="1444752" y="2498926"/>
            <a:ext cx="32004" cy="32004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D30054D3-0D2C-B623-CBFC-04C51169CE37}"/>
              </a:ext>
            </a:extLst>
          </p:cNvPr>
          <p:cNvCxnSpPr/>
          <p:nvPr/>
        </p:nvCxnSpPr>
        <p:spPr>
          <a:xfrm flipV="1">
            <a:off x="1444752" y="2498926"/>
            <a:ext cx="96012" cy="96012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8C108B25-0747-348A-1044-6B19881FF346}"/>
              </a:ext>
            </a:extLst>
          </p:cNvPr>
          <p:cNvCxnSpPr/>
          <p:nvPr/>
        </p:nvCxnSpPr>
        <p:spPr>
          <a:xfrm flipV="1">
            <a:off x="1444752" y="2498926"/>
            <a:ext cx="160020" cy="160020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9DEE1A80-C07A-E652-7CF0-7879854FC034}"/>
              </a:ext>
            </a:extLst>
          </p:cNvPr>
          <p:cNvCxnSpPr/>
          <p:nvPr/>
        </p:nvCxnSpPr>
        <p:spPr>
          <a:xfrm flipV="1">
            <a:off x="1485900" y="2498926"/>
            <a:ext cx="182880" cy="182880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5F7BE865-9BB0-E165-7EC0-9CD5512F051F}"/>
              </a:ext>
            </a:extLst>
          </p:cNvPr>
          <p:cNvCxnSpPr/>
          <p:nvPr/>
        </p:nvCxnSpPr>
        <p:spPr>
          <a:xfrm flipV="1">
            <a:off x="1549908" y="2512642"/>
            <a:ext cx="169164" cy="169164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F7CBC2AE-5499-0AA7-28B0-1E5C365EC652}"/>
              </a:ext>
            </a:extLst>
          </p:cNvPr>
          <p:cNvCxnSpPr/>
          <p:nvPr/>
        </p:nvCxnSpPr>
        <p:spPr>
          <a:xfrm flipV="1">
            <a:off x="1613916" y="2576650"/>
            <a:ext cx="105156" cy="105156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E03B6332-383C-C5C5-7692-8188A1B0CE5B}"/>
              </a:ext>
            </a:extLst>
          </p:cNvPr>
          <p:cNvCxnSpPr/>
          <p:nvPr/>
        </p:nvCxnSpPr>
        <p:spPr>
          <a:xfrm flipV="1">
            <a:off x="1677924" y="2640658"/>
            <a:ext cx="41148" cy="41148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A3A0DC5-CFF2-B7E0-7CF9-C3D272C897C7}"/>
              </a:ext>
            </a:extLst>
          </p:cNvPr>
          <p:cNvSpPr txBox="1"/>
          <p:nvPr/>
        </p:nvSpPr>
        <p:spPr>
          <a:xfrm>
            <a:off x="1773936" y="2471494"/>
            <a:ext cx="365760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空等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734891-37A1-598B-9CC3-A1A29F6C5763}"/>
              </a:ext>
            </a:extLst>
          </p:cNvPr>
          <p:cNvSpPr/>
          <p:nvPr/>
        </p:nvSpPr>
        <p:spPr>
          <a:xfrm>
            <a:off x="2377440" y="2498926"/>
            <a:ext cx="118872" cy="182880"/>
          </a:xfrm>
          <a:prstGeom prst="rect">
            <a:avLst/>
          </a:prstGeom>
          <a:solidFill>
            <a:srgbClr val="C9E7B8"/>
          </a:solidFill>
          <a:ln w="9525">
            <a:solidFill>
              <a:srgbClr val="86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57EF41-3D88-B1AD-A777-6FA56626B397}"/>
              </a:ext>
            </a:extLst>
          </p:cNvPr>
          <p:cNvSpPr/>
          <p:nvPr/>
        </p:nvSpPr>
        <p:spPr>
          <a:xfrm>
            <a:off x="2496312" y="2498926"/>
            <a:ext cx="118872" cy="182880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00FFCF-90C7-1EA3-81AB-4FC7415E8557}"/>
              </a:ext>
            </a:extLst>
          </p:cNvPr>
          <p:cNvSpPr/>
          <p:nvPr/>
        </p:nvSpPr>
        <p:spPr>
          <a:xfrm>
            <a:off x="2615184" y="2498926"/>
            <a:ext cx="118872" cy="182880"/>
          </a:xfrm>
          <a:prstGeom prst="rect">
            <a:avLst/>
          </a:prstGeom>
          <a:solidFill>
            <a:srgbClr val="3F9B4B"/>
          </a:solidFill>
          <a:ln w="9525">
            <a:solidFill>
              <a:srgbClr val="2C6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D98402-6DA9-B525-3184-B510639A3745}"/>
              </a:ext>
            </a:extLst>
          </p:cNvPr>
          <p:cNvSpPr txBox="1"/>
          <p:nvPr/>
        </p:nvSpPr>
        <p:spPr>
          <a:xfrm>
            <a:off x="2788920" y="2471494"/>
            <a:ext cx="1298448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不同权重版本生成的组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DCBAD5-1A58-2273-07DB-B06B595F0C18}"/>
              </a:ext>
            </a:extLst>
          </p:cNvPr>
          <p:cNvSpPr/>
          <p:nvPr/>
        </p:nvSpPr>
        <p:spPr>
          <a:xfrm>
            <a:off x="4325112" y="2498926"/>
            <a:ext cx="118872" cy="182880"/>
          </a:xfrm>
          <a:prstGeom prst="rect">
            <a:avLst/>
          </a:prstGeom>
          <a:solidFill>
            <a:srgbClr val="A9D4F5"/>
          </a:solidFill>
          <a:ln w="9525">
            <a:solidFill>
              <a:srgbClr val="5E9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8C35EB-EE1E-C09E-1BE3-7B371FE73953}"/>
              </a:ext>
            </a:extLst>
          </p:cNvPr>
          <p:cNvSpPr/>
          <p:nvPr/>
        </p:nvSpPr>
        <p:spPr>
          <a:xfrm>
            <a:off x="4443984" y="2498926"/>
            <a:ext cx="118872" cy="182880"/>
          </a:xfrm>
          <a:prstGeom prst="rect">
            <a:avLst/>
          </a:prstGeom>
          <a:solidFill>
            <a:srgbClr val="5AA8E6"/>
          </a:solidFill>
          <a:ln w="9525">
            <a:solidFill>
              <a:srgbClr val="2F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3CA19A-002C-248B-64F9-04EFB8CE47AD}"/>
              </a:ext>
            </a:extLst>
          </p:cNvPr>
          <p:cNvSpPr/>
          <p:nvPr/>
        </p:nvSpPr>
        <p:spPr>
          <a:xfrm>
            <a:off x="4562856" y="2498926"/>
            <a:ext cx="118872" cy="182880"/>
          </a:xfrm>
          <a:prstGeom prst="rect">
            <a:avLst/>
          </a:prstGeom>
          <a:solidFill>
            <a:srgbClr val="2F7FCB"/>
          </a:solidFill>
          <a:ln w="95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7FBDBB-48AB-A370-DE3C-B4846232F93A}"/>
              </a:ext>
            </a:extLst>
          </p:cNvPr>
          <p:cNvSpPr txBox="1"/>
          <p:nvPr/>
        </p:nvSpPr>
        <p:spPr>
          <a:xfrm>
            <a:off x="4736592" y="2471494"/>
            <a:ext cx="1645920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mini-batch（一次权重更新）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2F0DAE-FBEB-2A43-286C-CCFD164FB0B5}"/>
              </a:ext>
            </a:extLst>
          </p:cNvPr>
          <p:cNvSpPr/>
          <p:nvPr/>
        </p:nvSpPr>
        <p:spPr>
          <a:xfrm>
            <a:off x="6620256" y="2498926"/>
            <a:ext cx="128016" cy="182880"/>
          </a:xfrm>
          <a:prstGeom prst="rect">
            <a:avLst/>
          </a:prstGeom>
          <a:solidFill>
            <a:srgbClr val="A6A6A6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50FE8A-8EE5-2ED8-0CD6-15FDA7AAE215}"/>
              </a:ext>
            </a:extLst>
          </p:cNvPr>
          <p:cNvSpPr txBox="1"/>
          <p:nvPr/>
        </p:nvSpPr>
        <p:spPr>
          <a:xfrm>
            <a:off x="6803136" y="2471494"/>
            <a:ext cx="1627632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Re-prefill（续跑重建 KV）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BD61D4-BA92-4101-E08C-DDF66B2C6817}"/>
              </a:ext>
            </a:extLst>
          </p:cNvPr>
          <p:cNvSpPr/>
          <p:nvPr/>
        </p:nvSpPr>
        <p:spPr>
          <a:xfrm>
            <a:off x="8668512" y="2498926"/>
            <a:ext cx="91440" cy="182880"/>
          </a:xfrm>
          <a:prstGeom prst="rect">
            <a:avLst/>
          </a:prstGeom>
          <a:solidFill>
            <a:srgbClr val="F6E6A0"/>
          </a:solidFill>
          <a:ln w="9525">
            <a:solidFill>
              <a:srgbClr val="CD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4A5E42-195B-6161-3A23-E642BABBCB1F}"/>
              </a:ext>
            </a:extLst>
          </p:cNvPr>
          <p:cNvSpPr txBox="1"/>
          <p:nvPr/>
        </p:nvSpPr>
        <p:spPr>
          <a:xfrm>
            <a:off x="8814816" y="2471494"/>
            <a:ext cx="548640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权重同步</a:t>
            </a:r>
          </a:p>
        </p:txBody>
      </p:sp>
      <p:cxnSp>
        <p:nvCxnSpPr>
          <p:cNvPr id="28" name="Connector 27">
            <a:extLst>
              <a:ext uri="{FF2B5EF4-FFF2-40B4-BE49-F238E27FC236}">
                <a16:creationId xmlns:a16="http://schemas.microsoft.com/office/drawing/2014/main" id="{E13DD7A5-F49A-3AE4-20DA-582506395E4B}"/>
              </a:ext>
            </a:extLst>
          </p:cNvPr>
          <p:cNvCxnSpPr/>
          <p:nvPr/>
        </p:nvCxnSpPr>
        <p:spPr>
          <a:xfrm>
            <a:off x="9601200" y="2590366"/>
            <a:ext cx="292608" cy="0"/>
          </a:xfrm>
          <a:prstGeom prst="line">
            <a:avLst/>
          </a:prstGeom>
          <a:ln w="15875">
            <a:solidFill>
              <a:srgbClr val="D953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F95B55D-ED0F-EC3E-089D-6F7C1A2DE4D2}"/>
              </a:ext>
            </a:extLst>
          </p:cNvPr>
          <p:cNvSpPr txBox="1"/>
          <p:nvPr/>
        </p:nvSpPr>
        <p:spPr>
          <a:xfrm>
            <a:off x="9948672" y="2471494"/>
            <a:ext cx="1097280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被中止的请求续跑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85A16B-F6BC-7E63-2EAC-ACB477B0606C}"/>
              </a:ext>
            </a:extLst>
          </p:cNvPr>
          <p:cNvSpPr txBox="1"/>
          <p:nvPr/>
        </p:nvSpPr>
        <p:spPr>
          <a:xfrm>
            <a:off x="411480" y="3449902"/>
            <a:ext cx="1051560" cy="20313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200" b="1" dirty="0" err="1">
                <a:solidFill>
                  <a:srgbClr val="2C6E8F"/>
                </a:solidFill>
                <a:latin typeface="PingFang SC"/>
                <a:ea typeface="PingFang SC"/>
              </a:rPr>
              <a:t>分离异步</a:t>
            </a:r>
            <a:r>
              <a:rPr sz="1200" b="1" dirty="0">
                <a:solidFill>
                  <a:srgbClr val="2C6E8F"/>
                </a:solidFill>
                <a:latin typeface="PingFang SC"/>
                <a:ea typeface="PingFang SC"/>
              </a:rPr>
              <a:t> + TQ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FB5BB0-E9B9-A4B0-8C1C-76F1777F2173}"/>
              </a:ext>
            </a:extLst>
          </p:cNvPr>
          <p:cNvSpPr/>
          <p:nvPr/>
        </p:nvSpPr>
        <p:spPr>
          <a:xfrm>
            <a:off x="1490472" y="3074998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G0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533485B-3C8D-F2A1-1091-9171C0942D62}"/>
              </a:ext>
            </a:extLst>
          </p:cNvPr>
          <p:cNvSpPr/>
          <p:nvPr/>
        </p:nvSpPr>
        <p:spPr>
          <a:xfrm>
            <a:off x="1490472" y="3596206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G1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0BA82F-DD4D-FD0B-E90D-A7F3A34C021D}"/>
              </a:ext>
            </a:extLst>
          </p:cNvPr>
          <p:cNvSpPr/>
          <p:nvPr/>
        </p:nvSpPr>
        <p:spPr>
          <a:xfrm>
            <a:off x="1508760" y="4217998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185970-60B3-63A2-C16F-6DA48601FC47}"/>
              </a:ext>
            </a:extLst>
          </p:cNvPr>
          <p:cNvSpPr/>
          <p:nvPr/>
        </p:nvSpPr>
        <p:spPr>
          <a:xfrm>
            <a:off x="1463040" y="4263718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G3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22F6636-37C9-4076-1CD1-859EFEF40DFF}"/>
              </a:ext>
            </a:extLst>
          </p:cNvPr>
          <p:cNvSpPr/>
          <p:nvPr/>
        </p:nvSpPr>
        <p:spPr>
          <a:xfrm>
            <a:off x="1874519" y="3010990"/>
            <a:ext cx="532311" cy="402335"/>
          </a:xfrm>
          <a:prstGeom prst="rect">
            <a:avLst/>
          </a:prstGeom>
          <a:solidFill>
            <a:srgbClr val="E3EAF3"/>
          </a:solidFill>
          <a:ln w="9525">
            <a:solidFill>
              <a:srgbClr val="B8C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71555D-CBA3-2800-F157-78983ACC741A}"/>
              </a:ext>
            </a:extLst>
          </p:cNvPr>
          <p:cNvSpPr/>
          <p:nvPr/>
        </p:nvSpPr>
        <p:spPr>
          <a:xfrm>
            <a:off x="1874519" y="3532198"/>
            <a:ext cx="532311" cy="402335"/>
          </a:xfrm>
          <a:prstGeom prst="rect">
            <a:avLst/>
          </a:prstGeom>
          <a:solidFill>
            <a:srgbClr val="E3EAF3"/>
          </a:solidFill>
          <a:ln w="9525">
            <a:solidFill>
              <a:srgbClr val="B8C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4324E62-6267-B5EE-BCEA-BA61AAC72D37}"/>
              </a:ext>
            </a:extLst>
          </p:cNvPr>
          <p:cNvSpPr/>
          <p:nvPr/>
        </p:nvSpPr>
        <p:spPr>
          <a:xfrm>
            <a:off x="1874519" y="4254574"/>
            <a:ext cx="532311" cy="292607"/>
          </a:xfrm>
          <a:prstGeom prst="rect">
            <a:avLst/>
          </a:prstGeom>
          <a:solidFill>
            <a:srgbClr val="E3EAF3"/>
          </a:solidFill>
          <a:ln w="9525">
            <a:solidFill>
              <a:srgbClr val="B8C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79386B-3615-7C57-5EF8-C797807F34BA}"/>
              </a:ext>
            </a:extLst>
          </p:cNvPr>
          <p:cNvSpPr txBox="1"/>
          <p:nvPr/>
        </p:nvSpPr>
        <p:spPr>
          <a:xfrm>
            <a:off x="1874519" y="4583757"/>
            <a:ext cx="532311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0">
                <a:solidFill>
                  <a:srgbClr val="6B7A8A"/>
                </a:solidFill>
                <a:latin typeface="PingFang SC"/>
                <a:ea typeface="PingFang SC"/>
              </a:rPr>
              <a:t>W</a:t>
            </a:r>
            <a:r>
              <a:rPr sz="850" b="0" baseline="-25000">
                <a:solidFill>
                  <a:srgbClr val="6B7A8A"/>
                </a:solidFill>
                <a:latin typeface="PingFang SC"/>
                <a:ea typeface="PingFang SC"/>
              </a:rPr>
              <a:t>n-1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C1B2D4B-CC2E-9872-0DCD-AE4364BF3C9C}"/>
              </a:ext>
            </a:extLst>
          </p:cNvPr>
          <p:cNvSpPr/>
          <p:nvPr/>
        </p:nvSpPr>
        <p:spPr>
          <a:xfrm>
            <a:off x="2492001" y="3010990"/>
            <a:ext cx="106462" cy="192024"/>
          </a:xfrm>
          <a:prstGeom prst="rect">
            <a:avLst/>
          </a:prstGeom>
          <a:solidFill>
            <a:srgbClr val="A6A6A6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67C54EB-77AE-4027-9BAC-16DE2B007E5D}"/>
              </a:ext>
            </a:extLst>
          </p:cNvPr>
          <p:cNvSpPr/>
          <p:nvPr/>
        </p:nvSpPr>
        <p:spPr>
          <a:xfrm>
            <a:off x="2598463" y="3010990"/>
            <a:ext cx="606835" cy="192024"/>
          </a:xfrm>
          <a:prstGeom prst="rect">
            <a:avLst/>
          </a:prstGeom>
          <a:solidFill>
            <a:srgbClr val="C9E7B8"/>
          </a:solidFill>
          <a:ln w="9525">
            <a:solidFill>
              <a:srgbClr val="86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700" b="0">
                <a:solidFill>
                  <a:srgbClr val="1F2933"/>
                </a:solidFill>
                <a:latin typeface="PingFang SC"/>
                <a:ea typeface="PingFang SC"/>
              </a:rPr>
              <a:t>上批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3388F46-41FB-9524-7CB5-B5C754099E69}"/>
              </a:ext>
            </a:extLst>
          </p:cNvPr>
          <p:cNvSpPr/>
          <p:nvPr/>
        </p:nvSpPr>
        <p:spPr>
          <a:xfrm>
            <a:off x="3205298" y="3010990"/>
            <a:ext cx="745236" cy="192024"/>
          </a:xfrm>
          <a:prstGeom prst="rect">
            <a:avLst/>
          </a:prstGeom>
          <a:solidFill>
            <a:srgbClr val="C9E7B8"/>
          </a:solidFill>
          <a:ln w="9525">
            <a:solidFill>
              <a:srgbClr val="86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AB74973-9405-30CB-C5EE-B854E9AD9660}"/>
              </a:ext>
            </a:extLst>
          </p:cNvPr>
          <p:cNvSpPr/>
          <p:nvPr/>
        </p:nvSpPr>
        <p:spPr>
          <a:xfrm>
            <a:off x="3950534" y="3010990"/>
            <a:ext cx="958160" cy="192024"/>
          </a:xfrm>
          <a:prstGeom prst="rect">
            <a:avLst/>
          </a:prstGeom>
          <a:solidFill>
            <a:srgbClr val="C9E7B8"/>
          </a:solidFill>
          <a:ln w="9525">
            <a:solidFill>
              <a:srgbClr val="86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9A0A58A-0CE2-DE3E-67C8-A77674DF7787}"/>
              </a:ext>
            </a:extLst>
          </p:cNvPr>
          <p:cNvSpPr/>
          <p:nvPr/>
        </p:nvSpPr>
        <p:spPr>
          <a:xfrm>
            <a:off x="4908695" y="3010990"/>
            <a:ext cx="266155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9AA5B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214F164D-78D6-0DC8-06BE-46B5D01D5B6F}"/>
              </a:ext>
            </a:extLst>
          </p:cNvPr>
          <p:cNvCxnSpPr/>
          <p:nvPr/>
        </p:nvCxnSpPr>
        <p:spPr>
          <a:xfrm flipV="1">
            <a:off x="4908695" y="3010990"/>
            <a:ext cx="32004" cy="32003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A419DADC-9D3D-0E47-8526-6365E0399CE0}"/>
              </a:ext>
            </a:extLst>
          </p:cNvPr>
          <p:cNvCxnSpPr/>
          <p:nvPr/>
        </p:nvCxnSpPr>
        <p:spPr>
          <a:xfrm flipV="1">
            <a:off x="4908695" y="3010990"/>
            <a:ext cx="96012" cy="96012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01C3841A-9034-E2DC-D0CF-DD1267D8C37A}"/>
              </a:ext>
            </a:extLst>
          </p:cNvPr>
          <p:cNvCxnSpPr/>
          <p:nvPr/>
        </p:nvCxnSpPr>
        <p:spPr>
          <a:xfrm flipV="1">
            <a:off x="4908695" y="3010990"/>
            <a:ext cx="160020" cy="160019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>
            <a:extLst>
              <a:ext uri="{FF2B5EF4-FFF2-40B4-BE49-F238E27FC236}">
                <a16:creationId xmlns:a16="http://schemas.microsoft.com/office/drawing/2014/main" id="{1A6550D9-D9F5-D458-2F1A-468790AE5B82}"/>
              </a:ext>
            </a:extLst>
          </p:cNvPr>
          <p:cNvCxnSpPr/>
          <p:nvPr/>
        </p:nvCxnSpPr>
        <p:spPr>
          <a:xfrm flipV="1">
            <a:off x="4940699" y="3010990"/>
            <a:ext cx="192024" cy="192024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>
            <a:extLst>
              <a:ext uri="{FF2B5EF4-FFF2-40B4-BE49-F238E27FC236}">
                <a16:creationId xmlns:a16="http://schemas.microsoft.com/office/drawing/2014/main" id="{B3D35B9A-3346-38E7-BAC4-DE7AC6EE7577}"/>
              </a:ext>
            </a:extLst>
          </p:cNvPr>
          <p:cNvCxnSpPr/>
          <p:nvPr/>
        </p:nvCxnSpPr>
        <p:spPr>
          <a:xfrm flipV="1">
            <a:off x="5004707" y="3032870"/>
            <a:ext cx="170143" cy="170144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>
            <a:extLst>
              <a:ext uri="{FF2B5EF4-FFF2-40B4-BE49-F238E27FC236}">
                <a16:creationId xmlns:a16="http://schemas.microsoft.com/office/drawing/2014/main" id="{473D0D73-DCCA-8645-6F7B-73B3E9C48B81}"/>
              </a:ext>
            </a:extLst>
          </p:cNvPr>
          <p:cNvCxnSpPr/>
          <p:nvPr/>
        </p:nvCxnSpPr>
        <p:spPr>
          <a:xfrm flipV="1">
            <a:off x="5068715" y="3096878"/>
            <a:ext cx="106135" cy="106136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>
            <a:extLst>
              <a:ext uri="{FF2B5EF4-FFF2-40B4-BE49-F238E27FC236}">
                <a16:creationId xmlns:a16="http://schemas.microsoft.com/office/drawing/2014/main" id="{FD11A8FA-8305-F029-1865-3D63F0326C95}"/>
              </a:ext>
            </a:extLst>
          </p:cNvPr>
          <p:cNvCxnSpPr/>
          <p:nvPr/>
        </p:nvCxnSpPr>
        <p:spPr>
          <a:xfrm flipV="1">
            <a:off x="5132723" y="3160886"/>
            <a:ext cx="42127" cy="42128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88E43A81-0DF6-7F59-6928-2CC703A5641D}"/>
              </a:ext>
            </a:extLst>
          </p:cNvPr>
          <p:cNvSpPr/>
          <p:nvPr/>
        </p:nvSpPr>
        <p:spPr>
          <a:xfrm>
            <a:off x="2492001" y="3221302"/>
            <a:ext cx="872990" cy="192024"/>
          </a:xfrm>
          <a:prstGeom prst="rect">
            <a:avLst/>
          </a:prstGeom>
          <a:solidFill>
            <a:srgbClr val="C9E7B8"/>
          </a:solidFill>
          <a:ln w="9525">
            <a:solidFill>
              <a:srgbClr val="86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E501F16-A940-CF9B-C40C-1B6AC0F6F93C}"/>
              </a:ext>
            </a:extLst>
          </p:cNvPr>
          <p:cNvSpPr/>
          <p:nvPr/>
        </p:nvSpPr>
        <p:spPr>
          <a:xfrm>
            <a:off x="3364991" y="3221302"/>
            <a:ext cx="1011391" cy="192024"/>
          </a:xfrm>
          <a:prstGeom prst="rect">
            <a:avLst/>
          </a:prstGeom>
          <a:solidFill>
            <a:srgbClr val="C9E7B8"/>
          </a:solidFill>
          <a:ln w="9525">
            <a:solidFill>
              <a:srgbClr val="86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0FCADCC-8243-BB40-29A2-297AC5F3E464}"/>
              </a:ext>
            </a:extLst>
          </p:cNvPr>
          <p:cNvSpPr/>
          <p:nvPr/>
        </p:nvSpPr>
        <p:spPr>
          <a:xfrm>
            <a:off x="4376383" y="3221302"/>
            <a:ext cx="798467" cy="192024"/>
          </a:xfrm>
          <a:prstGeom prst="rect">
            <a:avLst/>
          </a:prstGeom>
          <a:solidFill>
            <a:srgbClr val="C9E7B8"/>
          </a:solidFill>
          <a:ln w="9525">
            <a:solidFill>
              <a:srgbClr val="86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C6624FD-5DA3-8C95-BF68-0262A552897B}"/>
              </a:ext>
            </a:extLst>
          </p:cNvPr>
          <p:cNvSpPr/>
          <p:nvPr/>
        </p:nvSpPr>
        <p:spPr>
          <a:xfrm>
            <a:off x="2492001" y="3532198"/>
            <a:ext cx="106462" cy="192024"/>
          </a:xfrm>
          <a:prstGeom prst="rect">
            <a:avLst/>
          </a:prstGeom>
          <a:solidFill>
            <a:srgbClr val="A6A6A6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360499B-D366-1C63-1C9B-82F0BB54E93D}"/>
              </a:ext>
            </a:extLst>
          </p:cNvPr>
          <p:cNvSpPr/>
          <p:nvPr/>
        </p:nvSpPr>
        <p:spPr>
          <a:xfrm>
            <a:off x="2598463" y="3532198"/>
            <a:ext cx="660066" cy="192024"/>
          </a:xfrm>
          <a:prstGeom prst="rect">
            <a:avLst/>
          </a:prstGeom>
          <a:solidFill>
            <a:srgbClr val="C9E7B8"/>
          </a:solidFill>
          <a:ln w="9525">
            <a:solidFill>
              <a:srgbClr val="86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700" b="0">
                <a:solidFill>
                  <a:srgbClr val="1F2933"/>
                </a:solidFill>
                <a:latin typeface="PingFang SC"/>
                <a:ea typeface="PingFang SC"/>
              </a:rPr>
              <a:t>上批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43A56A8-0F43-750C-745A-FEE9F7480396}"/>
              </a:ext>
            </a:extLst>
          </p:cNvPr>
          <p:cNvSpPr/>
          <p:nvPr/>
        </p:nvSpPr>
        <p:spPr>
          <a:xfrm>
            <a:off x="3258529" y="3532198"/>
            <a:ext cx="1916321" cy="192024"/>
          </a:xfrm>
          <a:prstGeom prst="rect">
            <a:avLst/>
          </a:prstGeom>
          <a:solidFill>
            <a:srgbClr val="C9E7B8"/>
          </a:solidFill>
          <a:ln w="9525">
            <a:solidFill>
              <a:srgbClr val="86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E1DB7A9-DEAD-8C74-3A75-2A825F8C28D7}"/>
              </a:ext>
            </a:extLst>
          </p:cNvPr>
          <p:cNvSpPr/>
          <p:nvPr/>
        </p:nvSpPr>
        <p:spPr>
          <a:xfrm>
            <a:off x="2492001" y="3742510"/>
            <a:ext cx="1032684" cy="192024"/>
          </a:xfrm>
          <a:prstGeom prst="rect">
            <a:avLst/>
          </a:prstGeom>
          <a:solidFill>
            <a:srgbClr val="C9E7B8"/>
          </a:solidFill>
          <a:ln w="9525">
            <a:solidFill>
              <a:srgbClr val="86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E917D12-CF59-6913-42EE-EE72400C9A83}"/>
              </a:ext>
            </a:extLst>
          </p:cNvPr>
          <p:cNvSpPr/>
          <p:nvPr/>
        </p:nvSpPr>
        <p:spPr>
          <a:xfrm>
            <a:off x="3524685" y="3742510"/>
            <a:ext cx="1650165" cy="192024"/>
          </a:xfrm>
          <a:prstGeom prst="rect">
            <a:avLst/>
          </a:prstGeom>
          <a:solidFill>
            <a:srgbClr val="C9E7B8"/>
          </a:solidFill>
          <a:ln w="9525">
            <a:solidFill>
              <a:srgbClr val="86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8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0A9347F-28DB-B059-EF60-FADF163E1F14}"/>
              </a:ext>
            </a:extLst>
          </p:cNvPr>
          <p:cNvSpPr/>
          <p:nvPr/>
        </p:nvSpPr>
        <p:spPr>
          <a:xfrm>
            <a:off x="5260020" y="3010990"/>
            <a:ext cx="606835" cy="192024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9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D63D77D-FFE0-C099-65DE-12A16CBA1CD1}"/>
              </a:ext>
            </a:extLst>
          </p:cNvPr>
          <p:cNvSpPr/>
          <p:nvPr/>
        </p:nvSpPr>
        <p:spPr>
          <a:xfrm>
            <a:off x="5866855" y="3010990"/>
            <a:ext cx="1117854" cy="192024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13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C01E4D0-1160-C811-780F-3093D1857ED1}"/>
              </a:ext>
            </a:extLst>
          </p:cNvPr>
          <p:cNvSpPr/>
          <p:nvPr/>
        </p:nvSpPr>
        <p:spPr>
          <a:xfrm>
            <a:off x="6984709" y="3010990"/>
            <a:ext cx="1064622" cy="192024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15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C59BD35-BD9D-FE0A-488D-E0CD0EB185D3}"/>
              </a:ext>
            </a:extLst>
          </p:cNvPr>
          <p:cNvSpPr/>
          <p:nvPr/>
        </p:nvSpPr>
        <p:spPr>
          <a:xfrm>
            <a:off x="5260020" y="3221302"/>
            <a:ext cx="106462" cy="192024"/>
          </a:xfrm>
          <a:prstGeom prst="rect">
            <a:avLst/>
          </a:prstGeom>
          <a:solidFill>
            <a:srgbClr val="A6A6A6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D6B07B5-D43D-4EDD-0940-F6769F7A1F87}"/>
              </a:ext>
            </a:extLst>
          </p:cNvPr>
          <p:cNvSpPr/>
          <p:nvPr/>
        </p:nvSpPr>
        <p:spPr>
          <a:xfrm>
            <a:off x="5366482" y="3221302"/>
            <a:ext cx="361971" cy="192024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7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BB91D7A-3931-74B7-3DCA-59CD2E00D153}"/>
              </a:ext>
            </a:extLst>
          </p:cNvPr>
          <p:cNvSpPr/>
          <p:nvPr/>
        </p:nvSpPr>
        <p:spPr>
          <a:xfrm>
            <a:off x="5728454" y="3221302"/>
            <a:ext cx="990099" cy="192024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10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A2AB92A-788D-C029-3BA3-75C8E53BE380}"/>
              </a:ext>
            </a:extLst>
          </p:cNvPr>
          <p:cNvSpPr/>
          <p:nvPr/>
        </p:nvSpPr>
        <p:spPr>
          <a:xfrm>
            <a:off x="6718553" y="3221302"/>
            <a:ext cx="958160" cy="192024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14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62C9632-8CF4-3A54-7328-477D001DEDD5}"/>
              </a:ext>
            </a:extLst>
          </p:cNvPr>
          <p:cNvSpPr/>
          <p:nvPr/>
        </p:nvSpPr>
        <p:spPr>
          <a:xfrm>
            <a:off x="7676714" y="3221302"/>
            <a:ext cx="37261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9AA5B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7" name="Connector 66">
            <a:extLst>
              <a:ext uri="{FF2B5EF4-FFF2-40B4-BE49-F238E27FC236}">
                <a16:creationId xmlns:a16="http://schemas.microsoft.com/office/drawing/2014/main" id="{6ECE85FA-C4C1-8EBC-3CC7-2457FDEE93F3}"/>
              </a:ext>
            </a:extLst>
          </p:cNvPr>
          <p:cNvCxnSpPr/>
          <p:nvPr/>
        </p:nvCxnSpPr>
        <p:spPr>
          <a:xfrm flipV="1">
            <a:off x="7676714" y="3221302"/>
            <a:ext cx="32004" cy="32004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>
            <a:extLst>
              <a:ext uri="{FF2B5EF4-FFF2-40B4-BE49-F238E27FC236}">
                <a16:creationId xmlns:a16="http://schemas.microsoft.com/office/drawing/2014/main" id="{88929635-0E95-A351-C211-E80B636A5E77}"/>
              </a:ext>
            </a:extLst>
          </p:cNvPr>
          <p:cNvCxnSpPr/>
          <p:nvPr/>
        </p:nvCxnSpPr>
        <p:spPr>
          <a:xfrm flipV="1">
            <a:off x="7676714" y="3221302"/>
            <a:ext cx="96012" cy="96012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>
            <a:extLst>
              <a:ext uri="{FF2B5EF4-FFF2-40B4-BE49-F238E27FC236}">
                <a16:creationId xmlns:a16="http://schemas.microsoft.com/office/drawing/2014/main" id="{3439707B-2A9B-00D2-EB98-2012A7D3E0F7}"/>
              </a:ext>
            </a:extLst>
          </p:cNvPr>
          <p:cNvCxnSpPr/>
          <p:nvPr/>
        </p:nvCxnSpPr>
        <p:spPr>
          <a:xfrm flipV="1">
            <a:off x="7676714" y="3221302"/>
            <a:ext cx="160020" cy="160019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>
            <a:extLst>
              <a:ext uri="{FF2B5EF4-FFF2-40B4-BE49-F238E27FC236}">
                <a16:creationId xmlns:a16="http://schemas.microsoft.com/office/drawing/2014/main" id="{20170A7E-F1CF-52CC-BD91-0899DD394E9A}"/>
              </a:ext>
            </a:extLst>
          </p:cNvPr>
          <p:cNvCxnSpPr/>
          <p:nvPr/>
        </p:nvCxnSpPr>
        <p:spPr>
          <a:xfrm flipV="1">
            <a:off x="7708718" y="3221302"/>
            <a:ext cx="192024" cy="192024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>
            <a:extLst>
              <a:ext uri="{FF2B5EF4-FFF2-40B4-BE49-F238E27FC236}">
                <a16:creationId xmlns:a16="http://schemas.microsoft.com/office/drawing/2014/main" id="{416EEBDC-C036-4E5B-FA1B-5BCE0452D16A}"/>
              </a:ext>
            </a:extLst>
          </p:cNvPr>
          <p:cNvCxnSpPr/>
          <p:nvPr/>
        </p:nvCxnSpPr>
        <p:spPr>
          <a:xfrm flipV="1">
            <a:off x="7772726" y="3221302"/>
            <a:ext cx="192024" cy="192024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>
            <a:extLst>
              <a:ext uri="{FF2B5EF4-FFF2-40B4-BE49-F238E27FC236}">
                <a16:creationId xmlns:a16="http://schemas.microsoft.com/office/drawing/2014/main" id="{E71E4664-9694-578C-1FD9-5B5CF46D73A1}"/>
              </a:ext>
            </a:extLst>
          </p:cNvPr>
          <p:cNvCxnSpPr/>
          <p:nvPr/>
        </p:nvCxnSpPr>
        <p:spPr>
          <a:xfrm flipV="1">
            <a:off x="7836734" y="3221302"/>
            <a:ext cx="192024" cy="192024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>
            <a:extLst>
              <a:ext uri="{FF2B5EF4-FFF2-40B4-BE49-F238E27FC236}">
                <a16:creationId xmlns:a16="http://schemas.microsoft.com/office/drawing/2014/main" id="{AA4B559A-F250-8270-C80A-168C85C5903A}"/>
              </a:ext>
            </a:extLst>
          </p:cNvPr>
          <p:cNvCxnSpPr/>
          <p:nvPr/>
        </p:nvCxnSpPr>
        <p:spPr>
          <a:xfrm flipV="1">
            <a:off x="7900742" y="3264735"/>
            <a:ext cx="148590" cy="148591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>
            <a:extLst>
              <a:ext uri="{FF2B5EF4-FFF2-40B4-BE49-F238E27FC236}">
                <a16:creationId xmlns:a16="http://schemas.microsoft.com/office/drawing/2014/main" id="{AF4D2998-421B-9B51-F29F-C6BBA5C544EB}"/>
              </a:ext>
            </a:extLst>
          </p:cNvPr>
          <p:cNvCxnSpPr/>
          <p:nvPr/>
        </p:nvCxnSpPr>
        <p:spPr>
          <a:xfrm flipV="1">
            <a:off x="7964750" y="3328743"/>
            <a:ext cx="84582" cy="84583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>
            <a:extLst>
              <a:ext uri="{FF2B5EF4-FFF2-40B4-BE49-F238E27FC236}">
                <a16:creationId xmlns:a16="http://schemas.microsoft.com/office/drawing/2014/main" id="{B90E33B1-32E5-4643-B93F-3E00A2DE59A9}"/>
              </a:ext>
            </a:extLst>
          </p:cNvPr>
          <p:cNvCxnSpPr/>
          <p:nvPr/>
        </p:nvCxnSpPr>
        <p:spPr>
          <a:xfrm flipV="1">
            <a:off x="8028758" y="3392751"/>
            <a:ext cx="20574" cy="20575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731BD0F1-CD27-C1CE-AF5A-89CC1154C207}"/>
              </a:ext>
            </a:extLst>
          </p:cNvPr>
          <p:cNvSpPr/>
          <p:nvPr/>
        </p:nvSpPr>
        <p:spPr>
          <a:xfrm>
            <a:off x="5260020" y="3532198"/>
            <a:ext cx="106462" cy="192024"/>
          </a:xfrm>
          <a:prstGeom prst="rect">
            <a:avLst/>
          </a:prstGeom>
          <a:solidFill>
            <a:srgbClr val="A6A6A6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BA5F548-D57A-61BC-5C2A-1B5136CAE826}"/>
              </a:ext>
            </a:extLst>
          </p:cNvPr>
          <p:cNvSpPr/>
          <p:nvPr/>
        </p:nvSpPr>
        <p:spPr>
          <a:xfrm>
            <a:off x="5366482" y="3532198"/>
            <a:ext cx="2682849" cy="192024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96C8E7A-B108-5DCB-B8AE-3B1EE296D4C0}"/>
              </a:ext>
            </a:extLst>
          </p:cNvPr>
          <p:cNvSpPr/>
          <p:nvPr/>
        </p:nvSpPr>
        <p:spPr>
          <a:xfrm>
            <a:off x="5260020" y="3742510"/>
            <a:ext cx="106462" cy="192024"/>
          </a:xfrm>
          <a:prstGeom prst="rect">
            <a:avLst/>
          </a:prstGeom>
          <a:solidFill>
            <a:srgbClr val="A6A6A6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7856F72-A8F4-DBFC-783C-6FD9DA3BA783}"/>
              </a:ext>
            </a:extLst>
          </p:cNvPr>
          <p:cNvSpPr/>
          <p:nvPr/>
        </p:nvSpPr>
        <p:spPr>
          <a:xfrm>
            <a:off x="5366482" y="3742510"/>
            <a:ext cx="447141" cy="192024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8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C31B2D5-1050-9504-98B1-185D7966C2B4}"/>
              </a:ext>
            </a:extLst>
          </p:cNvPr>
          <p:cNvSpPr/>
          <p:nvPr/>
        </p:nvSpPr>
        <p:spPr>
          <a:xfrm>
            <a:off x="5813624" y="3742510"/>
            <a:ext cx="745236" cy="192024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11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AAB6261-C726-3AF8-14E4-B1952025E713}"/>
              </a:ext>
            </a:extLst>
          </p:cNvPr>
          <p:cNvSpPr/>
          <p:nvPr/>
        </p:nvSpPr>
        <p:spPr>
          <a:xfrm>
            <a:off x="6558860" y="3742510"/>
            <a:ext cx="1011391" cy="192024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12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DB6636E-CBB4-832C-84C4-C668F4B7DA8E}"/>
              </a:ext>
            </a:extLst>
          </p:cNvPr>
          <p:cNvSpPr/>
          <p:nvPr/>
        </p:nvSpPr>
        <p:spPr>
          <a:xfrm>
            <a:off x="7570252" y="3742510"/>
            <a:ext cx="479080" cy="192024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16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7A20DCF-8239-8E68-BAC1-D06FB69BB5FE}"/>
              </a:ext>
            </a:extLst>
          </p:cNvPr>
          <p:cNvSpPr/>
          <p:nvPr/>
        </p:nvSpPr>
        <p:spPr>
          <a:xfrm>
            <a:off x="8134502" y="3010990"/>
            <a:ext cx="106462" cy="192024"/>
          </a:xfrm>
          <a:prstGeom prst="rect">
            <a:avLst/>
          </a:prstGeom>
          <a:solidFill>
            <a:srgbClr val="A6A6A6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3EBC817-AF02-340F-7B51-2F8DA1858F4F}"/>
              </a:ext>
            </a:extLst>
          </p:cNvPr>
          <p:cNvSpPr/>
          <p:nvPr/>
        </p:nvSpPr>
        <p:spPr>
          <a:xfrm>
            <a:off x="8240964" y="3010990"/>
            <a:ext cx="340679" cy="192024"/>
          </a:xfrm>
          <a:prstGeom prst="rect">
            <a:avLst/>
          </a:prstGeom>
          <a:solidFill>
            <a:srgbClr val="3F9B4B"/>
          </a:solidFill>
          <a:ln w="9525">
            <a:solidFill>
              <a:srgbClr val="2C6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PingFang SC"/>
                <a:ea typeface="PingFang SC"/>
              </a:rPr>
              <a:t>15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BCE05BE-3F16-FED8-EA46-D8D76D8C9836}"/>
              </a:ext>
            </a:extLst>
          </p:cNvPr>
          <p:cNvSpPr/>
          <p:nvPr/>
        </p:nvSpPr>
        <p:spPr>
          <a:xfrm>
            <a:off x="8581643" y="3010990"/>
            <a:ext cx="745236" cy="192024"/>
          </a:xfrm>
          <a:prstGeom prst="rect">
            <a:avLst/>
          </a:prstGeom>
          <a:solidFill>
            <a:srgbClr val="3F9B4B"/>
          </a:solidFill>
          <a:ln w="9525">
            <a:solidFill>
              <a:srgbClr val="2C6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PingFang SC"/>
                <a:ea typeface="PingFang SC"/>
              </a:rPr>
              <a:t>17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6BEDF82-990B-3F61-0D39-C08BC6D1D373}"/>
              </a:ext>
            </a:extLst>
          </p:cNvPr>
          <p:cNvSpPr/>
          <p:nvPr/>
        </p:nvSpPr>
        <p:spPr>
          <a:xfrm>
            <a:off x="8134502" y="3221302"/>
            <a:ext cx="1192377" cy="192024"/>
          </a:xfrm>
          <a:prstGeom prst="rect">
            <a:avLst/>
          </a:prstGeom>
          <a:solidFill>
            <a:srgbClr val="3F9B4B"/>
          </a:solidFill>
          <a:ln w="9525">
            <a:solidFill>
              <a:srgbClr val="2C6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PingFang SC"/>
                <a:ea typeface="PingFang SC"/>
              </a:rPr>
              <a:t>18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004EDC1-0B7A-2689-9350-658705F2EBD5}"/>
              </a:ext>
            </a:extLst>
          </p:cNvPr>
          <p:cNvSpPr/>
          <p:nvPr/>
        </p:nvSpPr>
        <p:spPr>
          <a:xfrm>
            <a:off x="8134502" y="3532198"/>
            <a:ext cx="106462" cy="192024"/>
          </a:xfrm>
          <a:prstGeom prst="rect">
            <a:avLst/>
          </a:prstGeom>
          <a:solidFill>
            <a:srgbClr val="A6A6A6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64E7220-986A-CD71-4F4B-4475FEA4CBAB}"/>
              </a:ext>
            </a:extLst>
          </p:cNvPr>
          <p:cNvSpPr/>
          <p:nvPr/>
        </p:nvSpPr>
        <p:spPr>
          <a:xfrm>
            <a:off x="8240964" y="3532198"/>
            <a:ext cx="447141" cy="192024"/>
          </a:xfrm>
          <a:prstGeom prst="rect">
            <a:avLst/>
          </a:prstGeom>
          <a:solidFill>
            <a:srgbClr val="3F9B4B"/>
          </a:solidFill>
          <a:ln w="9525">
            <a:solidFill>
              <a:srgbClr val="2C6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4F01C72-2CCC-2F09-FBB1-C664375C503D}"/>
              </a:ext>
            </a:extLst>
          </p:cNvPr>
          <p:cNvSpPr/>
          <p:nvPr/>
        </p:nvSpPr>
        <p:spPr>
          <a:xfrm>
            <a:off x="8688106" y="3532198"/>
            <a:ext cx="638773" cy="192024"/>
          </a:xfrm>
          <a:prstGeom prst="rect">
            <a:avLst/>
          </a:prstGeom>
          <a:solidFill>
            <a:srgbClr val="3F9B4B"/>
          </a:solidFill>
          <a:ln w="9525">
            <a:solidFill>
              <a:srgbClr val="2C6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PingFang SC"/>
                <a:ea typeface="PingFang SC"/>
              </a:rPr>
              <a:t>19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3D4CBC6-DBFE-B644-C83E-08B14052DAC3}"/>
              </a:ext>
            </a:extLst>
          </p:cNvPr>
          <p:cNvSpPr/>
          <p:nvPr/>
        </p:nvSpPr>
        <p:spPr>
          <a:xfrm>
            <a:off x="8134502" y="3742510"/>
            <a:ext cx="106462" cy="192024"/>
          </a:xfrm>
          <a:prstGeom prst="rect">
            <a:avLst/>
          </a:prstGeom>
          <a:solidFill>
            <a:srgbClr val="A6A6A6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BE8BC91-8128-2D29-165D-4A73141878E9}"/>
              </a:ext>
            </a:extLst>
          </p:cNvPr>
          <p:cNvSpPr/>
          <p:nvPr/>
        </p:nvSpPr>
        <p:spPr>
          <a:xfrm>
            <a:off x="8240964" y="3742510"/>
            <a:ext cx="255509" cy="192024"/>
          </a:xfrm>
          <a:prstGeom prst="rect">
            <a:avLst/>
          </a:prstGeom>
          <a:solidFill>
            <a:srgbClr val="3F9B4B"/>
          </a:solidFill>
          <a:ln w="9525">
            <a:solidFill>
              <a:srgbClr val="2C6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PingFang SC"/>
                <a:ea typeface="PingFang SC"/>
              </a:rPr>
              <a:t>16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203717C-5F99-CBFA-22D9-2FE8683B4423}"/>
              </a:ext>
            </a:extLst>
          </p:cNvPr>
          <p:cNvSpPr/>
          <p:nvPr/>
        </p:nvSpPr>
        <p:spPr>
          <a:xfrm>
            <a:off x="8496474" y="3742510"/>
            <a:ext cx="830405" cy="192024"/>
          </a:xfrm>
          <a:prstGeom prst="rect">
            <a:avLst/>
          </a:prstGeom>
          <a:solidFill>
            <a:srgbClr val="3F9B4B"/>
          </a:solidFill>
          <a:ln w="9525">
            <a:solidFill>
              <a:srgbClr val="2C6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PingFang SC"/>
                <a:ea typeface="PingFang SC"/>
              </a:rPr>
              <a:t>20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E2FCCDC-4A45-D2A8-F6CA-9CAC7E48D374}"/>
              </a:ext>
            </a:extLst>
          </p:cNvPr>
          <p:cNvSpPr/>
          <p:nvPr/>
        </p:nvSpPr>
        <p:spPr>
          <a:xfrm>
            <a:off x="2492001" y="4254574"/>
            <a:ext cx="7878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5B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4" name="Connector 93">
            <a:extLst>
              <a:ext uri="{FF2B5EF4-FFF2-40B4-BE49-F238E27FC236}">
                <a16:creationId xmlns:a16="http://schemas.microsoft.com/office/drawing/2014/main" id="{FD4CC200-9EA1-BC29-D414-4A4F1C06F96F}"/>
              </a:ext>
            </a:extLst>
          </p:cNvPr>
          <p:cNvCxnSpPr/>
          <p:nvPr/>
        </p:nvCxnSpPr>
        <p:spPr>
          <a:xfrm flipV="1">
            <a:off x="2492001" y="4254574"/>
            <a:ext cx="32004" cy="32003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>
            <a:extLst>
              <a:ext uri="{FF2B5EF4-FFF2-40B4-BE49-F238E27FC236}">
                <a16:creationId xmlns:a16="http://schemas.microsoft.com/office/drawing/2014/main" id="{1F614470-C4D5-E1C7-1D9B-11949FD5FFF8}"/>
              </a:ext>
            </a:extLst>
          </p:cNvPr>
          <p:cNvCxnSpPr/>
          <p:nvPr/>
        </p:nvCxnSpPr>
        <p:spPr>
          <a:xfrm flipV="1">
            <a:off x="2492001" y="4254574"/>
            <a:ext cx="96012" cy="96012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>
            <a:extLst>
              <a:ext uri="{FF2B5EF4-FFF2-40B4-BE49-F238E27FC236}">
                <a16:creationId xmlns:a16="http://schemas.microsoft.com/office/drawing/2014/main" id="{2C866766-86E3-BC0B-ED8F-838A5C1B1713}"/>
              </a:ext>
            </a:extLst>
          </p:cNvPr>
          <p:cNvCxnSpPr/>
          <p:nvPr/>
        </p:nvCxnSpPr>
        <p:spPr>
          <a:xfrm flipV="1">
            <a:off x="2492001" y="4254574"/>
            <a:ext cx="160020" cy="160019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>
            <a:extLst>
              <a:ext uri="{FF2B5EF4-FFF2-40B4-BE49-F238E27FC236}">
                <a16:creationId xmlns:a16="http://schemas.microsoft.com/office/drawing/2014/main" id="{6BEC4958-54D5-160E-90DD-B379E5F9A950}"/>
              </a:ext>
            </a:extLst>
          </p:cNvPr>
          <p:cNvCxnSpPr/>
          <p:nvPr/>
        </p:nvCxnSpPr>
        <p:spPr>
          <a:xfrm flipV="1">
            <a:off x="2492001" y="4254574"/>
            <a:ext cx="224028" cy="22402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>
            <a:extLst>
              <a:ext uri="{FF2B5EF4-FFF2-40B4-BE49-F238E27FC236}">
                <a16:creationId xmlns:a16="http://schemas.microsoft.com/office/drawing/2014/main" id="{C619C748-E09B-D203-EFBC-74A2F32F5551}"/>
              </a:ext>
            </a:extLst>
          </p:cNvPr>
          <p:cNvCxnSpPr/>
          <p:nvPr/>
        </p:nvCxnSpPr>
        <p:spPr>
          <a:xfrm flipV="1">
            <a:off x="2492001" y="4254574"/>
            <a:ext cx="288036" cy="288035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>
            <a:extLst>
              <a:ext uri="{FF2B5EF4-FFF2-40B4-BE49-F238E27FC236}">
                <a16:creationId xmlns:a16="http://schemas.microsoft.com/office/drawing/2014/main" id="{047D1734-8F18-70C5-CA75-94FCF77B8109}"/>
              </a:ext>
            </a:extLst>
          </p:cNvPr>
          <p:cNvCxnSpPr/>
          <p:nvPr/>
        </p:nvCxnSpPr>
        <p:spPr>
          <a:xfrm flipV="1">
            <a:off x="2551437" y="425457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>
            <a:extLst>
              <a:ext uri="{FF2B5EF4-FFF2-40B4-BE49-F238E27FC236}">
                <a16:creationId xmlns:a16="http://schemas.microsoft.com/office/drawing/2014/main" id="{871CC62B-4B6D-1DF9-12E5-785F496BB10E}"/>
              </a:ext>
            </a:extLst>
          </p:cNvPr>
          <p:cNvCxnSpPr/>
          <p:nvPr/>
        </p:nvCxnSpPr>
        <p:spPr>
          <a:xfrm flipV="1">
            <a:off x="2615445" y="425457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>
            <a:extLst>
              <a:ext uri="{FF2B5EF4-FFF2-40B4-BE49-F238E27FC236}">
                <a16:creationId xmlns:a16="http://schemas.microsoft.com/office/drawing/2014/main" id="{2361AA54-49FB-F829-874F-2A9348097F4F}"/>
              </a:ext>
            </a:extLst>
          </p:cNvPr>
          <p:cNvCxnSpPr/>
          <p:nvPr/>
        </p:nvCxnSpPr>
        <p:spPr>
          <a:xfrm flipV="1">
            <a:off x="2679453" y="425457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>
            <a:extLst>
              <a:ext uri="{FF2B5EF4-FFF2-40B4-BE49-F238E27FC236}">
                <a16:creationId xmlns:a16="http://schemas.microsoft.com/office/drawing/2014/main" id="{5B9E108E-5F28-0258-E0C0-F880172AE4FE}"/>
              </a:ext>
            </a:extLst>
          </p:cNvPr>
          <p:cNvCxnSpPr/>
          <p:nvPr/>
        </p:nvCxnSpPr>
        <p:spPr>
          <a:xfrm flipV="1">
            <a:off x="2743461" y="425457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>
            <a:extLst>
              <a:ext uri="{FF2B5EF4-FFF2-40B4-BE49-F238E27FC236}">
                <a16:creationId xmlns:a16="http://schemas.microsoft.com/office/drawing/2014/main" id="{C3C32D16-790E-3D5D-4D1D-1C72F817F6BE}"/>
              </a:ext>
            </a:extLst>
          </p:cNvPr>
          <p:cNvCxnSpPr/>
          <p:nvPr/>
        </p:nvCxnSpPr>
        <p:spPr>
          <a:xfrm flipV="1">
            <a:off x="2807469" y="425457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>
            <a:extLst>
              <a:ext uri="{FF2B5EF4-FFF2-40B4-BE49-F238E27FC236}">
                <a16:creationId xmlns:a16="http://schemas.microsoft.com/office/drawing/2014/main" id="{8A2D13BC-25E8-5B57-DFCD-63EC6009D415}"/>
              </a:ext>
            </a:extLst>
          </p:cNvPr>
          <p:cNvCxnSpPr/>
          <p:nvPr/>
        </p:nvCxnSpPr>
        <p:spPr>
          <a:xfrm flipV="1">
            <a:off x="2871477" y="425457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>
            <a:extLst>
              <a:ext uri="{FF2B5EF4-FFF2-40B4-BE49-F238E27FC236}">
                <a16:creationId xmlns:a16="http://schemas.microsoft.com/office/drawing/2014/main" id="{A5E35209-18A2-6BD9-E332-E353F46E0AB0}"/>
              </a:ext>
            </a:extLst>
          </p:cNvPr>
          <p:cNvCxnSpPr/>
          <p:nvPr/>
        </p:nvCxnSpPr>
        <p:spPr>
          <a:xfrm flipV="1">
            <a:off x="2935485" y="425457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>
            <a:extLst>
              <a:ext uri="{FF2B5EF4-FFF2-40B4-BE49-F238E27FC236}">
                <a16:creationId xmlns:a16="http://schemas.microsoft.com/office/drawing/2014/main" id="{A5FEE03D-7646-FC99-1042-A03141855FFE}"/>
              </a:ext>
            </a:extLst>
          </p:cNvPr>
          <p:cNvCxnSpPr/>
          <p:nvPr/>
        </p:nvCxnSpPr>
        <p:spPr>
          <a:xfrm flipV="1">
            <a:off x="2999493" y="4266853"/>
            <a:ext cx="280329" cy="280328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>
            <a:extLst>
              <a:ext uri="{FF2B5EF4-FFF2-40B4-BE49-F238E27FC236}">
                <a16:creationId xmlns:a16="http://schemas.microsoft.com/office/drawing/2014/main" id="{602C60BE-05F0-E2B1-8892-9D91459880F4}"/>
              </a:ext>
            </a:extLst>
          </p:cNvPr>
          <p:cNvCxnSpPr/>
          <p:nvPr/>
        </p:nvCxnSpPr>
        <p:spPr>
          <a:xfrm flipV="1">
            <a:off x="3063501" y="4330861"/>
            <a:ext cx="216321" cy="216320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>
            <a:extLst>
              <a:ext uri="{FF2B5EF4-FFF2-40B4-BE49-F238E27FC236}">
                <a16:creationId xmlns:a16="http://schemas.microsoft.com/office/drawing/2014/main" id="{7F90C3C6-10AC-24C7-28F4-BA04D8743CB0}"/>
              </a:ext>
            </a:extLst>
          </p:cNvPr>
          <p:cNvCxnSpPr/>
          <p:nvPr/>
        </p:nvCxnSpPr>
        <p:spPr>
          <a:xfrm flipV="1">
            <a:off x="3127509" y="4394869"/>
            <a:ext cx="152313" cy="152312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>
            <a:extLst>
              <a:ext uri="{FF2B5EF4-FFF2-40B4-BE49-F238E27FC236}">
                <a16:creationId xmlns:a16="http://schemas.microsoft.com/office/drawing/2014/main" id="{9EB1BB25-C477-6EAF-83D8-AC59EAEC0179}"/>
              </a:ext>
            </a:extLst>
          </p:cNvPr>
          <p:cNvCxnSpPr/>
          <p:nvPr/>
        </p:nvCxnSpPr>
        <p:spPr>
          <a:xfrm flipV="1">
            <a:off x="3191517" y="4458877"/>
            <a:ext cx="88305" cy="88304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>
            <a:extLst>
              <a:ext uri="{FF2B5EF4-FFF2-40B4-BE49-F238E27FC236}">
                <a16:creationId xmlns:a16="http://schemas.microsoft.com/office/drawing/2014/main" id="{789F60B5-AD00-E5A7-F52F-49796FA45AD7}"/>
              </a:ext>
            </a:extLst>
          </p:cNvPr>
          <p:cNvCxnSpPr/>
          <p:nvPr/>
        </p:nvCxnSpPr>
        <p:spPr>
          <a:xfrm flipV="1">
            <a:off x="3255525" y="4522885"/>
            <a:ext cx="24297" cy="24296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BEEF053-C9D4-81EA-F57A-44EEBCC51CFF}"/>
              </a:ext>
            </a:extLst>
          </p:cNvPr>
          <p:cNvSpPr/>
          <p:nvPr/>
        </p:nvSpPr>
        <p:spPr>
          <a:xfrm>
            <a:off x="3279822" y="4254574"/>
            <a:ext cx="596188" cy="292608"/>
          </a:xfrm>
          <a:prstGeom prst="rect">
            <a:avLst/>
          </a:prstGeom>
          <a:solidFill>
            <a:srgbClr val="DCD6EC"/>
          </a:solidFill>
          <a:ln w="9525">
            <a:solidFill>
              <a:srgbClr val="9D9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750" b="0">
                <a:solidFill>
                  <a:srgbClr val="1F2933"/>
                </a:solidFill>
                <a:latin typeface="PingFang SC"/>
                <a:ea typeface="PingFang SC"/>
              </a:rPr>
              <a:t>old/ref/adv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DCE08E7-071A-65A1-7665-BDB01850E6E7}"/>
              </a:ext>
            </a:extLst>
          </p:cNvPr>
          <p:cNvSpPr/>
          <p:nvPr/>
        </p:nvSpPr>
        <p:spPr>
          <a:xfrm>
            <a:off x="3876010" y="4254574"/>
            <a:ext cx="649419" cy="292608"/>
          </a:xfrm>
          <a:prstGeom prst="rect">
            <a:avLst/>
          </a:prstGeom>
          <a:solidFill>
            <a:srgbClr val="A9D4F5"/>
          </a:solidFill>
          <a:ln w="9525">
            <a:solidFill>
              <a:srgbClr val="5E9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50" b="0">
                <a:solidFill>
                  <a:srgbClr val="1F2933"/>
                </a:solidFill>
                <a:latin typeface="PingFang SC"/>
                <a:ea typeface="PingFang SC"/>
              </a:rPr>
              <a:t>B1,W</a:t>
            </a:r>
            <a:r>
              <a:rPr sz="850" b="0" baseline="-25000">
                <a:solidFill>
                  <a:srgbClr val="1F2933"/>
                </a:solidFill>
                <a:latin typeface="PingFang SC"/>
                <a:ea typeface="PingFang SC"/>
              </a:rPr>
              <a:t>n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536E781-15A6-0E3A-E747-ED4B5327426A}"/>
              </a:ext>
            </a:extLst>
          </p:cNvPr>
          <p:cNvSpPr/>
          <p:nvPr/>
        </p:nvSpPr>
        <p:spPr>
          <a:xfrm>
            <a:off x="4525430" y="4254574"/>
            <a:ext cx="649419" cy="292608"/>
          </a:xfrm>
          <a:prstGeom prst="rect">
            <a:avLst/>
          </a:prstGeom>
          <a:solidFill>
            <a:srgbClr val="A9D4F5"/>
          </a:solidFill>
          <a:ln w="9525">
            <a:solidFill>
              <a:srgbClr val="5E9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50" b="0">
                <a:solidFill>
                  <a:srgbClr val="1F2933"/>
                </a:solidFill>
                <a:latin typeface="PingFang SC"/>
                <a:ea typeface="PingFang SC"/>
              </a:rPr>
              <a:t>B2,W</a:t>
            </a:r>
            <a:r>
              <a:rPr sz="850" b="0" baseline="-25000">
                <a:solidFill>
                  <a:srgbClr val="1F2933"/>
                </a:solidFill>
                <a:latin typeface="PingFang SC"/>
                <a:ea typeface="PingFang SC"/>
              </a:rPr>
              <a:t>n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D85F4FE-FB09-F9C1-11F2-056FA2826463}"/>
              </a:ext>
            </a:extLst>
          </p:cNvPr>
          <p:cNvSpPr/>
          <p:nvPr/>
        </p:nvSpPr>
        <p:spPr>
          <a:xfrm>
            <a:off x="5260020" y="4254574"/>
            <a:ext cx="63877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5B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5" name="Connector 114">
            <a:extLst>
              <a:ext uri="{FF2B5EF4-FFF2-40B4-BE49-F238E27FC236}">
                <a16:creationId xmlns:a16="http://schemas.microsoft.com/office/drawing/2014/main" id="{F024F796-C1B3-E8F9-37FD-740DA9A516C5}"/>
              </a:ext>
            </a:extLst>
          </p:cNvPr>
          <p:cNvCxnSpPr/>
          <p:nvPr/>
        </p:nvCxnSpPr>
        <p:spPr>
          <a:xfrm flipV="1">
            <a:off x="5260020" y="4254574"/>
            <a:ext cx="32004" cy="32003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>
            <a:extLst>
              <a:ext uri="{FF2B5EF4-FFF2-40B4-BE49-F238E27FC236}">
                <a16:creationId xmlns:a16="http://schemas.microsoft.com/office/drawing/2014/main" id="{B0028E47-3717-CE19-C61C-F8805C5714E8}"/>
              </a:ext>
            </a:extLst>
          </p:cNvPr>
          <p:cNvCxnSpPr/>
          <p:nvPr/>
        </p:nvCxnSpPr>
        <p:spPr>
          <a:xfrm flipV="1">
            <a:off x="5260020" y="4254574"/>
            <a:ext cx="96012" cy="96012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>
            <a:extLst>
              <a:ext uri="{FF2B5EF4-FFF2-40B4-BE49-F238E27FC236}">
                <a16:creationId xmlns:a16="http://schemas.microsoft.com/office/drawing/2014/main" id="{61865721-FC51-02B4-1A10-C85902FE0193}"/>
              </a:ext>
            </a:extLst>
          </p:cNvPr>
          <p:cNvCxnSpPr/>
          <p:nvPr/>
        </p:nvCxnSpPr>
        <p:spPr>
          <a:xfrm flipV="1">
            <a:off x="5260020" y="4254574"/>
            <a:ext cx="160020" cy="160019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>
            <a:extLst>
              <a:ext uri="{FF2B5EF4-FFF2-40B4-BE49-F238E27FC236}">
                <a16:creationId xmlns:a16="http://schemas.microsoft.com/office/drawing/2014/main" id="{6AABE56E-65F1-330E-9526-49CCB7605E45}"/>
              </a:ext>
            </a:extLst>
          </p:cNvPr>
          <p:cNvCxnSpPr/>
          <p:nvPr/>
        </p:nvCxnSpPr>
        <p:spPr>
          <a:xfrm flipV="1">
            <a:off x="5260020" y="4254574"/>
            <a:ext cx="224028" cy="22402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>
            <a:extLst>
              <a:ext uri="{FF2B5EF4-FFF2-40B4-BE49-F238E27FC236}">
                <a16:creationId xmlns:a16="http://schemas.microsoft.com/office/drawing/2014/main" id="{B38B4AFB-78DC-8112-863E-35B543381675}"/>
              </a:ext>
            </a:extLst>
          </p:cNvPr>
          <p:cNvCxnSpPr/>
          <p:nvPr/>
        </p:nvCxnSpPr>
        <p:spPr>
          <a:xfrm flipV="1">
            <a:off x="5260020" y="4254574"/>
            <a:ext cx="288036" cy="288035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>
            <a:extLst>
              <a:ext uri="{FF2B5EF4-FFF2-40B4-BE49-F238E27FC236}">
                <a16:creationId xmlns:a16="http://schemas.microsoft.com/office/drawing/2014/main" id="{D3FA0F19-6B30-61DC-C5C3-347A4DBE0D58}"/>
              </a:ext>
            </a:extLst>
          </p:cNvPr>
          <p:cNvCxnSpPr/>
          <p:nvPr/>
        </p:nvCxnSpPr>
        <p:spPr>
          <a:xfrm flipV="1">
            <a:off x="5319456" y="425457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>
            <a:extLst>
              <a:ext uri="{FF2B5EF4-FFF2-40B4-BE49-F238E27FC236}">
                <a16:creationId xmlns:a16="http://schemas.microsoft.com/office/drawing/2014/main" id="{584C7518-4854-27D1-C7B3-E66DE45D141E}"/>
              </a:ext>
            </a:extLst>
          </p:cNvPr>
          <p:cNvCxnSpPr/>
          <p:nvPr/>
        </p:nvCxnSpPr>
        <p:spPr>
          <a:xfrm flipV="1">
            <a:off x="5383464" y="425457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>
            <a:extLst>
              <a:ext uri="{FF2B5EF4-FFF2-40B4-BE49-F238E27FC236}">
                <a16:creationId xmlns:a16="http://schemas.microsoft.com/office/drawing/2014/main" id="{2E4C4B35-2250-F2B9-5671-582F16AB5741}"/>
              </a:ext>
            </a:extLst>
          </p:cNvPr>
          <p:cNvCxnSpPr/>
          <p:nvPr/>
        </p:nvCxnSpPr>
        <p:spPr>
          <a:xfrm flipV="1">
            <a:off x="5447472" y="425457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>
            <a:extLst>
              <a:ext uri="{FF2B5EF4-FFF2-40B4-BE49-F238E27FC236}">
                <a16:creationId xmlns:a16="http://schemas.microsoft.com/office/drawing/2014/main" id="{D2726BA2-3E8C-7328-032C-1425329CBCC7}"/>
              </a:ext>
            </a:extLst>
          </p:cNvPr>
          <p:cNvCxnSpPr/>
          <p:nvPr/>
        </p:nvCxnSpPr>
        <p:spPr>
          <a:xfrm flipV="1">
            <a:off x="5511480" y="425457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>
            <a:extLst>
              <a:ext uri="{FF2B5EF4-FFF2-40B4-BE49-F238E27FC236}">
                <a16:creationId xmlns:a16="http://schemas.microsoft.com/office/drawing/2014/main" id="{00287008-BDF7-7DE5-5898-311C166B2A8D}"/>
              </a:ext>
            </a:extLst>
          </p:cNvPr>
          <p:cNvCxnSpPr/>
          <p:nvPr/>
        </p:nvCxnSpPr>
        <p:spPr>
          <a:xfrm flipV="1">
            <a:off x="5575488" y="425457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>
            <a:extLst>
              <a:ext uri="{FF2B5EF4-FFF2-40B4-BE49-F238E27FC236}">
                <a16:creationId xmlns:a16="http://schemas.microsoft.com/office/drawing/2014/main" id="{944CDA4A-F45E-27A6-F066-C00765CF8671}"/>
              </a:ext>
            </a:extLst>
          </p:cNvPr>
          <p:cNvCxnSpPr/>
          <p:nvPr/>
        </p:nvCxnSpPr>
        <p:spPr>
          <a:xfrm flipV="1">
            <a:off x="5639496" y="4287884"/>
            <a:ext cx="259298" cy="25929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>
            <a:extLst>
              <a:ext uri="{FF2B5EF4-FFF2-40B4-BE49-F238E27FC236}">
                <a16:creationId xmlns:a16="http://schemas.microsoft.com/office/drawing/2014/main" id="{8D73E52A-F606-342E-AE55-2B15FC14A762}"/>
              </a:ext>
            </a:extLst>
          </p:cNvPr>
          <p:cNvCxnSpPr/>
          <p:nvPr/>
        </p:nvCxnSpPr>
        <p:spPr>
          <a:xfrm flipV="1">
            <a:off x="5703504" y="4351892"/>
            <a:ext cx="195290" cy="195289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>
            <a:extLst>
              <a:ext uri="{FF2B5EF4-FFF2-40B4-BE49-F238E27FC236}">
                <a16:creationId xmlns:a16="http://schemas.microsoft.com/office/drawing/2014/main" id="{2A795FC0-550E-DBB7-8FCA-590829E95873}"/>
              </a:ext>
            </a:extLst>
          </p:cNvPr>
          <p:cNvCxnSpPr/>
          <p:nvPr/>
        </p:nvCxnSpPr>
        <p:spPr>
          <a:xfrm flipV="1">
            <a:off x="5767512" y="4415900"/>
            <a:ext cx="131282" cy="131281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>
            <a:extLst>
              <a:ext uri="{FF2B5EF4-FFF2-40B4-BE49-F238E27FC236}">
                <a16:creationId xmlns:a16="http://schemas.microsoft.com/office/drawing/2014/main" id="{C2405CED-510E-B392-6E05-F22250E25091}"/>
              </a:ext>
            </a:extLst>
          </p:cNvPr>
          <p:cNvCxnSpPr/>
          <p:nvPr/>
        </p:nvCxnSpPr>
        <p:spPr>
          <a:xfrm flipV="1">
            <a:off x="5831520" y="4479908"/>
            <a:ext cx="67274" cy="67273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B9756FB-523D-B213-12C7-9E907C3CDE84}"/>
              </a:ext>
            </a:extLst>
          </p:cNvPr>
          <p:cNvSpPr/>
          <p:nvPr/>
        </p:nvSpPr>
        <p:spPr>
          <a:xfrm>
            <a:off x="5898794" y="4254574"/>
            <a:ext cx="596188" cy="292608"/>
          </a:xfrm>
          <a:prstGeom prst="rect">
            <a:avLst/>
          </a:prstGeom>
          <a:solidFill>
            <a:srgbClr val="DCD6EC"/>
          </a:solidFill>
          <a:ln w="9525">
            <a:solidFill>
              <a:srgbClr val="9D9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750" b="0">
                <a:solidFill>
                  <a:srgbClr val="1F2933"/>
                </a:solidFill>
                <a:latin typeface="PingFang SC"/>
                <a:ea typeface="PingFang SC"/>
              </a:rPr>
              <a:t>old/ref/adv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F397DFA6-EAB0-CAB0-6D9B-3EF76B9BE0A6}"/>
              </a:ext>
            </a:extLst>
          </p:cNvPr>
          <p:cNvSpPr/>
          <p:nvPr/>
        </p:nvSpPr>
        <p:spPr>
          <a:xfrm>
            <a:off x="6494983" y="4254574"/>
            <a:ext cx="777174" cy="292608"/>
          </a:xfrm>
          <a:prstGeom prst="rect">
            <a:avLst/>
          </a:prstGeom>
          <a:solidFill>
            <a:srgbClr val="5AA8E6"/>
          </a:solidFill>
          <a:ln w="9525">
            <a:solidFill>
              <a:srgbClr val="2F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PingFang SC"/>
                <a:ea typeface="PingFang SC"/>
              </a:rPr>
              <a:t>B1,W</a:t>
            </a:r>
            <a:r>
              <a:rPr sz="850" b="0" baseline="-25000">
                <a:solidFill>
                  <a:srgbClr val="FFFFFF"/>
                </a:solidFill>
                <a:latin typeface="PingFang SC"/>
                <a:ea typeface="PingFang SC"/>
              </a:rPr>
              <a:t>n+1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F7AACAA-87EB-F244-C10A-234BF08D884F}"/>
              </a:ext>
            </a:extLst>
          </p:cNvPr>
          <p:cNvSpPr/>
          <p:nvPr/>
        </p:nvSpPr>
        <p:spPr>
          <a:xfrm>
            <a:off x="7272157" y="4254574"/>
            <a:ext cx="777174" cy="292608"/>
          </a:xfrm>
          <a:prstGeom prst="rect">
            <a:avLst/>
          </a:prstGeom>
          <a:solidFill>
            <a:srgbClr val="5AA8E6"/>
          </a:solidFill>
          <a:ln w="9525">
            <a:solidFill>
              <a:srgbClr val="2F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PingFang SC"/>
                <a:ea typeface="PingFang SC"/>
              </a:rPr>
              <a:t>B2,W</a:t>
            </a:r>
            <a:r>
              <a:rPr sz="850" b="0" baseline="-25000">
                <a:solidFill>
                  <a:srgbClr val="FFFFFF"/>
                </a:solidFill>
                <a:latin typeface="PingFang SC"/>
                <a:ea typeface="PingFang SC"/>
              </a:rPr>
              <a:t>n+1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F1F4FCB-A874-E422-078C-0CDBBECAB6A2}"/>
              </a:ext>
            </a:extLst>
          </p:cNvPr>
          <p:cNvSpPr/>
          <p:nvPr/>
        </p:nvSpPr>
        <p:spPr>
          <a:xfrm>
            <a:off x="8134502" y="4254574"/>
            <a:ext cx="57489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5B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3" name="Connector 132">
            <a:extLst>
              <a:ext uri="{FF2B5EF4-FFF2-40B4-BE49-F238E27FC236}">
                <a16:creationId xmlns:a16="http://schemas.microsoft.com/office/drawing/2014/main" id="{621C5421-5E89-69EF-71CE-4C3EA587DEF4}"/>
              </a:ext>
            </a:extLst>
          </p:cNvPr>
          <p:cNvCxnSpPr/>
          <p:nvPr/>
        </p:nvCxnSpPr>
        <p:spPr>
          <a:xfrm flipV="1">
            <a:off x="8134502" y="4254574"/>
            <a:ext cx="32004" cy="32003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>
            <a:extLst>
              <a:ext uri="{FF2B5EF4-FFF2-40B4-BE49-F238E27FC236}">
                <a16:creationId xmlns:a16="http://schemas.microsoft.com/office/drawing/2014/main" id="{F744274E-0391-A768-8158-023D40E03971}"/>
              </a:ext>
            </a:extLst>
          </p:cNvPr>
          <p:cNvCxnSpPr/>
          <p:nvPr/>
        </p:nvCxnSpPr>
        <p:spPr>
          <a:xfrm flipV="1">
            <a:off x="8134502" y="4254574"/>
            <a:ext cx="96012" cy="96012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>
            <a:extLst>
              <a:ext uri="{FF2B5EF4-FFF2-40B4-BE49-F238E27FC236}">
                <a16:creationId xmlns:a16="http://schemas.microsoft.com/office/drawing/2014/main" id="{62FF293D-9508-23BB-CDEF-D587CA662B96}"/>
              </a:ext>
            </a:extLst>
          </p:cNvPr>
          <p:cNvCxnSpPr/>
          <p:nvPr/>
        </p:nvCxnSpPr>
        <p:spPr>
          <a:xfrm flipV="1">
            <a:off x="8134502" y="4254574"/>
            <a:ext cx="160020" cy="160019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>
            <a:extLst>
              <a:ext uri="{FF2B5EF4-FFF2-40B4-BE49-F238E27FC236}">
                <a16:creationId xmlns:a16="http://schemas.microsoft.com/office/drawing/2014/main" id="{28F73E62-636E-DDA4-DC9A-06E048C8E380}"/>
              </a:ext>
            </a:extLst>
          </p:cNvPr>
          <p:cNvCxnSpPr/>
          <p:nvPr/>
        </p:nvCxnSpPr>
        <p:spPr>
          <a:xfrm flipV="1">
            <a:off x="8134502" y="4254574"/>
            <a:ext cx="224028" cy="22402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>
            <a:extLst>
              <a:ext uri="{FF2B5EF4-FFF2-40B4-BE49-F238E27FC236}">
                <a16:creationId xmlns:a16="http://schemas.microsoft.com/office/drawing/2014/main" id="{B325B15F-38CE-D156-372A-7F74359E5FDB}"/>
              </a:ext>
            </a:extLst>
          </p:cNvPr>
          <p:cNvCxnSpPr/>
          <p:nvPr/>
        </p:nvCxnSpPr>
        <p:spPr>
          <a:xfrm flipV="1">
            <a:off x="8134502" y="4254574"/>
            <a:ext cx="288036" cy="288035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>
            <a:extLst>
              <a:ext uri="{FF2B5EF4-FFF2-40B4-BE49-F238E27FC236}">
                <a16:creationId xmlns:a16="http://schemas.microsoft.com/office/drawing/2014/main" id="{4FB79670-191F-4FE7-95D3-9540BEBCEA5E}"/>
              </a:ext>
            </a:extLst>
          </p:cNvPr>
          <p:cNvCxnSpPr/>
          <p:nvPr/>
        </p:nvCxnSpPr>
        <p:spPr>
          <a:xfrm flipV="1">
            <a:off x="8193938" y="425457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>
            <a:extLst>
              <a:ext uri="{FF2B5EF4-FFF2-40B4-BE49-F238E27FC236}">
                <a16:creationId xmlns:a16="http://schemas.microsoft.com/office/drawing/2014/main" id="{C7603643-5C7D-3310-424D-3D8211BDA8C2}"/>
              </a:ext>
            </a:extLst>
          </p:cNvPr>
          <p:cNvCxnSpPr/>
          <p:nvPr/>
        </p:nvCxnSpPr>
        <p:spPr>
          <a:xfrm flipV="1">
            <a:off x="8257946" y="425457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>
            <a:extLst>
              <a:ext uri="{FF2B5EF4-FFF2-40B4-BE49-F238E27FC236}">
                <a16:creationId xmlns:a16="http://schemas.microsoft.com/office/drawing/2014/main" id="{7E87768F-775E-0252-3CDF-F3ACF3603476}"/>
              </a:ext>
            </a:extLst>
          </p:cNvPr>
          <p:cNvCxnSpPr/>
          <p:nvPr/>
        </p:nvCxnSpPr>
        <p:spPr>
          <a:xfrm flipV="1">
            <a:off x="8321954" y="425457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>
            <a:extLst>
              <a:ext uri="{FF2B5EF4-FFF2-40B4-BE49-F238E27FC236}">
                <a16:creationId xmlns:a16="http://schemas.microsoft.com/office/drawing/2014/main" id="{D6C87CB5-E4D6-59CD-0F8F-4217723E5C01}"/>
              </a:ext>
            </a:extLst>
          </p:cNvPr>
          <p:cNvCxnSpPr/>
          <p:nvPr/>
        </p:nvCxnSpPr>
        <p:spPr>
          <a:xfrm flipV="1">
            <a:off x="8385962" y="425457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>
            <a:extLst>
              <a:ext uri="{FF2B5EF4-FFF2-40B4-BE49-F238E27FC236}">
                <a16:creationId xmlns:a16="http://schemas.microsoft.com/office/drawing/2014/main" id="{B2C184FF-880F-CC7E-4849-42644001365E}"/>
              </a:ext>
            </a:extLst>
          </p:cNvPr>
          <p:cNvCxnSpPr/>
          <p:nvPr/>
        </p:nvCxnSpPr>
        <p:spPr>
          <a:xfrm flipV="1">
            <a:off x="8449970" y="4287753"/>
            <a:ext cx="259428" cy="259428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>
            <a:extLst>
              <a:ext uri="{FF2B5EF4-FFF2-40B4-BE49-F238E27FC236}">
                <a16:creationId xmlns:a16="http://schemas.microsoft.com/office/drawing/2014/main" id="{397BF0D9-72B6-D3C6-EE15-C50338ED3606}"/>
              </a:ext>
            </a:extLst>
          </p:cNvPr>
          <p:cNvCxnSpPr/>
          <p:nvPr/>
        </p:nvCxnSpPr>
        <p:spPr>
          <a:xfrm flipV="1">
            <a:off x="8513978" y="4351761"/>
            <a:ext cx="195420" cy="195420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>
            <a:extLst>
              <a:ext uri="{FF2B5EF4-FFF2-40B4-BE49-F238E27FC236}">
                <a16:creationId xmlns:a16="http://schemas.microsoft.com/office/drawing/2014/main" id="{84CAAB8C-736A-5053-E543-ECBF0AEA955C}"/>
              </a:ext>
            </a:extLst>
          </p:cNvPr>
          <p:cNvCxnSpPr/>
          <p:nvPr/>
        </p:nvCxnSpPr>
        <p:spPr>
          <a:xfrm flipV="1">
            <a:off x="8577986" y="4415769"/>
            <a:ext cx="131412" cy="131412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>
            <a:extLst>
              <a:ext uri="{FF2B5EF4-FFF2-40B4-BE49-F238E27FC236}">
                <a16:creationId xmlns:a16="http://schemas.microsoft.com/office/drawing/2014/main" id="{CDDF977C-0C54-7450-B078-33EFBE025A24}"/>
              </a:ext>
            </a:extLst>
          </p:cNvPr>
          <p:cNvCxnSpPr/>
          <p:nvPr/>
        </p:nvCxnSpPr>
        <p:spPr>
          <a:xfrm flipV="1">
            <a:off x="8641994" y="4479777"/>
            <a:ext cx="67404" cy="67404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2C7F686B-05E9-8F90-35B3-B2675E2B6CB4}"/>
              </a:ext>
            </a:extLst>
          </p:cNvPr>
          <p:cNvSpPr/>
          <p:nvPr/>
        </p:nvSpPr>
        <p:spPr>
          <a:xfrm>
            <a:off x="8709398" y="4254574"/>
            <a:ext cx="596188" cy="292608"/>
          </a:xfrm>
          <a:prstGeom prst="rect">
            <a:avLst/>
          </a:prstGeom>
          <a:solidFill>
            <a:srgbClr val="DCD6EC"/>
          </a:solidFill>
          <a:ln w="9525">
            <a:solidFill>
              <a:srgbClr val="9D9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750" b="0">
                <a:solidFill>
                  <a:srgbClr val="1F2933"/>
                </a:solidFill>
                <a:latin typeface="PingFang SC"/>
                <a:ea typeface="PingFang SC"/>
              </a:rPr>
              <a:t>old/ref/adv</a:t>
            </a:r>
          </a:p>
        </p:txBody>
      </p:sp>
      <p:cxnSp>
        <p:nvCxnSpPr>
          <p:cNvPr id="147" name="Connector 146">
            <a:extLst>
              <a:ext uri="{FF2B5EF4-FFF2-40B4-BE49-F238E27FC236}">
                <a16:creationId xmlns:a16="http://schemas.microsoft.com/office/drawing/2014/main" id="{04E57928-B797-E82F-BA21-F9CC2CEAED01}"/>
              </a:ext>
            </a:extLst>
          </p:cNvPr>
          <p:cNvCxnSpPr/>
          <p:nvPr/>
        </p:nvCxnSpPr>
        <p:spPr>
          <a:xfrm flipV="1">
            <a:off x="3279822" y="4144845"/>
            <a:ext cx="0" cy="73153"/>
          </a:xfrm>
          <a:prstGeom prst="line">
            <a:avLst/>
          </a:prstGeom>
          <a:ln w="9525">
            <a:solidFill>
              <a:srgbClr val="6B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>
            <a:extLst>
              <a:ext uri="{FF2B5EF4-FFF2-40B4-BE49-F238E27FC236}">
                <a16:creationId xmlns:a16="http://schemas.microsoft.com/office/drawing/2014/main" id="{32BB8F73-B2E1-5C06-6359-0CC23C547161}"/>
              </a:ext>
            </a:extLst>
          </p:cNvPr>
          <p:cNvCxnSpPr/>
          <p:nvPr/>
        </p:nvCxnSpPr>
        <p:spPr>
          <a:xfrm>
            <a:off x="3279822" y="4144845"/>
            <a:ext cx="1895028" cy="0"/>
          </a:xfrm>
          <a:prstGeom prst="line">
            <a:avLst/>
          </a:prstGeom>
          <a:ln w="9525">
            <a:solidFill>
              <a:srgbClr val="6B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>
            <a:extLst>
              <a:ext uri="{FF2B5EF4-FFF2-40B4-BE49-F238E27FC236}">
                <a16:creationId xmlns:a16="http://schemas.microsoft.com/office/drawing/2014/main" id="{2D80148A-AADE-4185-A9EE-310AB5DC6D41}"/>
              </a:ext>
            </a:extLst>
          </p:cNvPr>
          <p:cNvCxnSpPr/>
          <p:nvPr/>
        </p:nvCxnSpPr>
        <p:spPr>
          <a:xfrm>
            <a:off x="5174850" y="4144845"/>
            <a:ext cx="0" cy="73153"/>
          </a:xfrm>
          <a:prstGeom prst="line">
            <a:avLst/>
          </a:prstGeom>
          <a:ln w="9525">
            <a:solidFill>
              <a:srgbClr val="6B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7EBC8288-ACCA-FA00-A6DB-8180D8BD8D1A}"/>
              </a:ext>
            </a:extLst>
          </p:cNvPr>
          <p:cNvSpPr txBox="1"/>
          <p:nvPr/>
        </p:nvSpPr>
        <p:spPr>
          <a:xfrm>
            <a:off x="3678696" y="3961965"/>
            <a:ext cx="1097280" cy="173736"/>
          </a:xfrm>
          <a:prstGeom prst="rect">
            <a:avLst/>
          </a:prstGeom>
          <a:noFill/>
        </p:spPr>
        <p:txBody>
          <a:bodyPr wrap="square" lIns="18288" tIns="9144" rIns="18288" bIns="9144" anchor="b">
            <a:spAutoFit/>
          </a:bodyPr>
          <a:lstStyle/>
          <a:p>
            <a:pPr algn="ctr"/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一次取齐</a:t>
            </a:r>
          </a:p>
        </p:txBody>
      </p:sp>
      <p:cxnSp>
        <p:nvCxnSpPr>
          <p:cNvPr id="151" name="Connector 150">
            <a:extLst>
              <a:ext uri="{FF2B5EF4-FFF2-40B4-BE49-F238E27FC236}">
                <a16:creationId xmlns:a16="http://schemas.microsoft.com/office/drawing/2014/main" id="{3075D052-9C8E-A71A-7ED5-CF36DA4F24F1}"/>
              </a:ext>
            </a:extLst>
          </p:cNvPr>
          <p:cNvCxnSpPr/>
          <p:nvPr/>
        </p:nvCxnSpPr>
        <p:spPr>
          <a:xfrm flipV="1">
            <a:off x="5898794" y="4144845"/>
            <a:ext cx="0" cy="73153"/>
          </a:xfrm>
          <a:prstGeom prst="line">
            <a:avLst/>
          </a:prstGeom>
          <a:ln w="9525">
            <a:solidFill>
              <a:srgbClr val="6B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>
            <a:extLst>
              <a:ext uri="{FF2B5EF4-FFF2-40B4-BE49-F238E27FC236}">
                <a16:creationId xmlns:a16="http://schemas.microsoft.com/office/drawing/2014/main" id="{694768D9-4508-1129-CA2A-767D7D66BAAE}"/>
              </a:ext>
            </a:extLst>
          </p:cNvPr>
          <p:cNvCxnSpPr/>
          <p:nvPr/>
        </p:nvCxnSpPr>
        <p:spPr>
          <a:xfrm>
            <a:off x="5898794" y="4144845"/>
            <a:ext cx="2150538" cy="0"/>
          </a:xfrm>
          <a:prstGeom prst="line">
            <a:avLst/>
          </a:prstGeom>
          <a:ln w="9525">
            <a:solidFill>
              <a:srgbClr val="6B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>
            <a:extLst>
              <a:ext uri="{FF2B5EF4-FFF2-40B4-BE49-F238E27FC236}">
                <a16:creationId xmlns:a16="http://schemas.microsoft.com/office/drawing/2014/main" id="{E5275E79-1F18-CF29-09EC-142BAA507720}"/>
              </a:ext>
            </a:extLst>
          </p:cNvPr>
          <p:cNvCxnSpPr/>
          <p:nvPr/>
        </p:nvCxnSpPr>
        <p:spPr>
          <a:xfrm>
            <a:off x="8049332" y="4144845"/>
            <a:ext cx="0" cy="73153"/>
          </a:xfrm>
          <a:prstGeom prst="line">
            <a:avLst/>
          </a:prstGeom>
          <a:ln w="9525">
            <a:solidFill>
              <a:srgbClr val="6B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BFD798FD-6813-AAE1-894D-7BA6A39320BF}"/>
              </a:ext>
            </a:extLst>
          </p:cNvPr>
          <p:cNvSpPr txBox="1"/>
          <p:nvPr/>
        </p:nvSpPr>
        <p:spPr>
          <a:xfrm>
            <a:off x="6425423" y="3961965"/>
            <a:ext cx="1097280" cy="173736"/>
          </a:xfrm>
          <a:prstGeom prst="rect">
            <a:avLst/>
          </a:prstGeom>
          <a:noFill/>
        </p:spPr>
        <p:txBody>
          <a:bodyPr wrap="square" lIns="18288" tIns="9144" rIns="18288" bIns="9144" anchor="b">
            <a:spAutoFit/>
          </a:bodyPr>
          <a:lstStyle/>
          <a:p>
            <a:pPr algn="ctr"/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一次取齐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64578353-7576-C7F3-E141-4DF7CA9356B5}"/>
              </a:ext>
            </a:extLst>
          </p:cNvPr>
          <p:cNvSpPr/>
          <p:nvPr/>
        </p:nvSpPr>
        <p:spPr>
          <a:xfrm>
            <a:off x="2406831" y="3010990"/>
            <a:ext cx="85169" cy="402335"/>
          </a:xfrm>
          <a:prstGeom prst="rect">
            <a:avLst/>
          </a:prstGeom>
          <a:solidFill>
            <a:srgbClr val="F6E6A0"/>
          </a:solidFill>
          <a:ln w="9525">
            <a:solidFill>
              <a:srgbClr val="CD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52783D87-AC43-0338-B886-36376ADC2204}"/>
              </a:ext>
            </a:extLst>
          </p:cNvPr>
          <p:cNvSpPr/>
          <p:nvPr/>
        </p:nvSpPr>
        <p:spPr>
          <a:xfrm>
            <a:off x="2406831" y="3532198"/>
            <a:ext cx="85169" cy="402335"/>
          </a:xfrm>
          <a:prstGeom prst="rect">
            <a:avLst/>
          </a:prstGeom>
          <a:solidFill>
            <a:srgbClr val="F6E6A0"/>
          </a:solidFill>
          <a:ln w="9525">
            <a:solidFill>
              <a:srgbClr val="CD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DEF36CEC-AF14-C5D9-C824-C18617F56EB1}"/>
              </a:ext>
            </a:extLst>
          </p:cNvPr>
          <p:cNvSpPr/>
          <p:nvPr/>
        </p:nvSpPr>
        <p:spPr>
          <a:xfrm>
            <a:off x="2406831" y="4254574"/>
            <a:ext cx="85169" cy="292607"/>
          </a:xfrm>
          <a:prstGeom prst="rect">
            <a:avLst/>
          </a:prstGeom>
          <a:solidFill>
            <a:srgbClr val="F6E6A0"/>
          </a:solidFill>
          <a:ln w="9525">
            <a:solidFill>
              <a:srgbClr val="CD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4F23F1E-6031-0E4C-6E97-660E65D2B757}"/>
              </a:ext>
            </a:extLst>
          </p:cNvPr>
          <p:cNvSpPr txBox="1"/>
          <p:nvPr/>
        </p:nvSpPr>
        <p:spPr>
          <a:xfrm>
            <a:off x="2132511" y="2791534"/>
            <a:ext cx="6400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0">
                <a:solidFill>
                  <a:srgbClr val="6B7A8A"/>
                </a:solidFill>
                <a:latin typeface="PingFang SC"/>
                <a:ea typeface="PingFang SC"/>
              </a:rPr>
              <a:t>W</a:t>
            </a:r>
            <a:r>
              <a:rPr sz="850" b="0" baseline="-25000">
                <a:solidFill>
                  <a:srgbClr val="6B7A8A"/>
                </a:solidFill>
                <a:latin typeface="PingFang SC"/>
                <a:ea typeface="PingFang SC"/>
              </a:rPr>
              <a:t>n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D70ABDC1-E052-C374-CD54-61C825096D5E}"/>
              </a:ext>
            </a:extLst>
          </p:cNvPr>
          <p:cNvSpPr/>
          <p:nvPr/>
        </p:nvSpPr>
        <p:spPr>
          <a:xfrm>
            <a:off x="5174850" y="3010990"/>
            <a:ext cx="85169" cy="402335"/>
          </a:xfrm>
          <a:prstGeom prst="rect">
            <a:avLst/>
          </a:prstGeom>
          <a:solidFill>
            <a:srgbClr val="F6E6A0"/>
          </a:solidFill>
          <a:ln w="9525">
            <a:solidFill>
              <a:srgbClr val="CD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8D457334-B367-A3B4-5F42-E0592C0E6E76}"/>
              </a:ext>
            </a:extLst>
          </p:cNvPr>
          <p:cNvSpPr/>
          <p:nvPr/>
        </p:nvSpPr>
        <p:spPr>
          <a:xfrm>
            <a:off x="5174850" y="3532198"/>
            <a:ext cx="85169" cy="402335"/>
          </a:xfrm>
          <a:prstGeom prst="rect">
            <a:avLst/>
          </a:prstGeom>
          <a:solidFill>
            <a:srgbClr val="F6E6A0"/>
          </a:solidFill>
          <a:ln w="9525">
            <a:solidFill>
              <a:srgbClr val="CD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C0A76AA-2033-58F8-F926-09E794CCB51F}"/>
              </a:ext>
            </a:extLst>
          </p:cNvPr>
          <p:cNvSpPr/>
          <p:nvPr/>
        </p:nvSpPr>
        <p:spPr>
          <a:xfrm>
            <a:off x="5174850" y="4254574"/>
            <a:ext cx="85169" cy="292607"/>
          </a:xfrm>
          <a:prstGeom prst="rect">
            <a:avLst/>
          </a:prstGeom>
          <a:solidFill>
            <a:srgbClr val="F6E6A0"/>
          </a:solidFill>
          <a:ln w="9525">
            <a:solidFill>
              <a:srgbClr val="CD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E5619A7-401D-E4AB-2820-FD6542B82FAF}"/>
              </a:ext>
            </a:extLst>
          </p:cNvPr>
          <p:cNvSpPr txBox="1"/>
          <p:nvPr/>
        </p:nvSpPr>
        <p:spPr>
          <a:xfrm>
            <a:off x="4900530" y="2791534"/>
            <a:ext cx="6400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0">
                <a:solidFill>
                  <a:srgbClr val="6B7A8A"/>
                </a:solidFill>
                <a:latin typeface="PingFang SC"/>
                <a:ea typeface="PingFang SC"/>
              </a:rPr>
              <a:t>W</a:t>
            </a:r>
            <a:r>
              <a:rPr sz="850" b="0" baseline="-25000">
                <a:solidFill>
                  <a:srgbClr val="6B7A8A"/>
                </a:solidFill>
                <a:latin typeface="PingFang SC"/>
                <a:ea typeface="PingFang SC"/>
              </a:rPr>
              <a:t>n+1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FCABC547-B89D-7482-4032-87E57E05A6E7}"/>
              </a:ext>
            </a:extLst>
          </p:cNvPr>
          <p:cNvSpPr/>
          <p:nvPr/>
        </p:nvSpPr>
        <p:spPr>
          <a:xfrm>
            <a:off x="8049332" y="3010990"/>
            <a:ext cx="85169" cy="402335"/>
          </a:xfrm>
          <a:prstGeom prst="rect">
            <a:avLst/>
          </a:prstGeom>
          <a:solidFill>
            <a:srgbClr val="F6E6A0"/>
          </a:solidFill>
          <a:ln w="9525">
            <a:solidFill>
              <a:srgbClr val="CD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458E9298-58AC-3FEE-98C9-21310801F2B8}"/>
              </a:ext>
            </a:extLst>
          </p:cNvPr>
          <p:cNvSpPr/>
          <p:nvPr/>
        </p:nvSpPr>
        <p:spPr>
          <a:xfrm>
            <a:off x="8049332" y="3532198"/>
            <a:ext cx="85169" cy="402335"/>
          </a:xfrm>
          <a:prstGeom prst="rect">
            <a:avLst/>
          </a:prstGeom>
          <a:solidFill>
            <a:srgbClr val="F6E6A0"/>
          </a:solidFill>
          <a:ln w="9525">
            <a:solidFill>
              <a:srgbClr val="CD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726FAFBE-6A69-5488-87FC-C10CE6CA9303}"/>
              </a:ext>
            </a:extLst>
          </p:cNvPr>
          <p:cNvSpPr/>
          <p:nvPr/>
        </p:nvSpPr>
        <p:spPr>
          <a:xfrm>
            <a:off x="8049332" y="4254574"/>
            <a:ext cx="85169" cy="292607"/>
          </a:xfrm>
          <a:prstGeom prst="rect">
            <a:avLst/>
          </a:prstGeom>
          <a:solidFill>
            <a:srgbClr val="F6E6A0"/>
          </a:solidFill>
          <a:ln w="9525">
            <a:solidFill>
              <a:srgbClr val="CD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5AAA7899-0F93-6269-7494-BC8D5BDB88B5}"/>
              </a:ext>
            </a:extLst>
          </p:cNvPr>
          <p:cNvSpPr txBox="1"/>
          <p:nvPr/>
        </p:nvSpPr>
        <p:spPr>
          <a:xfrm>
            <a:off x="7775012" y="2791534"/>
            <a:ext cx="6400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0">
                <a:solidFill>
                  <a:srgbClr val="6B7A8A"/>
                </a:solidFill>
                <a:latin typeface="PingFang SC"/>
                <a:ea typeface="PingFang SC"/>
              </a:rPr>
              <a:t>W</a:t>
            </a:r>
            <a:r>
              <a:rPr sz="850" b="0" baseline="-25000">
                <a:solidFill>
                  <a:srgbClr val="6B7A8A"/>
                </a:solidFill>
                <a:latin typeface="PingFang SC"/>
                <a:ea typeface="PingFang SC"/>
              </a:rPr>
              <a:t>n+2</a:t>
            </a:r>
          </a:p>
        </p:txBody>
      </p:sp>
      <p:cxnSp>
        <p:nvCxnSpPr>
          <p:cNvPr id="167" name="Connector 166">
            <a:extLst>
              <a:ext uri="{FF2B5EF4-FFF2-40B4-BE49-F238E27FC236}">
                <a16:creationId xmlns:a16="http://schemas.microsoft.com/office/drawing/2014/main" id="{50D07839-5B2B-790F-B8AD-272E03CF5027}"/>
              </a:ext>
            </a:extLst>
          </p:cNvPr>
          <p:cNvCxnSpPr/>
          <p:nvPr/>
        </p:nvCxnSpPr>
        <p:spPr>
          <a:xfrm>
            <a:off x="5100327" y="3317314"/>
            <a:ext cx="330033" cy="0"/>
          </a:xfrm>
          <a:prstGeom prst="line">
            <a:avLst/>
          </a:prstGeom>
          <a:ln w="15875">
            <a:solidFill>
              <a:srgbClr val="D953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>
            <a:extLst>
              <a:ext uri="{FF2B5EF4-FFF2-40B4-BE49-F238E27FC236}">
                <a16:creationId xmlns:a16="http://schemas.microsoft.com/office/drawing/2014/main" id="{89F190C1-FD07-FD23-CF24-0E9DA8E7BCF0}"/>
              </a:ext>
            </a:extLst>
          </p:cNvPr>
          <p:cNvCxnSpPr/>
          <p:nvPr/>
        </p:nvCxnSpPr>
        <p:spPr>
          <a:xfrm>
            <a:off x="5100327" y="3628210"/>
            <a:ext cx="330033" cy="0"/>
          </a:xfrm>
          <a:prstGeom prst="line">
            <a:avLst/>
          </a:prstGeom>
          <a:ln w="15875">
            <a:solidFill>
              <a:srgbClr val="D953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>
            <a:extLst>
              <a:ext uri="{FF2B5EF4-FFF2-40B4-BE49-F238E27FC236}">
                <a16:creationId xmlns:a16="http://schemas.microsoft.com/office/drawing/2014/main" id="{2DACE2CA-2069-507B-6D86-C36DBDABF6F3}"/>
              </a:ext>
            </a:extLst>
          </p:cNvPr>
          <p:cNvCxnSpPr/>
          <p:nvPr/>
        </p:nvCxnSpPr>
        <p:spPr>
          <a:xfrm>
            <a:off x="5100327" y="3838522"/>
            <a:ext cx="330033" cy="0"/>
          </a:xfrm>
          <a:prstGeom prst="line">
            <a:avLst/>
          </a:prstGeom>
          <a:ln w="15875">
            <a:solidFill>
              <a:srgbClr val="D953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>
            <a:extLst>
              <a:ext uri="{FF2B5EF4-FFF2-40B4-BE49-F238E27FC236}">
                <a16:creationId xmlns:a16="http://schemas.microsoft.com/office/drawing/2014/main" id="{3DDE89CB-174D-82AC-AD8E-F73B04FD81F5}"/>
              </a:ext>
            </a:extLst>
          </p:cNvPr>
          <p:cNvCxnSpPr/>
          <p:nvPr/>
        </p:nvCxnSpPr>
        <p:spPr>
          <a:xfrm>
            <a:off x="7974808" y="3107002"/>
            <a:ext cx="330034" cy="0"/>
          </a:xfrm>
          <a:prstGeom prst="line">
            <a:avLst/>
          </a:prstGeom>
          <a:ln w="15875">
            <a:solidFill>
              <a:srgbClr val="D953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>
            <a:extLst>
              <a:ext uri="{FF2B5EF4-FFF2-40B4-BE49-F238E27FC236}">
                <a16:creationId xmlns:a16="http://schemas.microsoft.com/office/drawing/2014/main" id="{ECDE1A9F-E8E3-2F19-F79E-F30DA32C36F8}"/>
              </a:ext>
            </a:extLst>
          </p:cNvPr>
          <p:cNvCxnSpPr/>
          <p:nvPr/>
        </p:nvCxnSpPr>
        <p:spPr>
          <a:xfrm>
            <a:off x="7974808" y="3628210"/>
            <a:ext cx="330034" cy="0"/>
          </a:xfrm>
          <a:prstGeom prst="line">
            <a:avLst/>
          </a:prstGeom>
          <a:ln w="15875">
            <a:solidFill>
              <a:srgbClr val="D953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>
            <a:extLst>
              <a:ext uri="{FF2B5EF4-FFF2-40B4-BE49-F238E27FC236}">
                <a16:creationId xmlns:a16="http://schemas.microsoft.com/office/drawing/2014/main" id="{569B3857-8C5C-2E69-72D3-4F46AA1C6E4B}"/>
              </a:ext>
            </a:extLst>
          </p:cNvPr>
          <p:cNvCxnSpPr/>
          <p:nvPr/>
        </p:nvCxnSpPr>
        <p:spPr>
          <a:xfrm>
            <a:off x="7974808" y="3838522"/>
            <a:ext cx="330034" cy="0"/>
          </a:xfrm>
          <a:prstGeom prst="line">
            <a:avLst/>
          </a:prstGeom>
          <a:ln w="15875">
            <a:solidFill>
              <a:srgbClr val="D953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0B387714-706D-7607-7188-34A8B6AD2BEC}"/>
              </a:ext>
            </a:extLst>
          </p:cNvPr>
          <p:cNvSpPr txBox="1"/>
          <p:nvPr/>
        </p:nvSpPr>
        <p:spPr>
          <a:xfrm>
            <a:off x="2513293" y="4583757"/>
            <a:ext cx="2640264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B1/B2,W</a:t>
            </a:r>
            <a:r>
              <a:rPr sz="800" b="0" baseline="-25000">
                <a:solidFill>
                  <a:srgbClr val="6B7A8A"/>
                </a:solidFill>
                <a:latin typeface="PingFang SC"/>
                <a:ea typeface="PingFang SC"/>
              </a:rPr>
              <a:t>n</a:t>
            </a:r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：上一批的组</a:t>
            </a:r>
          </a:p>
          <a:p>
            <a:pPr algn="ctr"/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（W</a:t>
            </a:r>
            <a:r>
              <a:rPr sz="800" b="0" baseline="-25000">
                <a:solidFill>
                  <a:srgbClr val="6B7A8A"/>
                </a:solidFill>
                <a:latin typeface="PingFang SC"/>
                <a:ea typeface="PingFang SC"/>
              </a:rPr>
              <a:t>n-1</a:t>
            </a:r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 生成，部分续跑到 W</a:t>
            </a:r>
            <a:r>
              <a:rPr sz="800" b="0" baseline="-25000">
                <a:solidFill>
                  <a:srgbClr val="6B7A8A"/>
                </a:solidFill>
                <a:latin typeface="PingFang SC"/>
                <a:ea typeface="PingFang SC"/>
              </a:rPr>
              <a:t>n</a:t>
            </a:r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）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1F1FFC83-FB46-2111-A9C0-215EF94BC053}"/>
              </a:ext>
            </a:extLst>
          </p:cNvPr>
          <p:cNvSpPr txBox="1"/>
          <p:nvPr/>
        </p:nvSpPr>
        <p:spPr>
          <a:xfrm>
            <a:off x="5281313" y="4583757"/>
            <a:ext cx="2746726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B1/B2,W</a:t>
            </a:r>
            <a:r>
              <a:rPr sz="800" b="0" baseline="-25000">
                <a:solidFill>
                  <a:srgbClr val="6B7A8A"/>
                </a:solidFill>
                <a:latin typeface="PingFang SC"/>
                <a:ea typeface="PingFang SC"/>
              </a:rPr>
              <a:t>n+1</a:t>
            </a:r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：(1,2,4,5,6) 来自 W</a:t>
            </a:r>
            <a:r>
              <a:rPr sz="800" b="0" baseline="-25000">
                <a:solidFill>
                  <a:srgbClr val="6B7A8A"/>
                </a:solidFill>
                <a:latin typeface="PingFang SC"/>
                <a:ea typeface="PingFang SC"/>
              </a:rPr>
              <a:t>n</a:t>
            </a:r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，(7,8) 跨 W</a:t>
            </a:r>
            <a:r>
              <a:rPr sz="800" b="0" baseline="-25000">
                <a:solidFill>
                  <a:srgbClr val="6B7A8A"/>
                </a:solidFill>
                <a:latin typeface="PingFang SC"/>
                <a:ea typeface="PingFang SC"/>
              </a:rPr>
              <a:t>n</a:t>
            </a:r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、W</a:t>
            </a:r>
            <a:r>
              <a:rPr sz="800" b="0" baseline="-25000">
                <a:solidFill>
                  <a:srgbClr val="6B7A8A"/>
                </a:solidFill>
                <a:latin typeface="PingFang SC"/>
                <a:ea typeface="PingFang SC"/>
              </a:rPr>
              <a:t>n+1</a:t>
            </a:r>
          </a:p>
          <a:p>
            <a:pPr algn="ctr"/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(9) 来自 W</a:t>
            </a:r>
            <a:r>
              <a:rPr sz="800" b="0" baseline="-25000">
                <a:solidFill>
                  <a:srgbClr val="6B7A8A"/>
                </a:solidFill>
                <a:latin typeface="PingFang SC"/>
                <a:ea typeface="PingFang SC"/>
              </a:rPr>
              <a:t>n+1</a:t>
            </a:r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；长尾组 3 没完成，不等它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302BEEA6-4094-0DB9-6CC4-C9498BA6D414}"/>
              </a:ext>
            </a:extLst>
          </p:cNvPr>
          <p:cNvSpPr txBox="1"/>
          <p:nvPr/>
        </p:nvSpPr>
        <p:spPr>
          <a:xfrm>
            <a:off x="8155794" y="4583757"/>
            <a:ext cx="1171085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取最旧的 3，</a:t>
            </a:r>
          </a:p>
          <a:p>
            <a:pPr algn="ctr"/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再取 10–16</a:t>
            </a: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ACF2EF38-4F6A-D168-2BD4-210080DF3E19}"/>
              </a:ext>
            </a:extLst>
          </p:cNvPr>
          <p:cNvSpPr/>
          <p:nvPr/>
        </p:nvSpPr>
        <p:spPr>
          <a:xfrm>
            <a:off x="5450607" y="2796106"/>
            <a:ext cx="192024" cy="192024"/>
          </a:xfrm>
          <a:prstGeom prst="ellipse">
            <a:avLst/>
          </a:prstGeom>
          <a:solidFill>
            <a:srgbClr val="C0504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9A24026F-7A3B-F7EA-3612-DC395C1C8D69}"/>
              </a:ext>
            </a:extLst>
          </p:cNvPr>
          <p:cNvSpPr/>
          <p:nvPr/>
        </p:nvSpPr>
        <p:spPr>
          <a:xfrm>
            <a:off x="5217239" y="3893386"/>
            <a:ext cx="192024" cy="192024"/>
          </a:xfrm>
          <a:prstGeom prst="ellipse">
            <a:avLst/>
          </a:prstGeom>
          <a:solidFill>
            <a:srgbClr val="C0504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F061135E-0B06-13B7-E7F3-B237DB5A1B46}"/>
              </a:ext>
            </a:extLst>
          </p:cNvPr>
          <p:cNvSpPr/>
          <p:nvPr/>
        </p:nvSpPr>
        <p:spPr>
          <a:xfrm>
            <a:off x="7314546" y="3532198"/>
            <a:ext cx="192024" cy="192024"/>
          </a:xfrm>
          <a:prstGeom prst="ellipse">
            <a:avLst/>
          </a:prstGeom>
          <a:solidFill>
            <a:srgbClr val="C0504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A74F81F8-5785-C426-A805-8ABF67ED65F2}"/>
              </a:ext>
            </a:extLst>
          </p:cNvPr>
          <p:cNvSpPr/>
          <p:nvPr/>
        </p:nvSpPr>
        <p:spPr>
          <a:xfrm>
            <a:off x="5483395" y="4304866"/>
            <a:ext cx="192024" cy="192024"/>
          </a:xfrm>
          <a:prstGeom prst="ellipse">
            <a:avLst/>
          </a:prstGeom>
          <a:solidFill>
            <a:srgbClr val="C0504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AE95CF24-777E-4E2E-AC12-362403B70B2A}"/>
              </a:ext>
            </a:extLst>
          </p:cNvPr>
          <p:cNvSpPr/>
          <p:nvPr/>
        </p:nvSpPr>
        <p:spPr>
          <a:xfrm>
            <a:off x="7772334" y="3221302"/>
            <a:ext cx="192024" cy="192024"/>
          </a:xfrm>
          <a:prstGeom prst="ellipse">
            <a:avLst/>
          </a:prstGeom>
          <a:solidFill>
            <a:srgbClr val="C0504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3BD7A02A-10E0-D50F-E7E0-6997FEBE3B2F}"/>
              </a:ext>
            </a:extLst>
          </p:cNvPr>
          <p:cNvSpPr/>
          <p:nvPr/>
        </p:nvSpPr>
        <p:spPr>
          <a:xfrm>
            <a:off x="9523476" y="2850970"/>
            <a:ext cx="192024" cy="192024"/>
          </a:xfrm>
          <a:prstGeom prst="ellipse">
            <a:avLst/>
          </a:prstGeom>
          <a:solidFill>
            <a:srgbClr val="C0504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068D5D0-4654-78E7-6F78-B277EF96EE72}"/>
              </a:ext>
            </a:extLst>
          </p:cNvPr>
          <p:cNvSpPr txBox="1"/>
          <p:nvPr/>
        </p:nvSpPr>
        <p:spPr>
          <a:xfrm>
            <a:off x="9784080" y="2828110"/>
            <a:ext cx="2011680" cy="42062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每步训练完全局同步权重：所有推理副本一起暂停，中止在飞请求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DE9FF20F-8F6E-773A-743D-05FF81CC275B}"/>
              </a:ext>
            </a:extLst>
          </p:cNvPr>
          <p:cNvSpPr/>
          <p:nvPr/>
        </p:nvSpPr>
        <p:spPr>
          <a:xfrm>
            <a:off x="9523476" y="3280737"/>
            <a:ext cx="192024" cy="192024"/>
          </a:xfrm>
          <a:prstGeom prst="ellipse">
            <a:avLst/>
          </a:prstGeom>
          <a:solidFill>
            <a:srgbClr val="C0504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2042F5-5D1B-F8F9-1CC5-D67601D71B21}"/>
              </a:ext>
            </a:extLst>
          </p:cNvPr>
          <p:cNvSpPr txBox="1"/>
          <p:nvPr/>
        </p:nvSpPr>
        <p:spPr>
          <a:xfrm>
            <a:off x="9784080" y="3257878"/>
            <a:ext cx="2011680" cy="42062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被中止的请求由 proxy 续跑，每次同步后都要 re-prefill</a:t>
            </a: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FBAEA9FF-284C-BBFE-6499-25AAECB9A5FF}"/>
              </a:ext>
            </a:extLst>
          </p:cNvPr>
          <p:cNvSpPr/>
          <p:nvPr/>
        </p:nvSpPr>
        <p:spPr>
          <a:xfrm>
            <a:off x="9523476" y="3710505"/>
            <a:ext cx="192024" cy="192024"/>
          </a:xfrm>
          <a:prstGeom prst="ellipse">
            <a:avLst/>
          </a:prstGeom>
          <a:solidFill>
            <a:srgbClr val="C0504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3592A99C-BA77-F25A-6B49-93AF8461D4FC}"/>
              </a:ext>
            </a:extLst>
          </p:cNvPr>
          <p:cNvSpPr txBox="1"/>
          <p:nvPr/>
        </p:nvSpPr>
        <p:spPr>
          <a:xfrm>
            <a:off x="9784080" y="3687645"/>
            <a:ext cx="2011680" cy="42062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长尾组跨同步继续跑；训练先取已完成的组，旧的优先</a:t>
            </a:r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9CB6714A-9662-7B01-5182-6907312722E5}"/>
              </a:ext>
            </a:extLst>
          </p:cNvPr>
          <p:cNvSpPr/>
          <p:nvPr/>
        </p:nvSpPr>
        <p:spPr>
          <a:xfrm>
            <a:off x="9523476" y="4140274"/>
            <a:ext cx="192024" cy="192024"/>
          </a:xfrm>
          <a:prstGeom prst="ellipse">
            <a:avLst/>
          </a:prstGeom>
          <a:solidFill>
            <a:srgbClr val="C0504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A6C6377A-8012-6141-7A13-4C326B5CF05C}"/>
              </a:ext>
            </a:extLst>
          </p:cNvPr>
          <p:cNvSpPr txBox="1"/>
          <p:nvPr/>
        </p:nvSpPr>
        <p:spPr>
          <a:xfrm>
            <a:off x="9784080" y="4117414"/>
            <a:ext cx="2011680" cy="42062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训练端要等够一批完成的组（实测约占每步 1/3）</a:t>
            </a:r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92FCB72E-9CE5-8505-71E8-A6D1BC98F528}"/>
              </a:ext>
            </a:extLst>
          </p:cNvPr>
          <p:cNvSpPr/>
          <p:nvPr/>
        </p:nvSpPr>
        <p:spPr>
          <a:xfrm>
            <a:off x="9523476" y="4570042"/>
            <a:ext cx="192024" cy="192024"/>
          </a:xfrm>
          <a:prstGeom prst="ellipse">
            <a:avLst/>
          </a:prstGeom>
          <a:solidFill>
            <a:srgbClr val="C0504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6F9B6B77-5237-B829-7E5C-816F2469F7AA}"/>
              </a:ext>
            </a:extLst>
          </p:cNvPr>
          <p:cNvSpPr txBox="1"/>
          <p:nvPr/>
        </p:nvSpPr>
        <p:spPr>
          <a:xfrm>
            <a:off x="9784080" y="4547182"/>
            <a:ext cx="2011680" cy="42062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同步后才提交下一批 prompt，批尾推理会空等</a:t>
            </a:r>
          </a:p>
        </p:txBody>
      </p:sp>
    </p:spTree>
    <p:extLst>
      <p:ext uri="{BB962C8B-B14F-4D97-AF65-F5344CB8AC3E}">
        <p14:creationId xmlns:p14="http://schemas.microsoft.com/office/powerpoint/2010/main" val="1859773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600" b="1">
                <a:solidFill>
                  <a:srgbClr val="1F2933"/>
                </a:solidFill>
                <a:latin typeface="PingFang SC"/>
                <a:ea typeface="PingFang SC"/>
              </a:rPr>
              <a:t>主要改动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0">
                <a:solidFill>
                  <a:srgbClr val="6B7A8A"/>
                </a:solidFill>
                <a:latin typeface="PingFang SC"/>
                <a:ea typeface="PingFang SC"/>
              </a:rPr>
              <a:t>左：research/v0.3.0-cloud　　右：feature/verl-v0.9.0-integration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4552" cy="45171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方面</a:t>
                      </a:r>
                    </a:p>
                  </a:txBody>
                  <a:tcPr marL="109728" marR="109728" marT="36576" marB="36576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原版：共卡同步，无 TQ</a:t>
                      </a:r>
                    </a:p>
                  </a:txBody>
                  <a:tcPr marL="109728" marR="109728" marT="36576" marB="36576" anchor="ctr">
                    <a:solidFill>
                      <a:srgbClr val="8A96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现在：分离异步 + TQ</a:t>
                      </a:r>
                    </a:p>
                  </a:txBody>
                  <a:tcPr marL="109728" marR="109728" marT="36576" marB="36576" anchor="ctr">
                    <a:solidFill>
                      <a:srgbClr val="2C6E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3"/>
                          </a:solidFill>
                          <a:latin typeface="PingFang SC"/>
                          <a:ea typeface="PingFang SC"/>
                        </a:rPr>
                        <a:t>训练框架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7A8A"/>
                          </a:solidFill>
                          <a:latin typeface="PingFang SC"/>
                          <a:ea typeface="PingFang SC"/>
                        </a:rPr>
                        <a:t>verl 旧版 RayPPOTrainer；batch 是 DataProto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PingFang SC"/>
                          <a:ea typeface="PingFang SC"/>
                        </a:rPr>
                        <a:t>verl v0.9.0 的 v1 PPOTrainer；batch 是 KVBatchMeta（只带 key）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3"/>
                          </a:solidFill>
                          <a:latin typeface="PingFang SC"/>
                          <a:ea typeface="PingFang SC"/>
                        </a:rPr>
                        <a:t>卡的分配</a:t>
                      </a:r>
                    </a:p>
                  </a:txBody>
                  <a:tcPr marL="109728" marR="109728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7A8A"/>
                          </a:solidFill>
                          <a:latin typeface="PingFang SC"/>
                          <a:ea typeface="PingFang SC"/>
                        </a:rPr>
                        <a:t>推理和训练共用同一批卡，轮流 wake / sleep</a:t>
                      </a:r>
                    </a:p>
                  </a:txBody>
                  <a:tcPr marL="109728" marR="109728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PingFang SC"/>
                          <a:ea typeface="PingFang SC"/>
                        </a:rPr>
                        <a:t>独立推理池（常驻）+ 训练池，本实验 8 + 8 卡</a:t>
                      </a:r>
                    </a:p>
                  </a:txBody>
                  <a:tcPr marL="109728" marR="109728" marT="36576" marB="36576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3"/>
                          </a:solidFill>
                          <a:latin typeface="PingFang SC"/>
                          <a:ea typeface="PingFang SC"/>
                        </a:rPr>
                        <a:t>训练循环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7A8A"/>
                          </a:solidFill>
                          <a:latin typeface="PingFang SC"/>
                          <a:ea typeface="PingFang SC"/>
                        </a:rPr>
                        <a:t>每步先生成完一批，再训练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PingFang SC"/>
                          <a:ea typeface="PingFang SC"/>
                        </a:rPr>
                        <a:t>提前提交后面的批次，生成与训练重叠；每步用 CheckpointEngine 把新权重推给推理池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3"/>
                          </a:solidFill>
                          <a:latin typeface="PingFang SC"/>
                          <a:ea typeface="PingFang SC"/>
                        </a:rPr>
                        <a:t>训练数据来源</a:t>
                      </a:r>
                    </a:p>
                  </a:txBody>
                  <a:tcPr marL="109728" marR="109728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7A8A"/>
                          </a:solidFill>
                          <a:latin typeface="PingFang SC"/>
                          <a:ea typeface="PingFang SC"/>
                        </a:rPr>
                        <a:t>生成完后 daemon 从 store 读 spans，转成 triplet，补齐成 DataProto</a:t>
                      </a:r>
                    </a:p>
                  </a:txBody>
                  <a:tcPr marL="109728" marR="109728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PingFang SC"/>
                          <a:ea typeface="PingFang SC"/>
                        </a:rPr>
                        <a:t>proxy 每轮把 token 写进 TQ；store 在 rollout 结束时写 reward 和组完成标记；replay buffer 只取已完成的组</a:t>
                      </a:r>
                    </a:p>
                  </a:txBody>
                  <a:tcPr marL="109728" marR="109728" marT="36576" marB="36576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3"/>
                          </a:solidFill>
                          <a:latin typeface="PingFang SC"/>
                          <a:ea typeface="PingFang SC"/>
                        </a:rPr>
                        <a:t>训练阶段传数据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7A8A"/>
                          </a:solidFill>
                          <a:latin typeface="PingFang SC"/>
                          <a:ea typeface="PingFang SC"/>
                        </a:rPr>
                        <a:t>driver 经 Ray 把 DataProto 发给 worker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PingFang SC"/>
                          <a:ea typeface="PingFang SC"/>
                        </a:rPr>
                        <a:t>worker 按 key 直接从 TQ 取数、写回结果；TQ 由 store 启动时在 Ray 上创建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3"/>
                          </a:solidFill>
                          <a:latin typeface="PingFang SC"/>
                          <a:ea typeface="PingFang SC"/>
                        </a:rPr>
                        <a:t>异步的配套处理</a:t>
                      </a:r>
                    </a:p>
                  </a:txBody>
                  <a:tcPr marL="109728" marR="109728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7A8A"/>
                          </a:solidFill>
                          <a:latin typeface="PingFang SC"/>
                          <a:ea typeface="PingFang SC"/>
                        </a:rPr>
                        <a:t>不需要</a:t>
                      </a:r>
                    </a:p>
                  </a:txBody>
                  <a:tcPr marL="109728" marR="109728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PingFang SC"/>
                          <a:ea typeface="PingFang SC"/>
                        </a:rPr>
                        <a:t>权重同步会中止在飞请求 → proxy 用已生成的 token 续跑；checkpoint 记录滞后的 dataloader 位置</a:t>
                      </a:r>
                    </a:p>
                  </a:txBody>
                  <a:tcPr marL="109728" marR="109728" marT="36576" marB="36576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B7A8A"/>
                </a:solidFill>
                <a:latin typeface="PingFang SC"/>
                <a:ea typeface="PingFang SC"/>
              </a:rPr>
              <a:t>共 115 个提交（0b40cb7 → 5198bdc）。主要改动文件：verl/trainer.py · llm_proxy.py · store/collection_based.py · verl/daemon.py · verl/entrypoint.py · cli/store.py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600" b="1">
                <a:solidFill>
                  <a:srgbClr val="1F2933"/>
                </a:solidFill>
                <a:latin typeface="PingFang SC"/>
                <a:ea typeface="PingFang SC"/>
              </a:rPr>
              <a:t>调度时间线：本方案对照参考图 (a)–(e)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47120" cy="21852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0" dirty="0">
                <a:solidFill>
                  <a:srgbClr val="6B7A8A"/>
                </a:solidFill>
                <a:latin typeface="PingFang SC"/>
                <a:ea typeface="PingFang SC"/>
              </a:rPr>
              <a:t>G0、G1：推理副本；</a:t>
            </a:r>
            <a:r>
              <a:rPr lang="en-SG" sz="1300" b="0" dirty="0">
                <a:solidFill>
                  <a:srgbClr val="6B7A8A"/>
                </a:solidFill>
                <a:latin typeface="PingFang SC"/>
                <a:ea typeface="PingFang SC"/>
              </a:rPr>
              <a:t>G</a:t>
            </a:r>
            <a:r>
              <a:rPr lang="en-US" altLang="zh-CN" sz="1300" b="0" dirty="0">
                <a:solidFill>
                  <a:srgbClr val="6B7A8A"/>
                </a:solidFill>
                <a:latin typeface="PingFang SC"/>
                <a:ea typeface="PingFang SC"/>
              </a:rPr>
              <a:t>2</a:t>
            </a:r>
            <a:r>
              <a:rPr lang="zh-CN" altLang="en-US" sz="1300" b="0" dirty="0">
                <a:solidFill>
                  <a:srgbClr val="6B7A8A"/>
                </a:solidFill>
                <a:latin typeface="PingFang SC"/>
                <a:ea typeface="PingFang SC"/>
              </a:rPr>
              <a:t>、</a:t>
            </a:r>
            <a:r>
              <a:rPr sz="1300" b="0" dirty="0">
                <a:solidFill>
                  <a:srgbClr val="6B7A8A"/>
                </a:solidFill>
                <a:latin typeface="PingFang SC"/>
                <a:ea typeface="PingFang SC"/>
              </a:rPr>
              <a:t>G3：训练池；编号：一个 prompt </a:t>
            </a:r>
            <a:r>
              <a:rPr sz="1300" b="0" dirty="0" err="1">
                <a:solidFill>
                  <a:srgbClr val="6B7A8A"/>
                </a:solidFill>
                <a:latin typeface="PingFang SC"/>
                <a:ea typeface="PingFang SC"/>
              </a:rPr>
              <a:t>组（n</a:t>
            </a:r>
            <a:r>
              <a:rPr sz="1300" b="0" dirty="0">
                <a:solidFill>
                  <a:srgbClr val="6B7A8A"/>
                </a:solidFill>
                <a:latin typeface="PingFang SC"/>
                <a:ea typeface="PingFang SC"/>
              </a:rPr>
              <a:t> </a:t>
            </a:r>
            <a:r>
              <a:rPr sz="1300" b="0" dirty="0" err="1">
                <a:solidFill>
                  <a:srgbClr val="6B7A8A"/>
                </a:solidFill>
                <a:latin typeface="PingFang SC"/>
                <a:ea typeface="PingFang SC"/>
              </a:rPr>
              <a:t>条</a:t>
            </a:r>
            <a:r>
              <a:rPr sz="1300" b="0" dirty="0">
                <a:solidFill>
                  <a:srgbClr val="6B7A8A"/>
                </a:solidFill>
                <a:latin typeface="PingFang SC"/>
                <a:ea typeface="PingFang SC"/>
              </a:rPr>
              <a:t> rollout）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61288"/>
            <a:ext cx="1127455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792" y="1225296"/>
            <a:ext cx="237744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6B7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700" b="0">
                <a:solidFill>
                  <a:srgbClr val="1F2933"/>
                </a:solidFill>
                <a:latin typeface="PingFang SC"/>
                <a:ea typeface="PingFang SC"/>
              </a:rPr>
              <a:t>G0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97864"/>
            <a:ext cx="292608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GPU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4752" y="1225296"/>
            <a:ext cx="27432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9AA5B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1444752" y="1225296"/>
            <a:ext cx="32004" cy="32004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444752" y="1225296"/>
            <a:ext cx="96012" cy="96012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444752" y="1225296"/>
            <a:ext cx="160020" cy="160020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85900" y="1225296"/>
            <a:ext cx="182880" cy="182880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549908" y="1239012"/>
            <a:ext cx="169164" cy="169164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613916" y="1303020"/>
            <a:ext cx="105156" cy="105156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677924" y="1367028"/>
            <a:ext cx="41148" cy="41148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73936" y="1197864"/>
            <a:ext cx="365760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空等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1225296"/>
            <a:ext cx="118872" cy="182880"/>
          </a:xfrm>
          <a:prstGeom prst="rect">
            <a:avLst/>
          </a:prstGeom>
          <a:solidFill>
            <a:srgbClr val="C9E7B8"/>
          </a:solidFill>
          <a:ln w="9525">
            <a:solidFill>
              <a:srgbClr val="86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96312" y="1225296"/>
            <a:ext cx="118872" cy="182880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15184" y="1225296"/>
            <a:ext cx="118872" cy="182880"/>
          </a:xfrm>
          <a:prstGeom prst="rect">
            <a:avLst/>
          </a:prstGeom>
          <a:solidFill>
            <a:srgbClr val="3F9B4B"/>
          </a:solidFill>
          <a:ln w="9525">
            <a:solidFill>
              <a:srgbClr val="2C6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88920" y="1197864"/>
            <a:ext cx="1298448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不同权重版本生成的组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5112" y="1225296"/>
            <a:ext cx="118872" cy="182880"/>
          </a:xfrm>
          <a:prstGeom prst="rect">
            <a:avLst/>
          </a:prstGeom>
          <a:solidFill>
            <a:srgbClr val="A9D4F5"/>
          </a:solidFill>
          <a:ln w="9525">
            <a:solidFill>
              <a:srgbClr val="5E9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43984" y="1225296"/>
            <a:ext cx="118872" cy="182880"/>
          </a:xfrm>
          <a:prstGeom prst="rect">
            <a:avLst/>
          </a:prstGeom>
          <a:solidFill>
            <a:srgbClr val="5AA8E6"/>
          </a:solidFill>
          <a:ln w="9525">
            <a:solidFill>
              <a:srgbClr val="2F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62856" y="1225296"/>
            <a:ext cx="118872" cy="182880"/>
          </a:xfrm>
          <a:prstGeom prst="rect">
            <a:avLst/>
          </a:prstGeom>
          <a:solidFill>
            <a:srgbClr val="2F7FCB"/>
          </a:solidFill>
          <a:ln w="95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36592" y="1197864"/>
            <a:ext cx="1645920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mini-batch（一次权重更新）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0256" y="1225296"/>
            <a:ext cx="128016" cy="182880"/>
          </a:xfrm>
          <a:prstGeom prst="rect">
            <a:avLst/>
          </a:prstGeom>
          <a:solidFill>
            <a:srgbClr val="A6A6A6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03136" y="1197864"/>
            <a:ext cx="1627632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Re-prefill（续跑重建 KV）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68512" y="1225296"/>
            <a:ext cx="91440" cy="182880"/>
          </a:xfrm>
          <a:prstGeom prst="rect">
            <a:avLst/>
          </a:prstGeom>
          <a:solidFill>
            <a:srgbClr val="F6E6A0"/>
          </a:solidFill>
          <a:ln w="9525">
            <a:solidFill>
              <a:srgbClr val="CD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14816" y="1197864"/>
            <a:ext cx="548640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权重同步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601200" y="1316736"/>
            <a:ext cx="292608" cy="0"/>
          </a:xfrm>
          <a:prstGeom prst="line">
            <a:avLst/>
          </a:prstGeom>
          <a:ln w="15875">
            <a:solidFill>
              <a:srgbClr val="D953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948672" y="1197864"/>
            <a:ext cx="1097280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被中止的请求续跑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2176272"/>
            <a:ext cx="1051560" cy="640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200" b="1">
                <a:solidFill>
                  <a:srgbClr val="2C6E8F"/>
                </a:solidFill>
                <a:latin typeface="PingFang SC"/>
                <a:ea typeface="PingFang SC"/>
              </a:rPr>
              <a:t>(f) 本方案</a:t>
            </a:r>
          </a:p>
          <a:p>
            <a:pPr algn="ctr"/>
            <a:r>
              <a:rPr sz="900" b="0">
                <a:solidFill>
                  <a:srgbClr val="6B7A8A"/>
                </a:solidFill>
                <a:latin typeface="PingFang SC"/>
                <a:ea typeface="PingFang SC"/>
              </a:rPr>
              <a:t>分离异步 + TQ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90472" y="1801368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G0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90472" y="2322576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G1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08760" y="2944368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463040" y="2990088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G3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74519" y="1737360"/>
            <a:ext cx="532311" cy="402335"/>
          </a:xfrm>
          <a:prstGeom prst="rect">
            <a:avLst/>
          </a:prstGeom>
          <a:solidFill>
            <a:srgbClr val="E3EAF3"/>
          </a:solidFill>
          <a:ln w="9525">
            <a:solidFill>
              <a:srgbClr val="B8C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874519" y="2258568"/>
            <a:ext cx="532311" cy="402335"/>
          </a:xfrm>
          <a:prstGeom prst="rect">
            <a:avLst/>
          </a:prstGeom>
          <a:solidFill>
            <a:srgbClr val="E3EAF3"/>
          </a:solidFill>
          <a:ln w="9525">
            <a:solidFill>
              <a:srgbClr val="B8C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874519" y="2980944"/>
            <a:ext cx="532311" cy="292607"/>
          </a:xfrm>
          <a:prstGeom prst="rect">
            <a:avLst/>
          </a:prstGeom>
          <a:solidFill>
            <a:srgbClr val="E3EAF3"/>
          </a:solidFill>
          <a:ln w="9525">
            <a:solidFill>
              <a:srgbClr val="B8C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74519" y="3310127"/>
            <a:ext cx="532311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0">
                <a:solidFill>
                  <a:srgbClr val="6B7A8A"/>
                </a:solidFill>
                <a:latin typeface="PingFang SC"/>
                <a:ea typeface="PingFang SC"/>
              </a:rPr>
              <a:t>W</a:t>
            </a:r>
            <a:r>
              <a:rPr sz="850" b="0" baseline="-25000">
                <a:solidFill>
                  <a:srgbClr val="6B7A8A"/>
                </a:solidFill>
                <a:latin typeface="PingFang SC"/>
                <a:ea typeface="PingFang SC"/>
              </a:rPr>
              <a:t>n-1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92001" y="1737360"/>
            <a:ext cx="106462" cy="192024"/>
          </a:xfrm>
          <a:prstGeom prst="rect">
            <a:avLst/>
          </a:prstGeom>
          <a:solidFill>
            <a:srgbClr val="A6A6A6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598463" y="1737360"/>
            <a:ext cx="606835" cy="192024"/>
          </a:xfrm>
          <a:prstGeom prst="rect">
            <a:avLst/>
          </a:prstGeom>
          <a:solidFill>
            <a:srgbClr val="C9E7B8"/>
          </a:solidFill>
          <a:ln w="9525">
            <a:solidFill>
              <a:srgbClr val="86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700" b="0">
                <a:solidFill>
                  <a:srgbClr val="1F2933"/>
                </a:solidFill>
                <a:latin typeface="PingFang SC"/>
                <a:ea typeface="PingFang SC"/>
              </a:rPr>
              <a:t>上批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5298" y="1737360"/>
            <a:ext cx="745236" cy="192024"/>
          </a:xfrm>
          <a:prstGeom prst="rect">
            <a:avLst/>
          </a:prstGeom>
          <a:solidFill>
            <a:srgbClr val="C9E7B8"/>
          </a:solidFill>
          <a:ln w="9525">
            <a:solidFill>
              <a:srgbClr val="86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50534" y="1737360"/>
            <a:ext cx="958160" cy="192024"/>
          </a:xfrm>
          <a:prstGeom prst="rect">
            <a:avLst/>
          </a:prstGeom>
          <a:solidFill>
            <a:srgbClr val="C9E7B8"/>
          </a:solidFill>
          <a:ln w="9525">
            <a:solidFill>
              <a:srgbClr val="86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08695" y="1737360"/>
            <a:ext cx="266155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9AA5B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Connector 43"/>
          <p:cNvCxnSpPr/>
          <p:nvPr/>
        </p:nvCxnSpPr>
        <p:spPr>
          <a:xfrm flipV="1">
            <a:off x="4908695" y="1737360"/>
            <a:ext cx="32004" cy="32003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908695" y="1737360"/>
            <a:ext cx="96012" cy="96012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908695" y="1737360"/>
            <a:ext cx="160020" cy="160019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940699" y="1737360"/>
            <a:ext cx="192024" cy="192024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004707" y="1759240"/>
            <a:ext cx="170143" cy="170144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5068715" y="1823248"/>
            <a:ext cx="106135" cy="106136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132723" y="1887256"/>
            <a:ext cx="42127" cy="42128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2492001" y="1947672"/>
            <a:ext cx="872990" cy="192024"/>
          </a:xfrm>
          <a:prstGeom prst="rect">
            <a:avLst/>
          </a:prstGeom>
          <a:solidFill>
            <a:srgbClr val="C9E7B8"/>
          </a:solidFill>
          <a:ln w="9525">
            <a:solidFill>
              <a:srgbClr val="86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64991" y="1947672"/>
            <a:ext cx="1011391" cy="192024"/>
          </a:xfrm>
          <a:prstGeom prst="rect">
            <a:avLst/>
          </a:prstGeom>
          <a:solidFill>
            <a:srgbClr val="C9E7B8"/>
          </a:solidFill>
          <a:ln w="9525">
            <a:solidFill>
              <a:srgbClr val="86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76383" y="1947672"/>
            <a:ext cx="798467" cy="192024"/>
          </a:xfrm>
          <a:prstGeom prst="rect">
            <a:avLst/>
          </a:prstGeom>
          <a:solidFill>
            <a:srgbClr val="C9E7B8"/>
          </a:solidFill>
          <a:ln w="9525">
            <a:solidFill>
              <a:srgbClr val="86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92001" y="2258568"/>
            <a:ext cx="106462" cy="192024"/>
          </a:xfrm>
          <a:prstGeom prst="rect">
            <a:avLst/>
          </a:prstGeom>
          <a:solidFill>
            <a:srgbClr val="A6A6A6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598463" y="2258568"/>
            <a:ext cx="660066" cy="192024"/>
          </a:xfrm>
          <a:prstGeom prst="rect">
            <a:avLst/>
          </a:prstGeom>
          <a:solidFill>
            <a:srgbClr val="C9E7B8"/>
          </a:solidFill>
          <a:ln w="9525">
            <a:solidFill>
              <a:srgbClr val="86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700" b="0">
                <a:solidFill>
                  <a:srgbClr val="1F2933"/>
                </a:solidFill>
                <a:latin typeface="PingFang SC"/>
                <a:ea typeface="PingFang SC"/>
              </a:rPr>
              <a:t>上批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58529" y="2258568"/>
            <a:ext cx="1916321" cy="192024"/>
          </a:xfrm>
          <a:prstGeom prst="rect">
            <a:avLst/>
          </a:prstGeom>
          <a:solidFill>
            <a:srgbClr val="C9E7B8"/>
          </a:solidFill>
          <a:ln w="9525">
            <a:solidFill>
              <a:srgbClr val="86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92001" y="2468880"/>
            <a:ext cx="1032684" cy="192024"/>
          </a:xfrm>
          <a:prstGeom prst="rect">
            <a:avLst/>
          </a:prstGeom>
          <a:solidFill>
            <a:srgbClr val="C9E7B8"/>
          </a:solidFill>
          <a:ln w="9525">
            <a:solidFill>
              <a:srgbClr val="86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24685" y="2468880"/>
            <a:ext cx="1650165" cy="192024"/>
          </a:xfrm>
          <a:prstGeom prst="rect">
            <a:avLst/>
          </a:prstGeom>
          <a:solidFill>
            <a:srgbClr val="C9E7B8"/>
          </a:solidFill>
          <a:ln w="9525">
            <a:solidFill>
              <a:srgbClr val="86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60020" y="1737360"/>
            <a:ext cx="606835" cy="192024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66855" y="1737360"/>
            <a:ext cx="1117854" cy="192024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13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84709" y="1737360"/>
            <a:ext cx="1064622" cy="192024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60020" y="1947672"/>
            <a:ext cx="106462" cy="192024"/>
          </a:xfrm>
          <a:prstGeom prst="rect">
            <a:avLst/>
          </a:prstGeom>
          <a:solidFill>
            <a:srgbClr val="A6A6A6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366482" y="1947672"/>
            <a:ext cx="361971" cy="192024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28454" y="1947672"/>
            <a:ext cx="990099" cy="192024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10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18553" y="1947672"/>
            <a:ext cx="958160" cy="192024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14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76714" y="1947672"/>
            <a:ext cx="37261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9AA5B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7" name="Connector 66"/>
          <p:cNvCxnSpPr/>
          <p:nvPr/>
        </p:nvCxnSpPr>
        <p:spPr>
          <a:xfrm flipV="1">
            <a:off x="7676714" y="1947672"/>
            <a:ext cx="32004" cy="32004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7676714" y="1947672"/>
            <a:ext cx="96012" cy="96012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7676714" y="1947672"/>
            <a:ext cx="160020" cy="160019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7708718" y="1947672"/>
            <a:ext cx="192024" cy="192024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772726" y="1947672"/>
            <a:ext cx="192024" cy="192024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7836734" y="1947672"/>
            <a:ext cx="192024" cy="192024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900742" y="1991105"/>
            <a:ext cx="148590" cy="148591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964750" y="2055113"/>
            <a:ext cx="84582" cy="84583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028758" y="2119121"/>
            <a:ext cx="20574" cy="20575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5260020" y="2258568"/>
            <a:ext cx="106462" cy="192024"/>
          </a:xfrm>
          <a:prstGeom prst="rect">
            <a:avLst/>
          </a:prstGeom>
          <a:solidFill>
            <a:srgbClr val="A6A6A6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366482" y="2258568"/>
            <a:ext cx="2682849" cy="192024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60020" y="2468880"/>
            <a:ext cx="106462" cy="192024"/>
          </a:xfrm>
          <a:prstGeom prst="rect">
            <a:avLst/>
          </a:prstGeom>
          <a:solidFill>
            <a:srgbClr val="A6A6A6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5366482" y="2468880"/>
            <a:ext cx="447141" cy="192024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813624" y="2468880"/>
            <a:ext cx="745236" cy="192024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58860" y="2468880"/>
            <a:ext cx="1011391" cy="192024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12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70252" y="2468880"/>
            <a:ext cx="479080" cy="192024"/>
          </a:xfrm>
          <a:prstGeom prst="rect">
            <a:avLst/>
          </a:prstGeom>
          <a:solidFill>
            <a:srgbClr val="7FC46F"/>
          </a:solidFill>
          <a:ln w="9525">
            <a:solidFill>
              <a:srgbClr val="4F9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1F2933"/>
                </a:solidFill>
                <a:latin typeface="PingFang SC"/>
                <a:ea typeface="PingFang SC"/>
              </a:rPr>
              <a:t>16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134502" y="1737360"/>
            <a:ext cx="106462" cy="192024"/>
          </a:xfrm>
          <a:prstGeom prst="rect">
            <a:avLst/>
          </a:prstGeom>
          <a:solidFill>
            <a:srgbClr val="A6A6A6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8240964" y="1737360"/>
            <a:ext cx="340679" cy="192024"/>
          </a:xfrm>
          <a:prstGeom prst="rect">
            <a:avLst/>
          </a:prstGeom>
          <a:solidFill>
            <a:srgbClr val="3F9B4B"/>
          </a:solidFill>
          <a:ln w="9525">
            <a:solidFill>
              <a:srgbClr val="2C6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PingFang SC"/>
                <a:ea typeface="PingFang SC"/>
              </a:rPr>
              <a:t>15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581643" y="1737360"/>
            <a:ext cx="745236" cy="192024"/>
          </a:xfrm>
          <a:prstGeom prst="rect">
            <a:avLst/>
          </a:prstGeom>
          <a:solidFill>
            <a:srgbClr val="3F9B4B"/>
          </a:solidFill>
          <a:ln w="9525">
            <a:solidFill>
              <a:srgbClr val="2C6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PingFang SC"/>
                <a:ea typeface="PingFang SC"/>
              </a:rPr>
              <a:t>17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134502" y="1947672"/>
            <a:ext cx="1192377" cy="192024"/>
          </a:xfrm>
          <a:prstGeom prst="rect">
            <a:avLst/>
          </a:prstGeom>
          <a:solidFill>
            <a:srgbClr val="3F9B4B"/>
          </a:solidFill>
          <a:ln w="9525">
            <a:solidFill>
              <a:srgbClr val="2C6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PingFang SC"/>
                <a:ea typeface="PingFang SC"/>
              </a:rPr>
              <a:t>18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134502" y="2258568"/>
            <a:ext cx="106462" cy="192024"/>
          </a:xfrm>
          <a:prstGeom prst="rect">
            <a:avLst/>
          </a:prstGeom>
          <a:solidFill>
            <a:srgbClr val="A6A6A6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8240964" y="2258568"/>
            <a:ext cx="447141" cy="192024"/>
          </a:xfrm>
          <a:prstGeom prst="rect">
            <a:avLst/>
          </a:prstGeom>
          <a:solidFill>
            <a:srgbClr val="3F9B4B"/>
          </a:solidFill>
          <a:ln w="9525">
            <a:solidFill>
              <a:srgbClr val="2C6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688106" y="2258568"/>
            <a:ext cx="638773" cy="192024"/>
          </a:xfrm>
          <a:prstGeom prst="rect">
            <a:avLst/>
          </a:prstGeom>
          <a:solidFill>
            <a:srgbClr val="3F9B4B"/>
          </a:solidFill>
          <a:ln w="9525">
            <a:solidFill>
              <a:srgbClr val="2C6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PingFang SC"/>
                <a:ea typeface="PingFang SC"/>
              </a:rPr>
              <a:t>19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134502" y="2468880"/>
            <a:ext cx="106462" cy="192024"/>
          </a:xfrm>
          <a:prstGeom prst="rect">
            <a:avLst/>
          </a:prstGeom>
          <a:solidFill>
            <a:srgbClr val="A6A6A6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8240964" y="2468880"/>
            <a:ext cx="255509" cy="192024"/>
          </a:xfrm>
          <a:prstGeom prst="rect">
            <a:avLst/>
          </a:prstGeom>
          <a:solidFill>
            <a:srgbClr val="3F9B4B"/>
          </a:solidFill>
          <a:ln w="9525">
            <a:solidFill>
              <a:srgbClr val="2C6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PingFang SC"/>
                <a:ea typeface="PingFang SC"/>
              </a:rPr>
              <a:t>16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496474" y="2468880"/>
            <a:ext cx="830405" cy="192024"/>
          </a:xfrm>
          <a:prstGeom prst="rect">
            <a:avLst/>
          </a:prstGeom>
          <a:solidFill>
            <a:srgbClr val="3F9B4B"/>
          </a:solidFill>
          <a:ln w="9525">
            <a:solidFill>
              <a:srgbClr val="2C6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PingFang SC"/>
                <a:ea typeface="PingFang SC"/>
              </a:rPr>
              <a:t>20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492001" y="2980944"/>
            <a:ext cx="7878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5B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4" name="Connector 93"/>
          <p:cNvCxnSpPr/>
          <p:nvPr/>
        </p:nvCxnSpPr>
        <p:spPr>
          <a:xfrm flipV="1">
            <a:off x="2492001" y="2980944"/>
            <a:ext cx="32004" cy="32003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492001" y="2980944"/>
            <a:ext cx="96012" cy="96012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492001" y="2980944"/>
            <a:ext cx="160020" cy="160019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492001" y="2980944"/>
            <a:ext cx="224028" cy="22402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2492001" y="2980944"/>
            <a:ext cx="288036" cy="288035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2551437" y="298094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2615445" y="298094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2679453" y="298094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2743461" y="298094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2807469" y="298094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2871477" y="298094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2935485" y="298094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2999493" y="2993223"/>
            <a:ext cx="280329" cy="280328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063501" y="3057231"/>
            <a:ext cx="216321" cy="216320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127509" y="3121239"/>
            <a:ext cx="152313" cy="152312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3191517" y="3185247"/>
            <a:ext cx="88305" cy="88304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3255525" y="3249255"/>
            <a:ext cx="24297" cy="24296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3279822" y="2980944"/>
            <a:ext cx="596188" cy="292608"/>
          </a:xfrm>
          <a:prstGeom prst="rect">
            <a:avLst/>
          </a:prstGeom>
          <a:solidFill>
            <a:srgbClr val="DCD6EC"/>
          </a:solidFill>
          <a:ln w="9525">
            <a:solidFill>
              <a:srgbClr val="9D9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750" b="0">
                <a:solidFill>
                  <a:srgbClr val="1F2933"/>
                </a:solidFill>
                <a:latin typeface="PingFang SC"/>
                <a:ea typeface="PingFang SC"/>
              </a:rPr>
              <a:t>old/ref/adv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876010" y="2980944"/>
            <a:ext cx="649419" cy="292608"/>
          </a:xfrm>
          <a:prstGeom prst="rect">
            <a:avLst/>
          </a:prstGeom>
          <a:solidFill>
            <a:srgbClr val="A9D4F5"/>
          </a:solidFill>
          <a:ln w="9525">
            <a:solidFill>
              <a:srgbClr val="5E9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50" b="0">
                <a:solidFill>
                  <a:srgbClr val="1F2933"/>
                </a:solidFill>
                <a:latin typeface="PingFang SC"/>
                <a:ea typeface="PingFang SC"/>
              </a:rPr>
              <a:t>B1,W</a:t>
            </a:r>
            <a:r>
              <a:rPr sz="850" b="0" baseline="-25000">
                <a:solidFill>
                  <a:srgbClr val="1F2933"/>
                </a:solidFill>
                <a:latin typeface="PingFang SC"/>
                <a:ea typeface="PingFang SC"/>
              </a:rPr>
              <a:t>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25430" y="2980944"/>
            <a:ext cx="649419" cy="292608"/>
          </a:xfrm>
          <a:prstGeom prst="rect">
            <a:avLst/>
          </a:prstGeom>
          <a:solidFill>
            <a:srgbClr val="A9D4F5"/>
          </a:solidFill>
          <a:ln w="9525">
            <a:solidFill>
              <a:srgbClr val="5E9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50" b="0">
                <a:solidFill>
                  <a:srgbClr val="1F2933"/>
                </a:solidFill>
                <a:latin typeface="PingFang SC"/>
                <a:ea typeface="PingFang SC"/>
              </a:rPr>
              <a:t>B2,W</a:t>
            </a:r>
            <a:r>
              <a:rPr sz="850" b="0" baseline="-25000">
                <a:solidFill>
                  <a:srgbClr val="1F2933"/>
                </a:solidFill>
                <a:latin typeface="PingFang SC"/>
                <a:ea typeface="PingFang SC"/>
              </a:rPr>
              <a:t>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260020" y="2980944"/>
            <a:ext cx="63877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5B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5" name="Connector 114"/>
          <p:cNvCxnSpPr/>
          <p:nvPr/>
        </p:nvCxnSpPr>
        <p:spPr>
          <a:xfrm flipV="1">
            <a:off x="5260020" y="2980944"/>
            <a:ext cx="32004" cy="32003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5260020" y="2980944"/>
            <a:ext cx="96012" cy="96012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5260020" y="2980944"/>
            <a:ext cx="160020" cy="160019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5260020" y="2980944"/>
            <a:ext cx="224028" cy="22402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5260020" y="2980944"/>
            <a:ext cx="288036" cy="288035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5319456" y="298094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5383464" y="298094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5447472" y="298094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5511480" y="298094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5575488" y="298094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5639496" y="3014254"/>
            <a:ext cx="259298" cy="25929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5703504" y="3078262"/>
            <a:ext cx="195290" cy="195289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5767512" y="3142270"/>
            <a:ext cx="131282" cy="131281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5831520" y="3206278"/>
            <a:ext cx="67274" cy="67273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ctangle 128"/>
          <p:cNvSpPr/>
          <p:nvPr/>
        </p:nvSpPr>
        <p:spPr>
          <a:xfrm>
            <a:off x="5898794" y="2980944"/>
            <a:ext cx="596188" cy="292608"/>
          </a:xfrm>
          <a:prstGeom prst="rect">
            <a:avLst/>
          </a:prstGeom>
          <a:solidFill>
            <a:srgbClr val="DCD6EC"/>
          </a:solidFill>
          <a:ln w="9525">
            <a:solidFill>
              <a:srgbClr val="9D9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750" b="0">
                <a:solidFill>
                  <a:srgbClr val="1F2933"/>
                </a:solidFill>
                <a:latin typeface="PingFang SC"/>
                <a:ea typeface="PingFang SC"/>
              </a:rPr>
              <a:t>old/ref/adv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494983" y="2980944"/>
            <a:ext cx="777174" cy="292608"/>
          </a:xfrm>
          <a:prstGeom prst="rect">
            <a:avLst/>
          </a:prstGeom>
          <a:solidFill>
            <a:srgbClr val="5AA8E6"/>
          </a:solidFill>
          <a:ln w="9525">
            <a:solidFill>
              <a:srgbClr val="2F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PingFang SC"/>
                <a:ea typeface="PingFang SC"/>
              </a:rPr>
              <a:t>B1,W</a:t>
            </a:r>
            <a:r>
              <a:rPr sz="850" b="0" baseline="-25000">
                <a:solidFill>
                  <a:srgbClr val="FFFFFF"/>
                </a:solidFill>
                <a:latin typeface="PingFang SC"/>
                <a:ea typeface="PingFang SC"/>
              </a:rPr>
              <a:t>n+1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272157" y="2980944"/>
            <a:ext cx="777174" cy="292608"/>
          </a:xfrm>
          <a:prstGeom prst="rect">
            <a:avLst/>
          </a:prstGeom>
          <a:solidFill>
            <a:srgbClr val="5AA8E6"/>
          </a:solidFill>
          <a:ln w="9525">
            <a:solidFill>
              <a:srgbClr val="2F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PingFang SC"/>
                <a:ea typeface="PingFang SC"/>
              </a:rPr>
              <a:t>B2,W</a:t>
            </a:r>
            <a:r>
              <a:rPr sz="850" b="0" baseline="-25000">
                <a:solidFill>
                  <a:srgbClr val="FFFFFF"/>
                </a:solidFill>
                <a:latin typeface="PingFang SC"/>
                <a:ea typeface="PingFang SC"/>
              </a:rPr>
              <a:t>n+1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134502" y="2980944"/>
            <a:ext cx="57489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5B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3" name="Connector 132"/>
          <p:cNvCxnSpPr/>
          <p:nvPr/>
        </p:nvCxnSpPr>
        <p:spPr>
          <a:xfrm flipV="1">
            <a:off x="8134502" y="2980944"/>
            <a:ext cx="32004" cy="32003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134502" y="2980944"/>
            <a:ext cx="96012" cy="96012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134502" y="2980944"/>
            <a:ext cx="160020" cy="160019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134502" y="2980944"/>
            <a:ext cx="224028" cy="22402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134502" y="2980944"/>
            <a:ext cx="288036" cy="288035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193938" y="298094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257946" y="298094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321954" y="298094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385962" y="2980944"/>
            <a:ext cx="292608" cy="292607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8449970" y="3014123"/>
            <a:ext cx="259428" cy="259428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8513978" y="3078131"/>
            <a:ext cx="195420" cy="195420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8577986" y="3142139"/>
            <a:ext cx="131412" cy="131412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8641994" y="3206147"/>
            <a:ext cx="67404" cy="67404"/>
          </a:xfrm>
          <a:prstGeom prst="line">
            <a:avLst/>
          </a:prstGeom>
          <a:ln w="6350">
            <a:solidFill>
              <a:srgbClr val="C3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ctangle 145"/>
          <p:cNvSpPr/>
          <p:nvPr/>
        </p:nvSpPr>
        <p:spPr>
          <a:xfrm>
            <a:off x="8709398" y="2980944"/>
            <a:ext cx="596188" cy="292608"/>
          </a:xfrm>
          <a:prstGeom prst="rect">
            <a:avLst/>
          </a:prstGeom>
          <a:solidFill>
            <a:srgbClr val="DCD6EC"/>
          </a:solidFill>
          <a:ln w="9525">
            <a:solidFill>
              <a:srgbClr val="9D9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r>
              <a:rPr sz="750" b="0">
                <a:solidFill>
                  <a:srgbClr val="1F2933"/>
                </a:solidFill>
                <a:latin typeface="PingFang SC"/>
                <a:ea typeface="PingFang SC"/>
              </a:rPr>
              <a:t>old/ref/adv</a:t>
            </a:r>
          </a:p>
        </p:txBody>
      </p:sp>
      <p:cxnSp>
        <p:nvCxnSpPr>
          <p:cNvPr id="147" name="Connector 146"/>
          <p:cNvCxnSpPr/>
          <p:nvPr/>
        </p:nvCxnSpPr>
        <p:spPr>
          <a:xfrm flipV="1">
            <a:off x="3279822" y="2871215"/>
            <a:ext cx="0" cy="73153"/>
          </a:xfrm>
          <a:prstGeom prst="line">
            <a:avLst/>
          </a:prstGeom>
          <a:ln w="9525">
            <a:solidFill>
              <a:srgbClr val="6B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279822" y="2871215"/>
            <a:ext cx="1895028" cy="0"/>
          </a:xfrm>
          <a:prstGeom prst="line">
            <a:avLst/>
          </a:prstGeom>
          <a:ln w="9525">
            <a:solidFill>
              <a:srgbClr val="6B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174850" y="2871215"/>
            <a:ext cx="0" cy="73153"/>
          </a:xfrm>
          <a:prstGeom prst="line">
            <a:avLst/>
          </a:prstGeom>
          <a:ln w="9525">
            <a:solidFill>
              <a:srgbClr val="6B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3678696" y="2688335"/>
            <a:ext cx="1097280" cy="173736"/>
          </a:xfrm>
          <a:prstGeom prst="rect">
            <a:avLst/>
          </a:prstGeom>
          <a:noFill/>
        </p:spPr>
        <p:txBody>
          <a:bodyPr wrap="square" lIns="18288" tIns="9144" rIns="18288" bIns="9144" anchor="b">
            <a:spAutoFit/>
          </a:bodyPr>
          <a:lstStyle/>
          <a:p>
            <a:pPr algn="ctr"/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一次取齐</a:t>
            </a:r>
          </a:p>
        </p:txBody>
      </p:sp>
      <p:cxnSp>
        <p:nvCxnSpPr>
          <p:cNvPr id="151" name="Connector 150"/>
          <p:cNvCxnSpPr/>
          <p:nvPr/>
        </p:nvCxnSpPr>
        <p:spPr>
          <a:xfrm flipV="1">
            <a:off x="5898794" y="2871215"/>
            <a:ext cx="0" cy="73153"/>
          </a:xfrm>
          <a:prstGeom prst="line">
            <a:avLst/>
          </a:prstGeom>
          <a:ln w="9525">
            <a:solidFill>
              <a:srgbClr val="6B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5898794" y="2871215"/>
            <a:ext cx="2150538" cy="0"/>
          </a:xfrm>
          <a:prstGeom prst="line">
            <a:avLst/>
          </a:prstGeom>
          <a:ln w="9525">
            <a:solidFill>
              <a:srgbClr val="6B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049332" y="2871215"/>
            <a:ext cx="0" cy="73153"/>
          </a:xfrm>
          <a:prstGeom prst="line">
            <a:avLst/>
          </a:prstGeom>
          <a:ln w="9525">
            <a:solidFill>
              <a:srgbClr val="6B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6425423" y="2688335"/>
            <a:ext cx="1097280" cy="173736"/>
          </a:xfrm>
          <a:prstGeom prst="rect">
            <a:avLst/>
          </a:prstGeom>
          <a:noFill/>
        </p:spPr>
        <p:txBody>
          <a:bodyPr wrap="square" lIns="18288" tIns="9144" rIns="18288" bIns="9144" anchor="b">
            <a:spAutoFit/>
          </a:bodyPr>
          <a:lstStyle/>
          <a:p>
            <a:pPr algn="ctr"/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一次取齐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406831" y="1737360"/>
            <a:ext cx="85169" cy="402335"/>
          </a:xfrm>
          <a:prstGeom prst="rect">
            <a:avLst/>
          </a:prstGeom>
          <a:solidFill>
            <a:srgbClr val="F6E6A0"/>
          </a:solidFill>
          <a:ln w="9525">
            <a:solidFill>
              <a:srgbClr val="CD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2406831" y="2258568"/>
            <a:ext cx="85169" cy="402335"/>
          </a:xfrm>
          <a:prstGeom prst="rect">
            <a:avLst/>
          </a:prstGeom>
          <a:solidFill>
            <a:srgbClr val="F6E6A0"/>
          </a:solidFill>
          <a:ln w="9525">
            <a:solidFill>
              <a:srgbClr val="CD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2406831" y="2980944"/>
            <a:ext cx="85169" cy="292607"/>
          </a:xfrm>
          <a:prstGeom prst="rect">
            <a:avLst/>
          </a:prstGeom>
          <a:solidFill>
            <a:srgbClr val="F6E6A0"/>
          </a:solidFill>
          <a:ln w="9525">
            <a:solidFill>
              <a:srgbClr val="CD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2132511" y="1517904"/>
            <a:ext cx="6400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0">
                <a:solidFill>
                  <a:srgbClr val="6B7A8A"/>
                </a:solidFill>
                <a:latin typeface="PingFang SC"/>
                <a:ea typeface="PingFang SC"/>
              </a:rPr>
              <a:t>W</a:t>
            </a:r>
            <a:r>
              <a:rPr sz="850" b="0" baseline="-25000">
                <a:solidFill>
                  <a:srgbClr val="6B7A8A"/>
                </a:solidFill>
                <a:latin typeface="PingFang SC"/>
                <a:ea typeface="PingFang SC"/>
              </a:rPr>
              <a:t>n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174850" y="1737360"/>
            <a:ext cx="85169" cy="402335"/>
          </a:xfrm>
          <a:prstGeom prst="rect">
            <a:avLst/>
          </a:prstGeom>
          <a:solidFill>
            <a:srgbClr val="F6E6A0"/>
          </a:solidFill>
          <a:ln w="9525">
            <a:solidFill>
              <a:srgbClr val="CD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5174850" y="2258568"/>
            <a:ext cx="85169" cy="402335"/>
          </a:xfrm>
          <a:prstGeom prst="rect">
            <a:avLst/>
          </a:prstGeom>
          <a:solidFill>
            <a:srgbClr val="F6E6A0"/>
          </a:solidFill>
          <a:ln w="9525">
            <a:solidFill>
              <a:srgbClr val="CD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5174850" y="2980944"/>
            <a:ext cx="85169" cy="292607"/>
          </a:xfrm>
          <a:prstGeom prst="rect">
            <a:avLst/>
          </a:prstGeom>
          <a:solidFill>
            <a:srgbClr val="F6E6A0"/>
          </a:solidFill>
          <a:ln w="9525">
            <a:solidFill>
              <a:srgbClr val="CD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4900530" y="1517904"/>
            <a:ext cx="6400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0">
                <a:solidFill>
                  <a:srgbClr val="6B7A8A"/>
                </a:solidFill>
                <a:latin typeface="PingFang SC"/>
                <a:ea typeface="PingFang SC"/>
              </a:rPr>
              <a:t>W</a:t>
            </a:r>
            <a:r>
              <a:rPr sz="850" b="0" baseline="-25000">
                <a:solidFill>
                  <a:srgbClr val="6B7A8A"/>
                </a:solidFill>
                <a:latin typeface="PingFang SC"/>
                <a:ea typeface="PingFang SC"/>
              </a:rPr>
              <a:t>n+1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049332" y="1737360"/>
            <a:ext cx="85169" cy="402335"/>
          </a:xfrm>
          <a:prstGeom prst="rect">
            <a:avLst/>
          </a:prstGeom>
          <a:solidFill>
            <a:srgbClr val="F6E6A0"/>
          </a:solidFill>
          <a:ln w="9525">
            <a:solidFill>
              <a:srgbClr val="CD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049332" y="2258568"/>
            <a:ext cx="85169" cy="402335"/>
          </a:xfrm>
          <a:prstGeom prst="rect">
            <a:avLst/>
          </a:prstGeom>
          <a:solidFill>
            <a:srgbClr val="F6E6A0"/>
          </a:solidFill>
          <a:ln w="9525">
            <a:solidFill>
              <a:srgbClr val="CD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8049332" y="2980944"/>
            <a:ext cx="85169" cy="292607"/>
          </a:xfrm>
          <a:prstGeom prst="rect">
            <a:avLst/>
          </a:prstGeom>
          <a:solidFill>
            <a:srgbClr val="F6E6A0"/>
          </a:solidFill>
          <a:ln w="9525">
            <a:solidFill>
              <a:srgbClr val="CD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" tIns="0" rIns="9144" bIns="0"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7775012" y="1517904"/>
            <a:ext cx="6400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0">
                <a:solidFill>
                  <a:srgbClr val="6B7A8A"/>
                </a:solidFill>
                <a:latin typeface="PingFang SC"/>
                <a:ea typeface="PingFang SC"/>
              </a:rPr>
              <a:t>W</a:t>
            </a:r>
            <a:r>
              <a:rPr sz="850" b="0" baseline="-25000">
                <a:solidFill>
                  <a:srgbClr val="6B7A8A"/>
                </a:solidFill>
                <a:latin typeface="PingFang SC"/>
                <a:ea typeface="PingFang SC"/>
              </a:rPr>
              <a:t>n+2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5100327" y="2043684"/>
            <a:ext cx="330033" cy="0"/>
          </a:xfrm>
          <a:prstGeom prst="line">
            <a:avLst/>
          </a:prstGeom>
          <a:ln w="15875">
            <a:solidFill>
              <a:srgbClr val="D953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5100327" y="2354580"/>
            <a:ext cx="330033" cy="0"/>
          </a:xfrm>
          <a:prstGeom prst="line">
            <a:avLst/>
          </a:prstGeom>
          <a:ln w="15875">
            <a:solidFill>
              <a:srgbClr val="D953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5100327" y="2564892"/>
            <a:ext cx="330033" cy="0"/>
          </a:xfrm>
          <a:prstGeom prst="line">
            <a:avLst/>
          </a:prstGeom>
          <a:ln w="15875">
            <a:solidFill>
              <a:srgbClr val="D953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7974808" y="1833372"/>
            <a:ext cx="330034" cy="0"/>
          </a:xfrm>
          <a:prstGeom prst="line">
            <a:avLst/>
          </a:prstGeom>
          <a:ln w="15875">
            <a:solidFill>
              <a:srgbClr val="D953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7974808" y="2354580"/>
            <a:ext cx="330034" cy="0"/>
          </a:xfrm>
          <a:prstGeom prst="line">
            <a:avLst/>
          </a:prstGeom>
          <a:ln w="15875">
            <a:solidFill>
              <a:srgbClr val="D953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7974808" y="2564892"/>
            <a:ext cx="330034" cy="0"/>
          </a:xfrm>
          <a:prstGeom prst="line">
            <a:avLst/>
          </a:prstGeom>
          <a:ln w="15875">
            <a:solidFill>
              <a:srgbClr val="D953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2513293" y="3310127"/>
            <a:ext cx="2640264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B1/B2,W</a:t>
            </a:r>
            <a:r>
              <a:rPr sz="800" b="0" baseline="-25000">
                <a:solidFill>
                  <a:srgbClr val="6B7A8A"/>
                </a:solidFill>
                <a:latin typeface="PingFang SC"/>
                <a:ea typeface="PingFang SC"/>
              </a:rPr>
              <a:t>n</a:t>
            </a:r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：上一批的组</a:t>
            </a:r>
          </a:p>
          <a:p>
            <a:pPr algn="ctr"/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（W</a:t>
            </a:r>
            <a:r>
              <a:rPr sz="800" b="0" baseline="-25000">
                <a:solidFill>
                  <a:srgbClr val="6B7A8A"/>
                </a:solidFill>
                <a:latin typeface="PingFang SC"/>
                <a:ea typeface="PingFang SC"/>
              </a:rPr>
              <a:t>n-1</a:t>
            </a:r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 生成，部分续跑到 W</a:t>
            </a:r>
            <a:r>
              <a:rPr sz="800" b="0" baseline="-25000">
                <a:solidFill>
                  <a:srgbClr val="6B7A8A"/>
                </a:solidFill>
                <a:latin typeface="PingFang SC"/>
                <a:ea typeface="PingFang SC"/>
              </a:rPr>
              <a:t>n</a:t>
            </a:r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）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281313" y="3310127"/>
            <a:ext cx="2746726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B1/B2,W</a:t>
            </a:r>
            <a:r>
              <a:rPr sz="800" b="0" baseline="-25000">
                <a:solidFill>
                  <a:srgbClr val="6B7A8A"/>
                </a:solidFill>
                <a:latin typeface="PingFang SC"/>
                <a:ea typeface="PingFang SC"/>
              </a:rPr>
              <a:t>n+1</a:t>
            </a:r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：(1,2,4,5,6) 来自 W</a:t>
            </a:r>
            <a:r>
              <a:rPr sz="800" b="0" baseline="-25000">
                <a:solidFill>
                  <a:srgbClr val="6B7A8A"/>
                </a:solidFill>
                <a:latin typeface="PingFang SC"/>
                <a:ea typeface="PingFang SC"/>
              </a:rPr>
              <a:t>n</a:t>
            </a:r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，(7,8) 跨 W</a:t>
            </a:r>
            <a:r>
              <a:rPr sz="800" b="0" baseline="-25000">
                <a:solidFill>
                  <a:srgbClr val="6B7A8A"/>
                </a:solidFill>
                <a:latin typeface="PingFang SC"/>
                <a:ea typeface="PingFang SC"/>
              </a:rPr>
              <a:t>n</a:t>
            </a:r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、W</a:t>
            </a:r>
            <a:r>
              <a:rPr sz="800" b="0" baseline="-25000">
                <a:solidFill>
                  <a:srgbClr val="6B7A8A"/>
                </a:solidFill>
                <a:latin typeface="PingFang SC"/>
                <a:ea typeface="PingFang SC"/>
              </a:rPr>
              <a:t>n+1</a:t>
            </a:r>
          </a:p>
          <a:p>
            <a:pPr algn="ctr"/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(9) 来自 W</a:t>
            </a:r>
            <a:r>
              <a:rPr sz="800" b="0" baseline="-25000">
                <a:solidFill>
                  <a:srgbClr val="6B7A8A"/>
                </a:solidFill>
                <a:latin typeface="PingFang SC"/>
                <a:ea typeface="PingFang SC"/>
              </a:rPr>
              <a:t>n+1</a:t>
            </a:r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；长尾组 3 没完成，不等它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155794" y="3310127"/>
            <a:ext cx="1171085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取最旧的 3，</a:t>
            </a:r>
          </a:p>
          <a:p>
            <a:pPr algn="ctr"/>
            <a:r>
              <a:rPr sz="800" b="0">
                <a:solidFill>
                  <a:srgbClr val="6B7A8A"/>
                </a:solidFill>
                <a:latin typeface="PingFang SC"/>
                <a:ea typeface="PingFang SC"/>
              </a:rPr>
              <a:t>再取 10–16</a:t>
            </a:r>
          </a:p>
        </p:txBody>
      </p:sp>
      <p:sp>
        <p:nvSpPr>
          <p:cNvPr id="176" name="Oval 175"/>
          <p:cNvSpPr/>
          <p:nvPr/>
        </p:nvSpPr>
        <p:spPr>
          <a:xfrm>
            <a:off x="5450607" y="1522476"/>
            <a:ext cx="192024" cy="192024"/>
          </a:xfrm>
          <a:prstGeom prst="ellipse">
            <a:avLst/>
          </a:prstGeom>
          <a:solidFill>
            <a:srgbClr val="C0504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77" name="Oval 176"/>
          <p:cNvSpPr/>
          <p:nvPr/>
        </p:nvSpPr>
        <p:spPr>
          <a:xfrm>
            <a:off x="5217239" y="2619756"/>
            <a:ext cx="192024" cy="192024"/>
          </a:xfrm>
          <a:prstGeom prst="ellipse">
            <a:avLst/>
          </a:prstGeom>
          <a:solidFill>
            <a:srgbClr val="C0504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78" name="Oval 177"/>
          <p:cNvSpPr/>
          <p:nvPr/>
        </p:nvSpPr>
        <p:spPr>
          <a:xfrm>
            <a:off x="7314546" y="2258568"/>
            <a:ext cx="192024" cy="192024"/>
          </a:xfrm>
          <a:prstGeom prst="ellipse">
            <a:avLst/>
          </a:prstGeom>
          <a:solidFill>
            <a:srgbClr val="C0504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79" name="Oval 178"/>
          <p:cNvSpPr/>
          <p:nvPr/>
        </p:nvSpPr>
        <p:spPr>
          <a:xfrm>
            <a:off x="5483395" y="3031236"/>
            <a:ext cx="192024" cy="192024"/>
          </a:xfrm>
          <a:prstGeom prst="ellipse">
            <a:avLst/>
          </a:prstGeom>
          <a:solidFill>
            <a:srgbClr val="C0504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180" name="Oval 179"/>
          <p:cNvSpPr/>
          <p:nvPr/>
        </p:nvSpPr>
        <p:spPr>
          <a:xfrm>
            <a:off x="7772334" y="1947672"/>
            <a:ext cx="192024" cy="192024"/>
          </a:xfrm>
          <a:prstGeom prst="ellipse">
            <a:avLst/>
          </a:prstGeom>
          <a:solidFill>
            <a:srgbClr val="C0504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181" name="Oval 180"/>
          <p:cNvSpPr/>
          <p:nvPr/>
        </p:nvSpPr>
        <p:spPr>
          <a:xfrm>
            <a:off x="9523476" y="1577340"/>
            <a:ext cx="192024" cy="192024"/>
          </a:xfrm>
          <a:prstGeom prst="ellipse">
            <a:avLst/>
          </a:prstGeom>
          <a:solidFill>
            <a:srgbClr val="C0504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9784080" y="1554480"/>
            <a:ext cx="2011680" cy="42062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每步训练完全局同步权重：所有推理副本一起暂停，中止在飞请求</a:t>
            </a:r>
          </a:p>
        </p:txBody>
      </p:sp>
      <p:sp>
        <p:nvSpPr>
          <p:cNvPr id="183" name="Oval 182"/>
          <p:cNvSpPr/>
          <p:nvPr/>
        </p:nvSpPr>
        <p:spPr>
          <a:xfrm>
            <a:off x="9523476" y="2007107"/>
            <a:ext cx="192024" cy="192024"/>
          </a:xfrm>
          <a:prstGeom prst="ellipse">
            <a:avLst/>
          </a:prstGeom>
          <a:solidFill>
            <a:srgbClr val="C0504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784080" y="1984248"/>
            <a:ext cx="2011680" cy="42062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被中止的请求由 proxy 续跑，每次同步后都要 re-prefill</a:t>
            </a:r>
          </a:p>
        </p:txBody>
      </p:sp>
      <p:sp>
        <p:nvSpPr>
          <p:cNvPr id="185" name="Oval 184"/>
          <p:cNvSpPr/>
          <p:nvPr/>
        </p:nvSpPr>
        <p:spPr>
          <a:xfrm>
            <a:off x="9523476" y="2436875"/>
            <a:ext cx="192024" cy="192024"/>
          </a:xfrm>
          <a:prstGeom prst="ellipse">
            <a:avLst/>
          </a:prstGeom>
          <a:solidFill>
            <a:srgbClr val="C0504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9784080" y="2414015"/>
            <a:ext cx="2011680" cy="42062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长尾组跨同步继续跑；训练先取已完成的组，旧的优先</a:t>
            </a:r>
          </a:p>
        </p:txBody>
      </p:sp>
      <p:sp>
        <p:nvSpPr>
          <p:cNvPr id="187" name="Oval 186"/>
          <p:cNvSpPr/>
          <p:nvPr/>
        </p:nvSpPr>
        <p:spPr>
          <a:xfrm>
            <a:off x="9523476" y="2866644"/>
            <a:ext cx="192024" cy="192024"/>
          </a:xfrm>
          <a:prstGeom prst="ellipse">
            <a:avLst/>
          </a:prstGeom>
          <a:solidFill>
            <a:srgbClr val="C0504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9784080" y="2843784"/>
            <a:ext cx="2011680" cy="42062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训练端要等够一批完成的组（实测约占每步 1/3）</a:t>
            </a:r>
          </a:p>
        </p:txBody>
      </p:sp>
      <p:sp>
        <p:nvSpPr>
          <p:cNvPr id="189" name="Oval 188"/>
          <p:cNvSpPr/>
          <p:nvPr/>
        </p:nvSpPr>
        <p:spPr>
          <a:xfrm>
            <a:off x="9523476" y="3296412"/>
            <a:ext cx="192024" cy="192024"/>
          </a:xfrm>
          <a:prstGeom prst="ellipse">
            <a:avLst/>
          </a:prstGeom>
          <a:solidFill>
            <a:srgbClr val="C0504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9784080" y="3273552"/>
            <a:ext cx="2011680" cy="42062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PingFang SC"/>
                <a:ea typeface="PingFang SC"/>
              </a:rPr>
              <a:t>同步后才提交下一批 prompt，批尾推理会空等</a:t>
            </a:r>
          </a:p>
        </p:txBody>
      </p:sp>
      <p:cxnSp>
        <p:nvCxnSpPr>
          <p:cNvPr id="191" name="Connector 190"/>
          <p:cNvCxnSpPr/>
          <p:nvPr/>
        </p:nvCxnSpPr>
        <p:spPr>
          <a:xfrm>
            <a:off x="457200" y="3858768"/>
            <a:ext cx="11274552" cy="0"/>
          </a:xfrm>
          <a:prstGeom prst="line">
            <a:avLst/>
          </a:prstGeom>
          <a:ln w="12700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457200" y="3913632"/>
            <a:ext cx="548640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1">
                <a:solidFill>
                  <a:srgbClr val="2C6E8F"/>
                </a:solidFill>
                <a:latin typeface="PingFang SC"/>
                <a:ea typeface="PingFang SC"/>
              </a:rPr>
              <a:t>和参考图 (a)–(e) 的区别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457200" y="4297680"/>
            <a:ext cx="2240280" cy="329184"/>
          </a:xfrm>
          <a:prstGeom prst="roundRect">
            <a:avLst>
              <a:gd name="adj" fmla="val 2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1F2933"/>
                </a:solidFill>
                <a:latin typeface="PingFang SC"/>
                <a:ea typeface="PingFang SC"/>
              </a:rPr>
              <a:t>(a) verl 共卡同步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2834640" y="4297680"/>
            <a:ext cx="8915400" cy="3291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PingFang SC"/>
                <a:ea typeface="PingFang SC"/>
              </a:rPr>
              <a:t>我们推理、训练分开并重叠，不再等整批生成完；代价是样本不再严格 on-policy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457200" y="4709160"/>
            <a:ext cx="2240280" cy="329184"/>
          </a:xfrm>
          <a:prstGeom prst="roundRect">
            <a:avLst>
              <a:gd name="adj" fmla="val 2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1F2933"/>
                </a:solidFill>
                <a:latin typeface="PingFang SC"/>
                <a:ea typeface="PingFang SC"/>
              </a:rPr>
              <a:t>(b) one-step staleness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834640" y="4709160"/>
            <a:ext cx="8915400" cy="3291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PingFang SC"/>
                <a:ea typeface="PingFang SC"/>
              </a:rPr>
              <a:t>都提前 1 批；但我们由训练端决定同步时机，不等这一轮生成完，直接中止在飞请求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457200" y="5120640"/>
            <a:ext cx="2240280" cy="329184"/>
          </a:xfrm>
          <a:prstGeom prst="roundRect">
            <a:avLst>
              <a:gd name="adj" fmla="val 2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1F2933"/>
                </a:solidFill>
                <a:latin typeface="PingFang SC"/>
                <a:ea typeface="PingFang SC"/>
              </a:rPr>
              <a:t>(c) stream generation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834640" y="5120640"/>
            <a:ext cx="8915400" cy="3291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PingFang SC"/>
                <a:ea typeface="PingFang SC"/>
              </a:rPr>
              <a:t>都先用先完成的数据；但我们按整步取完成的组，不按 mini-batch 流式，长尾也不挡同步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457200" y="5532120"/>
            <a:ext cx="2240280" cy="329184"/>
          </a:xfrm>
          <a:prstGeom prst="roundRect">
            <a:avLst>
              <a:gd name="adj" fmla="val 25000"/>
            </a:avLst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(d) partial rollout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2834640" y="5532120"/>
            <a:ext cx="8915400" cy="3291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PingFang SC"/>
                <a:ea typeface="PingFang SC"/>
              </a:rPr>
              <a:t>最接近。区别：按 prompt 组取数；续跑在 proxy 层按 token 拼接；新 prompt 每步只补一批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457200" y="5943600"/>
            <a:ext cx="2240280" cy="329184"/>
          </a:xfrm>
          <a:prstGeom prst="roundRect">
            <a:avLst>
              <a:gd name="adj" fmla="val 2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1F2933"/>
                </a:solidFill>
                <a:latin typeface="PingFang SC"/>
                <a:ea typeface="PingFang SC"/>
              </a:rPr>
              <a:t>(e) Laminar w/o repack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2834640" y="5943600"/>
            <a:ext cx="8915400" cy="3291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PingFang SC"/>
                <a:ea typeface="PingFang SC"/>
              </a:rPr>
              <a:t>Laminar 各副本自己换权重、不打断生成，训练不空等；我们每步全体暂停并续跑，训练约 1/3 时间在等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933"/>
                </a:solidFill>
                <a:latin typeface="PingFang SC"/>
              </a:rPr>
              <a:t>每步端到端时间：共卡同步 vs TQ 分离异步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A8A"/>
                </a:solidFill>
                <a:latin typeface="PingFang SC"/>
              </a:rPr>
              <a:t>calc_x · Qwen3-8B · 单机 16 卡昇腾 · 128 runner · 每步 512 条 rollout（batch 128 × n=4）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280160"/>
          <a:ext cx="78181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8412480" y="1280160"/>
            <a:ext cx="3319272" cy="48463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12480" y="1280160"/>
            <a:ext cx="73152" cy="4846320"/>
          </a:xfrm>
          <a:prstGeom prst="rect">
            <a:avLst/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41080" y="1417319"/>
            <a:ext cx="2953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8A"/>
                </a:solidFill>
                <a:latin typeface="PingFang SC"/>
              </a:rPr>
              <a:t>平均每步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1664207"/>
            <a:ext cx="29535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A96A3"/>
                </a:solidFill>
                <a:latin typeface="PingFang SC"/>
              </a:rPr>
              <a:t>314.0</a:t>
            </a:r>
            <a:r>
              <a:rPr sz="1600" b="0">
                <a:solidFill>
                  <a:srgbClr val="6B7A8A"/>
                </a:solidFill>
                <a:latin typeface="PingFang SC"/>
              </a:rPr>
              <a:t> → </a:t>
            </a:r>
            <a:r>
              <a:rPr sz="2200" b="1">
                <a:solidFill>
                  <a:srgbClr val="2C6E8F"/>
                </a:solidFill>
                <a:latin typeface="PingFang SC"/>
              </a:rPr>
              <a:t>247.3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2148839"/>
            <a:ext cx="2953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6E8F"/>
                </a:solidFill>
                <a:latin typeface="PingFang SC"/>
              </a:rPr>
              <a:t>缩短 21%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560320"/>
            <a:ext cx="2953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8A"/>
                </a:solidFill>
                <a:latin typeface="PingFang SC"/>
              </a:rPr>
              <a:t>吞吐（训练用 response token / s）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2807208"/>
            <a:ext cx="29535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A96A3"/>
                </a:solidFill>
                <a:latin typeface="PingFang SC"/>
              </a:rPr>
              <a:t>2229</a:t>
            </a:r>
            <a:r>
              <a:rPr sz="1600" b="0">
                <a:solidFill>
                  <a:srgbClr val="6B7A8A"/>
                </a:solidFill>
                <a:latin typeface="PingFang SC"/>
              </a:rPr>
              <a:t> → </a:t>
            </a:r>
            <a:r>
              <a:rPr sz="2200" b="1">
                <a:solidFill>
                  <a:srgbClr val="2C6E8F"/>
                </a:solidFill>
                <a:latin typeface="PingFang SC"/>
              </a:rPr>
              <a:t>2770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3291840"/>
            <a:ext cx="2953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6E8F"/>
                </a:solidFill>
                <a:latin typeface="PingFang SC"/>
              </a:rPr>
              <a:t>1.24×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749039"/>
            <a:ext cx="29535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PingFang SC"/>
              </a:rPr>
              <a:t>共卡同步：</a:t>
            </a:r>
            <a:r>
              <a:rPr sz="1050" b="0">
                <a:solidFill>
                  <a:srgbClr val="1F2933"/>
                </a:solidFill>
                <a:latin typeface="PingFang SC"/>
              </a:rPr>
              <a:t>每步都要等 512 条 rollout 全部跑完再训练，生成、sleep、训练串行，每步稳定在 294–327 s。</a:t>
            </a:r>
          </a:p>
          <a:p>
            <a:pPr algn="l"/>
            <a:endParaRPr sz="1050" b="0">
              <a:solidFill>
                <a:srgbClr val="1F2933"/>
              </a:solidFill>
              <a:latin typeface="PingFang SC"/>
            </a:endParaRPr>
          </a:p>
          <a:p>
            <a:pPr algn="l"/>
            <a:r>
              <a:rPr sz="1050" b="1">
                <a:solidFill>
                  <a:srgbClr val="1F2933"/>
                </a:solidFill>
                <a:latin typeface="PingFang SC"/>
              </a:rPr>
              <a:t>TQ 分离异步：</a:t>
            </a:r>
            <a:r>
              <a:rPr sz="1050" b="0">
                <a:solidFill>
                  <a:srgbClr val="1F2933"/>
                </a:solidFill>
                <a:latin typeface="PingFang SC"/>
              </a:rPr>
              <a:t>每次权重同步都会中断正在生成的回答。若下一批正有大量组在生成，这批被中断续写、整体变长，训练卡要多等；等它的同时再下一批已基本生成完，下一步几乎不用等。于是每步时间一大一小交替，在 101–440 s 之间，平均仍比共卡短。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8A"/>
                </a:solidFill>
                <a:latin typeface="PingFang SC"/>
              </a:rPr>
              <a:t>每步端到端时间 = 相邻两步 step 日志的时间戳差，含生成、训练、权重同步 / sleep 等全部开销；step 1 含预热，未计入。TQ 分离异步各步为推算值。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F2933"/>
                </a:solidFill>
                <a:latin typeface="PingFang SC"/>
              </a:rPr>
              <a:t>我们解决的问题：性能瓶颈与并发缺陷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A8A"/>
                </a:solidFill>
                <a:latin typeface="PingFang SC"/>
              </a:rPr>
              <a:t>每项列出现象、根因、修复和实测效果。左边两项拖慢了训练和 TQ 读写，右边两组会让数据丢失、训练崩溃或卡死。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4617720" cy="24323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64008" cy="2432304"/>
          </a:xfrm>
          <a:prstGeom prst="rect">
            <a:avLst/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17319"/>
            <a:ext cx="438912" cy="237744"/>
          </a:xfrm>
          <a:prstGeom prst="roundRect">
            <a:avLst/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PingFang SC"/>
              </a:rPr>
              <a:t>性能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71600"/>
            <a:ext cx="370332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F2933"/>
                </a:solidFill>
                <a:latin typeface="PingFang SC"/>
              </a:rPr>
              <a:t>TQ 版 update_actor 异常变慢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37360"/>
            <a:ext cx="4251959" cy="12984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2C6E8F"/>
                </a:solidFill>
                <a:latin typeface="PingFang SC"/>
              </a:rPr>
              <a:t>现象  </a:t>
            </a:r>
            <a:r>
              <a:rPr sz="1000" b="0">
                <a:solidFill>
                  <a:srgbClr val="1F2933"/>
                </a:solidFill>
                <a:latin typeface="PingFang SC"/>
              </a:rPr>
              <a:t>update_actor 72.4 s，无 TQ 只要 56.8 s；batch 512 时 old_log_prob / ref / update_actor 都慢 40%–50%。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000" b="1">
                <a:solidFill>
                  <a:srgbClr val="2C6E8F"/>
                </a:solidFill>
                <a:latin typeface="PingFang SC"/>
              </a:rPr>
              <a:t>根因  </a:t>
            </a:r>
            <a:r>
              <a:rPr sz="1000" b="0">
                <a:solidFill>
                  <a:srgbClr val="1F2933"/>
                </a:solidFill>
                <a:latin typeface="PingFang SC"/>
              </a:rPr>
              <a:t>verl v1 的 _balance_batch 只把数据均分到各 dp rank，不按长度排序。各 rank 同一个 micro-batch 长短不一，FSDP 每个 micro-batch 都要等最慢的 rank。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000" b="1">
                <a:solidFill>
                  <a:srgbClr val="2C6E8F"/>
                </a:solidFill>
                <a:latin typeface="PingFang SC"/>
              </a:rPr>
              <a:t>修复  </a:t>
            </a:r>
            <a:r>
              <a:rPr sz="1000" b="0">
                <a:solidFill>
                  <a:srgbClr val="1F2933"/>
                </a:solidFill>
                <a:latin typeface="PingFang SC"/>
              </a:rPr>
              <a:t>沿用 verl v0 的做法，每个 rank 内按长度排成短-长-短。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99232"/>
            <a:ext cx="4251959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3035808"/>
            <a:ext cx="3977639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C6E8F"/>
                </a:solidFill>
                <a:latin typeface="PingFang SC"/>
              </a:rPr>
              <a:t>72.4 → 55.8 s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A8A"/>
                </a:solidFill>
                <a:latin typeface="PingFang SC"/>
              </a:rPr>
              <a:t>update_actor，与无 TQ（56.6 s）持平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03904"/>
            <a:ext cx="4617720" cy="24323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03904"/>
            <a:ext cx="64008" cy="2432304"/>
          </a:xfrm>
          <a:prstGeom prst="rect">
            <a:avLst/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959352"/>
            <a:ext cx="438912" cy="237744"/>
          </a:xfrm>
          <a:prstGeom prst="roundRect">
            <a:avLst/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PingFang SC"/>
              </a:rPr>
              <a:t>性能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913632"/>
            <a:ext cx="370332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F2933"/>
                </a:solidFill>
                <a:latin typeface="PingFang SC"/>
              </a:rPr>
              <a:t>TQ 每次 put / get 都重新数一遍 CPU 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79392"/>
            <a:ext cx="4251959" cy="12984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2C6E8F"/>
                </a:solidFill>
                <a:latin typeface="PingFang SC"/>
              </a:rPr>
              <a:t>现象  </a:t>
            </a:r>
            <a:r>
              <a:rPr sz="1000" b="0">
                <a:solidFill>
                  <a:srgbClr val="1F2933"/>
                </a:solidFill>
                <a:latin typeface="PingFang SC"/>
              </a:rPr>
              <a:t>storage unit 单次 PUT 从 11 ms 涨到 80–120 ms，单线程忙碌 70%–75%。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000" b="1">
                <a:solidFill>
                  <a:srgbClr val="2C6E8F"/>
                </a:solidFill>
                <a:latin typeface="PingFang SC"/>
              </a:rPr>
              <a:t>根因  </a:t>
            </a:r>
            <a:r>
              <a:rPr sz="1000" b="0">
                <a:solidFill>
                  <a:srgbClr val="1F2933"/>
                </a:solidFill>
                <a:latin typeface="PingFang SC"/>
              </a:rPr>
              <a:t>TQ 每次读写都调用 psutil.cpu_count(logical=False)。node10 有 640 个逻辑核，训练时内核读 sysfs 拓扑互相争用，单次 115 ms。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000" b="1">
                <a:solidFill>
                  <a:srgbClr val="2C6E8F"/>
                </a:solidFill>
                <a:latin typeface="PingFang SC"/>
              </a:rPr>
              <a:t>修复  </a:t>
            </a:r>
            <a:r>
              <a:rPr sz="1000" b="0">
                <a:solidFill>
                  <a:srgbClr val="1F2933"/>
                </a:solidFill>
                <a:latin typeface="PingFang SC"/>
              </a:rPr>
              <a:t>物理核数只算一次并缓存，补丁写进启动脚本。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41264"/>
            <a:ext cx="4251959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5577840"/>
            <a:ext cx="3977639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C6E8F"/>
                </a:solidFill>
                <a:latin typeface="PingFang SC"/>
              </a:rPr>
              <a:t>80–120 ms → 0.11–0.16 ms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A8A"/>
                </a:solidFill>
                <a:latin typeface="PingFang SC"/>
              </a:rPr>
              <a:t>单次 PUT；同配置每步周期 147.4 → 111.5 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1261872"/>
            <a:ext cx="6519672" cy="24323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2080" y="1261872"/>
            <a:ext cx="64008" cy="243230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13248" y="1417319"/>
            <a:ext cx="438912" cy="237744"/>
          </a:xfrm>
          <a:prstGeom prst="round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PingFang SC"/>
              </a:rPr>
              <a:t>并发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371600"/>
            <a:ext cx="5605272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F2933"/>
                </a:solidFill>
                <a:latin typeface="PingFang SC"/>
              </a:rPr>
              <a:t>TQ 写 reward 的并发缺陷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1737360"/>
            <a:ext cx="6153912" cy="18653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F2933"/>
                </a:solidFill>
                <a:latin typeface="PingFang SC"/>
              </a:rPr>
              <a:t>① reward 抢在最后一轮之前：</a:t>
            </a:r>
            <a:r>
              <a:rPr sz="1000" b="0">
                <a:solidFill>
                  <a:srgbClr val="1F2933"/>
                </a:solidFill>
                <a:latin typeface="PingFang SC"/>
              </a:rPr>
              <a:t>turn 经 LiteLLM 的串行日志线程异步写入，reward 由 runner 直接写 store。高负载下组被提前判定完成，trainer 取到写了一半的行而崩溃。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000" b="1">
                <a:solidFill>
                  <a:srgbClr val="C0504D"/>
                </a:solidFill>
                <a:latin typeface="PingFang SC"/>
              </a:rPr>
              <a:t>→ </a:t>
            </a:r>
            <a:r>
              <a:rPr sz="1000" b="0">
                <a:solidFill>
                  <a:srgbClr val="6B7A8A"/>
                </a:solidFill>
                <a:latin typeface="PingFang SC"/>
              </a:rPr>
              <a:t>proxy 写完这一轮才把回答还给 agent，“reward 到齐”即“每轮都已写入”；写失败时清理残留 key。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000" b="1">
                <a:solidFill>
                  <a:srgbClr val="1F2933"/>
                </a:solidFill>
                <a:latin typeface="PingFang SC"/>
              </a:rPr>
              <a:t>② 组完成判定的竞态：</a:t>
            </a:r>
            <a:r>
              <a:rPr sz="1000" b="0">
                <a:solidFill>
                  <a:srgbClr val="1F2933"/>
                </a:solidFill>
                <a:latin typeface="PingFang SC"/>
              </a:rPr>
              <a:t>barrier 晚于 rollout 入队写入；同一 rollout 的多个 reward 被重复计数；正常完成与强制失败跨 await 交错。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000" b="1">
                <a:solidFill>
                  <a:srgbClr val="C0504D"/>
                </a:solidFill>
                <a:latin typeface="PingFang SC"/>
              </a:rPr>
              <a:t>→ </a:t>
            </a:r>
            <a:r>
              <a:rPr sz="1000" b="0">
                <a:solidFill>
                  <a:srgbClr val="6B7A8A"/>
                </a:solidFill>
                <a:latin typeface="PingFang SC"/>
              </a:rPr>
              <a:t>barrier 先于入队写入，按 rollout_id 去重，每个组加锁。replay buffer 不再卡死。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000" b="1">
                <a:solidFill>
                  <a:srgbClr val="1F2933"/>
                </a:solidFill>
                <a:latin typeface="PingFang SC"/>
              </a:rPr>
              <a:t>③ 回写 reward 堵住 storage unit：</a:t>
            </a:r>
            <a:r>
              <a:rPr sz="1000" b="0">
                <a:solidFill>
                  <a:srgbClr val="1F2933"/>
                </a:solidFill>
                <a:latin typeface="PingFang SC"/>
              </a:rPr>
              <a:t>每次回写都把 responses 整条读回来只为取长度，占每步 725 次 GET 中的 512 次。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000" b="1">
                <a:solidFill>
                  <a:srgbClr val="C0504D"/>
                </a:solidFill>
                <a:latin typeface="PingFang SC"/>
              </a:rPr>
              <a:t>→ </a:t>
            </a:r>
            <a:r>
              <a:rPr sz="1000" b="0">
                <a:solidFill>
                  <a:srgbClr val="6B7A8A"/>
                </a:solidFill>
                <a:latin typeface="PingFang SC"/>
              </a:rPr>
              <a:t>改用写入时打的 response_len 标签。同配置每步周期 193.6 → 147.3 s。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3803904"/>
            <a:ext cx="6519672" cy="24323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2080" y="3803904"/>
            <a:ext cx="64008" cy="243230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13248" y="3959352"/>
            <a:ext cx="438912" cy="237744"/>
          </a:xfrm>
          <a:prstGeom prst="round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PingFang SC"/>
              </a:rPr>
              <a:t>并发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913632"/>
            <a:ext cx="5605272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F2933"/>
                </a:solidFill>
                <a:latin typeface="PingFang SC"/>
              </a:rPr>
              <a:t>agent-lightning 与分离异步的并发缺陷（两个分离分支都已修复）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3248" y="4279392"/>
            <a:ext cx="6153912" cy="18653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F2933"/>
                </a:solidFill>
                <a:latin typeface="PingFang SC"/>
              </a:rPr>
              <a:t>① LLM 调用记录晚于 reward：</a:t>
            </a:r>
            <a:r>
              <a:rPr sz="1000" b="0">
                <a:solidFill>
                  <a:srgbClr val="1F2933"/>
                </a:solidFill>
                <a:latin typeface="PingFang SC"/>
              </a:rPr>
              <a:t>无 TQ 时同样存在：span 经 LiteLLM 串行日志队列入库，rollout 一上报就算结束，高并发下最后几轮被静默丢弃。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000" b="1">
                <a:solidFill>
                  <a:srgbClr val="C0504D"/>
                </a:solidFill>
                <a:latin typeface="PingFang SC"/>
              </a:rPr>
              <a:t>→ </a:t>
            </a:r>
            <a:r>
              <a:rPr sz="1000" b="0">
                <a:solidFill>
                  <a:srgbClr val="6B7A8A"/>
                </a:solidFill>
                <a:latin typeface="PingFang SC"/>
              </a:rPr>
              <a:t>每一轮写入并确认之后，才把回答还给 agent。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000" b="1">
                <a:solidFill>
                  <a:srgbClr val="1F2933"/>
                </a:solidFill>
                <a:latin typeface="PingFang SC"/>
              </a:rPr>
              <a:t>② LLM proxy 子进程崩溃无人察觉：</a:t>
            </a:r>
            <a:r>
              <a:rPr sz="1000" b="0">
                <a:solidFill>
                  <a:srgbClr val="1F2933"/>
                </a:solidFill>
                <a:latin typeface="PingFang SC"/>
              </a:rPr>
              <a:t>fork 出的 proxy 继承了 trainer 的 uvloop，高负载下 SIGABRT；存活检查只看启动 / 停止调用，之后 rollout 只有 reward 没有 turn。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000" b="1">
                <a:solidFill>
                  <a:srgbClr val="C0504D"/>
                </a:solidFill>
                <a:latin typeface="PingFang SC"/>
              </a:rPr>
              <a:t>→ </a:t>
            </a:r>
            <a:r>
              <a:rPr sz="1000" b="0">
                <a:solidFill>
                  <a:srgbClr val="6B7A8A"/>
                </a:solidFill>
                <a:latin typeface="PingFang SC"/>
              </a:rPr>
              <a:t>子进程改用默认事件循环；daemon 和 trainer 每步检查 proxy 存活，崩溃时报出退出码。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000" b="1">
                <a:solidFill>
                  <a:srgbClr val="1F2933"/>
                </a:solidFill>
                <a:latin typeface="PingFang SC"/>
              </a:rPr>
              <a:t>③ 权重同步打断生成后从未续写：</a:t>
            </a:r>
            <a:r>
              <a:rPr sz="1000" b="0">
                <a:solidFill>
                  <a:srgbClr val="1F2933"/>
                </a:solidFill>
                <a:latin typeface="PingFang SC"/>
              </a:rPr>
              <a:t>vLLM 返回 abort，LiteLLM 改写成 stop，半截回答被当成完整回答。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000" b="1">
                <a:solidFill>
                  <a:srgbClr val="C0504D"/>
                </a:solidFill>
                <a:latin typeface="PingFang SC"/>
              </a:rPr>
              <a:t>→ </a:t>
            </a:r>
            <a:r>
              <a:rPr sz="1000" b="0">
                <a:solidFill>
                  <a:srgbClr val="6B7A8A"/>
                </a:solidFill>
                <a:latin typeface="PingFang SC"/>
              </a:rPr>
              <a:t>按原始 finish_reason 判断并续写，直发 vLLM。每步 token 回到共卡的 94%–99%。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327648"/>
            <a:ext cx="112471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A8A"/>
                </a:solidFill>
                <a:latin typeface="PingFang SC"/>
              </a:rPr>
              <a:t>效果数据均为 node10 实测（calc_x，Qwen3-8B，128 runner，每步 512 条 rollout）。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952</Words>
  <Application>Microsoft Macintosh PowerPoint</Application>
  <PresentationFormat>Widescreen</PresentationFormat>
  <Paragraphs>264</Paragraphs>
  <Slides>5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PingFang SC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ab21003</cp:lastModifiedBy>
  <cp:revision>6</cp:revision>
  <dcterms:created xsi:type="dcterms:W3CDTF">2013-01-27T09:14:16Z</dcterms:created>
  <dcterms:modified xsi:type="dcterms:W3CDTF">2026-10-15T13:46:46Z</dcterms:modified>
  <cp:category/>
</cp:coreProperties>
</file>