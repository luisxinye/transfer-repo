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62" r:id="rId5"/>
    <p:sldId id="263" r:id="rId6"/>
    <p:sldId id="258" r:id="rId7"/>
    <p:sldId id="264" r:id="rId8"/>
    <p:sldId id="265" r:id="rId9"/>
    <p:sldId id="266" r:id="rId10"/>
    <p:sldId id="26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览" id="{2A7BB7A3-0521-3580-8F84-F8EB4EC2560F}">
          <p14:sldIdLst>
            <p14:sldId id="256"/>
            <p14:sldId id="261"/>
            <p14:sldId id="257"/>
            <p14:sldId id="262"/>
            <p14:sldId id="263"/>
            <p14:sldId id="258"/>
            <p14:sldId id="264"/>
            <p14:sldId id="265"/>
            <p14:sldId id="266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/>
    <p:restoredTop sz="81955"/>
  </p:normalViewPr>
  <p:slideViewPr>
    <p:cSldViewPr snapToGrid="0" snapToObjects="1">
      <p:cViewPr>
        <p:scale>
          <a:sx n="90" d="100"/>
          <a:sy n="90" d="100"/>
        </p:scale>
        <p:origin x="1432" y="256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0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三个问题的结论先行。
1）为什么升级：B2 是运营商式 IP/MPLS，分布式 MPLS-TE 随 LSP 增长撑不住；B4 集中式 TE 的全局控制器是全球故障域，硬件转发表逼近上限；双网并存导致特性做两遍、容量不能互借。新需求来自 Cloud（可执行 SLO、多 region 故障不可接受）和 AI（规模超出单个数据中心）。
2）GGN 是什么：模块化分域（Edge/Core + Edge-Core API）、核心分片（4 个 shard，B4 为 Shard 1）+ 区域化（每 region 独立 TE/BwE）、WBB 多厂商硬件。
3）启示为推断：GGN 本身是控制面/可用性论文，未涉及深缓存、长距 RDMA、集合通信感知拥塞控制。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A9C8-5B67-16C0-97E8-E118A7FC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F1324-E437-7D65-F415-DA37B6834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3E614-841C-6F47-29D9-3D8CC9CA6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IPv6（</a:t>
            </a:r>
            <a:r>
              <a:rPr lang="zh-CN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互联网协议第</a:t>
            </a:r>
            <a:r>
              <a:rPr lang="en-US" altLang="zh-CN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版）是</a:t>
            </a:r>
            <a:r>
              <a:rPr lang="zh-CN" altLang="en-US" dirty="0"/>
              <a:t>用于在互联网上标识设备和路由数据的最新网络层协议。它是为取代地址已耗尽的</a:t>
            </a:r>
            <a:r>
              <a:rPr lang="en-SG" dirty="0"/>
              <a:t>IPv4</a:t>
            </a:r>
            <a:r>
              <a:rPr lang="zh-CN" altLang="en-US" dirty="0"/>
              <a:t>而设计的，将</a:t>
            </a:r>
            <a:r>
              <a:rPr lang="en-SG" dirty="0"/>
              <a:t>IP</a:t>
            </a:r>
            <a:r>
              <a:rPr lang="zh-CN" altLang="en-US" dirty="0"/>
              <a:t>地址长度从</a:t>
            </a:r>
            <a:r>
              <a:rPr lang="en-US" altLang="zh-CN" dirty="0"/>
              <a:t>32</a:t>
            </a:r>
            <a:r>
              <a:rPr lang="zh-CN" altLang="en-US" dirty="0"/>
              <a:t>位扩展至</a:t>
            </a:r>
            <a:r>
              <a:rPr lang="en-US" altLang="zh-CN" dirty="0"/>
              <a:t>128</a:t>
            </a:r>
            <a:r>
              <a:rPr lang="zh-CN" altLang="en-US" dirty="0"/>
              <a:t>位，提供几乎用不完的地址空间。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论文</a:t>
            </a:r>
            <a:r>
              <a:rPr lang="en-US" dirty="0"/>
              <a:t> §2：B2 的 MPLS-TE 控制面受 LSP 增长所困（图 1）；B4 的集中式 TE 扩展性好，但全局控制器是全球故障域（2019 年 GCP 网络事故），硬件表项受限（图 2）。B4 靠垂直扩容（100GE→400GE 芯片）和水平扩容（加 supernode），不足以支撑 Cloud 与 AI/ML 的容量增长。
双网问题：控制面、管理栈、运维流程各一套；B2 与 B4 支持的流量类型、连接的 </a:t>
            </a:r>
            <a:r>
              <a:rPr lang="en-US" dirty="0" err="1"/>
              <a:t>edge、时延都不同，容量无法动态互借</a:t>
            </a:r>
            <a:r>
              <a:rPr lang="en-US" dirty="0"/>
              <a:t>。
新需求：Cloud 客户要求带宽/时延/可用性 SLO、数据主权下的路径控制、按需带宽和线速加密；多 region 故障不可接受。动机中明确写到 ML </a:t>
            </a:r>
            <a:r>
              <a:rPr lang="en-US" dirty="0" err="1"/>
              <a:t>工作负载规模超出单个数据中心</a:t>
            </a:r>
            <a:r>
              <a:rPr lang="en-US" dirty="0"/>
              <a:t>。</a:t>
            </a:r>
          </a:p>
          <a:p>
            <a:endParaRPr lang="en-US" dirty="0"/>
          </a:p>
          <a:p>
            <a:r>
              <a:rPr lang="en-US" dirty="0"/>
              <a:t>┌─────────────┬──────────┬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dirty="0"/>
              <a:t>│             </a:t>
            </a:r>
            <a:r>
              <a:rPr lang="zh-CN" altLang="en-US" dirty="0"/>
              <a:t>                      </a:t>
            </a:r>
            <a:r>
              <a:rPr lang="en-US" dirty="0"/>
              <a:t>│ B2 / B4  </a:t>
            </a:r>
            <a:r>
              <a:rPr lang="zh-CN" altLang="en-US" dirty="0"/>
              <a:t>           </a:t>
            </a:r>
            <a:r>
              <a:rPr lang="en-US" dirty="0"/>
              <a:t>│                              GGN </a:t>
            </a:r>
            <a:r>
              <a:rPr lang="zh-CN" altLang="en-US" dirty="0"/>
              <a:t>的 </a:t>
            </a:r>
            <a:r>
              <a:rPr lang="en-US" altLang="zh-CN" dirty="0"/>
              <a:t>4 </a:t>
            </a:r>
            <a:r>
              <a:rPr lang="zh-CN" altLang="en-US" dirty="0"/>
              <a:t>个 </a:t>
            </a:r>
            <a:r>
              <a:rPr lang="en-US" dirty="0"/>
              <a:t>shard                              </a:t>
            </a:r>
            <a:r>
              <a:rPr lang="zh-CN" altLang="en-US" dirty="0"/>
              <a:t>                                             </a:t>
            </a:r>
            <a:r>
              <a:rPr lang="en-US" dirty="0"/>
              <a:t>│</a:t>
            </a:r>
          </a:p>
          <a:p>
            <a:r>
              <a:rPr lang="en-US" dirty="0"/>
              <a:t>├─────────────┼──────────┼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│ </a:t>
            </a:r>
            <a:r>
              <a:rPr lang="zh-CN" altLang="en-US" dirty="0"/>
              <a:t>流量类型                   │ 各管各的          │ 每个 </a:t>
            </a:r>
            <a:r>
              <a:rPr lang="en-US" dirty="0"/>
              <a:t>shard </a:t>
            </a:r>
            <a:r>
              <a:rPr lang="zh-CN" altLang="en-US" dirty="0"/>
              <a:t>都承载所有类型（按 </a:t>
            </a:r>
            <a:r>
              <a:rPr lang="en-US" dirty="0"/>
              <a:t>Tier </a:t>
            </a:r>
            <a:r>
              <a:rPr lang="zh-CN" altLang="en-US" dirty="0"/>
              <a:t>分优先级）                               │</a:t>
            </a:r>
          </a:p>
          <a:p>
            <a:r>
              <a:rPr lang="zh-CN" altLang="en-US" dirty="0"/>
              <a:t>├─────────────┼──────────┼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zh-CN" altLang="en-US" dirty="0"/>
              <a:t>│ 连接的 </a:t>
            </a:r>
            <a:r>
              <a:rPr lang="en-US" dirty="0"/>
              <a:t>edge </a:t>
            </a:r>
            <a:r>
              <a:rPr lang="zh-CN" altLang="en-US" dirty="0"/>
              <a:t>            </a:t>
            </a:r>
            <a:r>
              <a:rPr lang="en-US" dirty="0"/>
              <a:t>│ </a:t>
            </a:r>
            <a:r>
              <a:rPr lang="zh-CN" altLang="en-US" dirty="0"/>
              <a:t>不一样              │ 每个 </a:t>
            </a:r>
            <a:r>
              <a:rPr lang="en-US" dirty="0" err="1"/>
              <a:t>edge（Compute、CSE、IE</a:t>
            </a:r>
            <a:r>
              <a:rPr lang="en-US" dirty="0"/>
              <a:t>）</a:t>
            </a:r>
            <a:r>
              <a:rPr lang="zh-CN" altLang="en-US" dirty="0"/>
              <a:t>都接到全部 </a:t>
            </a:r>
            <a:r>
              <a:rPr lang="en-US" dirty="0"/>
              <a:t>shard                               │</a:t>
            </a:r>
          </a:p>
          <a:p>
            <a:r>
              <a:rPr lang="en-US" dirty="0"/>
              <a:t>├─────────────┼──────────┼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│ </a:t>
            </a:r>
            <a:r>
              <a:rPr lang="zh-CN" altLang="en-US" dirty="0"/>
              <a:t>统一调度                  │ 没有                   │ 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 Enforcer</a:t>
            </a:r>
            <a:r>
              <a:rPr lang="en-US" dirty="0"/>
              <a:t> </a:t>
            </a:r>
            <a:r>
              <a:rPr lang="zh-CN" altLang="en-US" dirty="0"/>
              <a:t>掌握所有 </a:t>
            </a:r>
            <a:r>
              <a:rPr lang="en-US" dirty="0"/>
              <a:t>shard </a:t>
            </a:r>
            <a:r>
              <a:rPr lang="zh-CN" altLang="en-US" dirty="0"/>
              <a:t>的可用带宽，可以按目的地把流量从一个 </a:t>
            </a:r>
            <a:r>
              <a:rPr lang="en-US" dirty="0"/>
              <a:t>shard </a:t>
            </a:r>
            <a:r>
              <a:rPr lang="zh-CN" altLang="en-US" dirty="0"/>
              <a:t>挪到其他 </a:t>
            </a:r>
            <a:r>
              <a:rPr lang="en-US" dirty="0"/>
              <a:t>shard │</a:t>
            </a:r>
          </a:p>
          <a:p>
            <a:r>
              <a:rPr lang="en-US" dirty="0"/>
              <a:t>├─────────────┼──────────┼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│ </a:t>
            </a:r>
            <a:r>
              <a:rPr lang="zh-CN" altLang="en-US" dirty="0"/>
              <a:t>容量规划                   │ 分开做              │ 统一做：</a:t>
            </a:r>
            <a:r>
              <a:rPr lang="en-US" dirty="0"/>
              <a:t>Tier-0/1 </a:t>
            </a:r>
            <a:r>
              <a:rPr lang="zh-CN" altLang="en-US" dirty="0"/>
              <a:t>按 </a:t>
            </a:r>
            <a:r>
              <a:rPr lang="en-US" dirty="0"/>
              <a:t>N−1 </a:t>
            </a:r>
            <a:r>
              <a:rPr lang="zh-CN" altLang="en-US" dirty="0"/>
              <a:t>规划，低优先级流量机会性地用各 </a:t>
            </a:r>
            <a:r>
              <a:rPr lang="en-US" dirty="0"/>
              <a:t>shard </a:t>
            </a:r>
            <a:r>
              <a:rPr lang="zh-CN" altLang="en-US" dirty="0"/>
              <a:t>的余量         │</a:t>
            </a:r>
          </a:p>
          <a:p>
            <a:r>
              <a:rPr lang="zh-CN" altLang="en-US" dirty="0"/>
              <a:t>└─────────────┴──────────┴─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1F8ED-79AA-309E-5EF2-C4EE7FB9E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42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3D58-3D10-88D7-D491-A8DABA3A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9C115-F05E-D3A0-9C7E-3ACBA7988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B622D-924A-724F-328E-15B2AC09F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16816-1D1D-5297-CA46-90485E90D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41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E8F1E-1EFA-9716-A8DD-9A3F40CA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8A20A-6F7A-3488-079C-D8594A904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2DD27-3DC4-2B2A-4DCE-8D8F7964F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</a:t>
            </a:r>
            <a:r>
              <a:rPr lang="en-US" altLang="zh-CN" dirty="0"/>
              <a:t>“</a:t>
            </a:r>
            <a:r>
              <a:rPr lang="zh-CN" altLang="en-US" dirty="0"/>
              <a:t>二层</a:t>
            </a:r>
            <a:r>
              <a:rPr lang="en-US" altLang="zh-CN" dirty="0"/>
              <a:t>”</a:t>
            </a:r>
            <a:r>
              <a:rPr lang="zh-CN" altLang="en-US" dirty="0"/>
              <a:t>是广域网里按 </a:t>
            </a:r>
            <a:r>
              <a:rPr lang="en-US" dirty="0"/>
              <a:t>L0～L3 </a:t>
            </a:r>
            <a:r>
              <a:rPr lang="zh-CN" altLang="en-US" dirty="0"/>
              <a:t>给网络分层时的第二层：路由器与路由器之间的链路。</a:t>
            </a:r>
            <a:r>
              <a:rPr lang="en-US" altLang="zh-CN" dirty="0"/>
              <a:t>"</a:t>
            </a:r>
            <a:r>
              <a:rPr lang="zh-CN" altLang="en-US" dirty="0"/>
              <a:t>二层及以上</a:t>
            </a:r>
            <a:r>
              <a:rPr lang="en-US" altLang="zh-CN" dirty="0"/>
              <a:t>"</a:t>
            </a:r>
            <a:r>
              <a:rPr lang="zh-CN" altLang="en-US" dirty="0"/>
              <a:t>就是链路、路由器、路由，以及上面的 </a:t>
            </a:r>
            <a:r>
              <a:rPr lang="en-US" dirty="0"/>
              <a:t>SDN </a:t>
            </a:r>
            <a:r>
              <a:rPr lang="zh-CN" altLang="en-US" dirty="0"/>
              <a:t>控制面。不在隔离范围内的，是下面的光纤和光传输（</a:t>
            </a:r>
            <a:r>
              <a:rPr lang="en-US" dirty="0"/>
              <a:t>L0/L1）。</a:t>
            </a:r>
          </a:p>
          <a:p>
            <a:endParaRPr lang="en-US" dirty="0"/>
          </a:p>
          <a:p>
            <a:r>
              <a:rPr lang="zh-CN" altLang="en-US" dirty="0"/>
              <a:t>论文里流量的出发端叫 </a:t>
            </a:r>
            <a:r>
              <a:rPr lang="en-US" dirty="0"/>
              <a:t>Local Edge，</a:t>
            </a:r>
            <a:r>
              <a:rPr lang="zh-CN" altLang="en-US" dirty="0"/>
              <a:t>接收端叫 </a:t>
            </a:r>
            <a:r>
              <a:rPr lang="en-US" dirty="0"/>
              <a:t>Remote Edge。</a:t>
            </a:r>
            <a:r>
              <a:rPr lang="zh-CN" altLang="en-US" dirty="0"/>
              <a:t>流量在 </a:t>
            </a:r>
            <a:r>
              <a:rPr lang="en-US" dirty="0"/>
              <a:t>Local Edge </a:t>
            </a:r>
            <a:r>
              <a:rPr lang="zh-CN" altLang="en-US" dirty="0"/>
              <a:t>拆分到各个 </a:t>
            </a:r>
            <a:r>
              <a:rPr lang="en-US" dirty="0"/>
              <a:t>shard，</a:t>
            </a:r>
            <a:r>
              <a:rPr lang="zh-CN" altLang="en-US" dirty="0"/>
              <a:t>在 </a:t>
            </a:r>
            <a:r>
              <a:rPr lang="en-US" dirty="0"/>
              <a:t>Remote Edge </a:t>
            </a:r>
            <a:r>
              <a:rPr lang="zh-CN" altLang="en-US" dirty="0"/>
              <a:t>汇合。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F3EC1-7445-6792-3C9C-DD46F008A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02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左图：核心网被复制成 4 个 shard（行），每个 shard 内部再按 Global Core / Regional Core 切成控制域（格）；每格有独立 TE/BwE。Shard 1 是原 B4，Shard 2~4 新建且从一开始就区域化；Shard 1 仍在逐步区域化（53% 的 region 已完成）。
Edge 域不分片，每个 edge 经独立 L1 链路接入全部 shard；源端 edge 按流 ECMP 拆分，目的端汇合。SE（Shard Enforcer）在 edge 的 BwE 控制面里，用 target prefix + BGP 递归解析按目的集群停用某个 shard。
隔离：路由器及以上严格隔离，L0/L1（光纤、光传输系统）尽量隔离，海缆等共用。
WBB：抽象 SKU（转发能力、吞吐、功耗），WBB-XL（16 槽机框）用于最大数据中心、WBB-S 用于 peering 站点；开放接口 gNMI/gNOI/gRIBI。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F505-77AB-4112-67B7-2BEF4A6E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5707F-419A-AA11-1289-1526F113C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B684C-0264-D8AF-1907-275A9F7D8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</a:t>
            </a:r>
            <a:r>
              <a:rPr lang="en-US" altLang="zh-CN" dirty="0"/>
              <a:t>“</a:t>
            </a:r>
            <a:r>
              <a:rPr lang="zh-CN" altLang="en-US" dirty="0"/>
              <a:t>二层</a:t>
            </a:r>
            <a:r>
              <a:rPr lang="en-US" altLang="zh-CN" dirty="0"/>
              <a:t>”</a:t>
            </a:r>
            <a:r>
              <a:rPr lang="zh-CN" altLang="en-US" dirty="0"/>
              <a:t>是广域网里按 </a:t>
            </a:r>
            <a:r>
              <a:rPr lang="en-US" dirty="0"/>
              <a:t>L0～L3 </a:t>
            </a:r>
            <a:r>
              <a:rPr lang="zh-CN" altLang="en-US" dirty="0"/>
              <a:t>给网络分层时的第二层：路由器与路由器之间的链路。</a:t>
            </a:r>
            <a:r>
              <a:rPr lang="en-US" altLang="zh-CN" dirty="0"/>
              <a:t>"</a:t>
            </a:r>
            <a:r>
              <a:rPr lang="zh-CN" altLang="en-US" dirty="0"/>
              <a:t>二层及以上</a:t>
            </a:r>
            <a:r>
              <a:rPr lang="en-US" altLang="zh-CN" dirty="0"/>
              <a:t>"</a:t>
            </a:r>
            <a:r>
              <a:rPr lang="zh-CN" altLang="en-US" dirty="0"/>
              <a:t>就是链路、路由器、路由，以及上面的 </a:t>
            </a:r>
            <a:r>
              <a:rPr lang="en-US" dirty="0"/>
              <a:t>SDN </a:t>
            </a:r>
            <a:r>
              <a:rPr lang="zh-CN" altLang="en-US" dirty="0"/>
              <a:t>控制面。不在隔离范围内的，是下面的光纤和光传输（</a:t>
            </a:r>
            <a:r>
              <a:rPr lang="en-US" dirty="0"/>
              <a:t>L0/L1）。</a:t>
            </a:r>
          </a:p>
          <a:p>
            <a:endParaRPr lang="en-US" dirty="0"/>
          </a:p>
          <a:p>
            <a:r>
              <a:rPr lang="zh-CN" altLang="en-US" dirty="0"/>
              <a:t>论文里流量的出发端叫 </a:t>
            </a:r>
            <a:r>
              <a:rPr lang="en-US" dirty="0"/>
              <a:t>Local Edge，</a:t>
            </a:r>
            <a:r>
              <a:rPr lang="zh-CN" altLang="en-US" dirty="0"/>
              <a:t>接收端叫 </a:t>
            </a:r>
            <a:r>
              <a:rPr lang="en-US" dirty="0"/>
              <a:t>Remote Edge。</a:t>
            </a:r>
            <a:r>
              <a:rPr lang="zh-CN" altLang="en-US" dirty="0"/>
              <a:t>流量在 </a:t>
            </a:r>
            <a:r>
              <a:rPr lang="en-US" dirty="0"/>
              <a:t>Local Edge </a:t>
            </a:r>
            <a:r>
              <a:rPr lang="zh-CN" altLang="en-US" dirty="0"/>
              <a:t>拆分到各个 </a:t>
            </a:r>
            <a:r>
              <a:rPr lang="en-US" dirty="0"/>
              <a:t>shard，</a:t>
            </a:r>
            <a:r>
              <a:rPr lang="zh-CN" altLang="en-US" dirty="0"/>
              <a:t>在 </a:t>
            </a:r>
            <a:r>
              <a:rPr lang="en-US" dirty="0"/>
              <a:t>Remote Edge </a:t>
            </a:r>
            <a:r>
              <a:rPr lang="zh-CN" altLang="en-US" dirty="0"/>
              <a:t>汇合。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7AF1B-1732-D162-DE70-06A42BA57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46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D80C-56F7-B2AD-33A6-615A6689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00B03-538C-F360-BC16-B909CB4C3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B23FC-4934-5442-7999-14D4F1F03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</a:t>
            </a:r>
            <a:r>
              <a:rPr lang="en-US" altLang="zh-CN" dirty="0"/>
              <a:t>“</a:t>
            </a:r>
            <a:r>
              <a:rPr lang="zh-CN" altLang="en-US" dirty="0"/>
              <a:t>二层</a:t>
            </a:r>
            <a:r>
              <a:rPr lang="en-US" altLang="zh-CN" dirty="0"/>
              <a:t>”</a:t>
            </a:r>
            <a:r>
              <a:rPr lang="zh-CN" altLang="en-US" dirty="0"/>
              <a:t>是广域网里按 </a:t>
            </a:r>
            <a:r>
              <a:rPr lang="en-US" dirty="0"/>
              <a:t>L0～L3 </a:t>
            </a:r>
            <a:r>
              <a:rPr lang="zh-CN" altLang="en-US" dirty="0"/>
              <a:t>给网络分层时的第二层：路由器与路由器之间的链路。</a:t>
            </a:r>
            <a:r>
              <a:rPr lang="en-US" altLang="zh-CN" dirty="0"/>
              <a:t>"</a:t>
            </a:r>
            <a:r>
              <a:rPr lang="zh-CN" altLang="en-US" dirty="0"/>
              <a:t>二层及以上</a:t>
            </a:r>
            <a:r>
              <a:rPr lang="en-US" altLang="zh-CN" dirty="0"/>
              <a:t>"</a:t>
            </a:r>
            <a:r>
              <a:rPr lang="zh-CN" altLang="en-US" dirty="0"/>
              <a:t>就是链路、路由器、路由，以及上面的 </a:t>
            </a:r>
            <a:r>
              <a:rPr lang="en-US" dirty="0"/>
              <a:t>SDN </a:t>
            </a:r>
            <a:r>
              <a:rPr lang="zh-CN" altLang="en-US" dirty="0"/>
              <a:t>控制面。不在隔离范围内的，是下面的光纤和光传输（</a:t>
            </a:r>
            <a:r>
              <a:rPr lang="en-US" dirty="0"/>
              <a:t>L0/L1）。</a:t>
            </a:r>
          </a:p>
          <a:p>
            <a:endParaRPr lang="en-US" dirty="0"/>
          </a:p>
          <a:p>
            <a:r>
              <a:rPr lang="zh-CN" altLang="en-US" dirty="0"/>
              <a:t>论文里流量的出发端叫 </a:t>
            </a:r>
            <a:r>
              <a:rPr lang="en-US" dirty="0"/>
              <a:t>Local Edge，</a:t>
            </a:r>
            <a:r>
              <a:rPr lang="zh-CN" altLang="en-US" dirty="0"/>
              <a:t>接收端叫 </a:t>
            </a:r>
            <a:r>
              <a:rPr lang="en-US" dirty="0"/>
              <a:t>Remote Edge。</a:t>
            </a:r>
            <a:r>
              <a:rPr lang="zh-CN" altLang="en-US" dirty="0"/>
              <a:t>流量在 </a:t>
            </a:r>
            <a:r>
              <a:rPr lang="en-US" dirty="0"/>
              <a:t>Local Edge </a:t>
            </a:r>
            <a:r>
              <a:rPr lang="zh-CN" altLang="en-US" dirty="0"/>
              <a:t>拆分到各个 </a:t>
            </a:r>
            <a:r>
              <a:rPr lang="en-US" dirty="0"/>
              <a:t>shard，</a:t>
            </a:r>
            <a:r>
              <a:rPr lang="zh-CN" altLang="en-US" dirty="0"/>
              <a:t>在 </a:t>
            </a:r>
            <a:r>
              <a:rPr lang="en-US" dirty="0"/>
              <a:t>Remote Edge </a:t>
            </a:r>
            <a:r>
              <a:rPr lang="zh-CN" altLang="en-US" dirty="0"/>
              <a:t>汇合。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4EFD2-8E20-2C5E-79E5-90D8BBE7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89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E187A-6772-C32C-4782-C990AD8C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45C67-B0A9-B6B6-428E-5BA082AE5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73D32-EBF5-2751-16B7-3C979A7B2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</a:t>
            </a:r>
            <a:r>
              <a:rPr lang="en-US" altLang="zh-CN" dirty="0"/>
              <a:t>“</a:t>
            </a:r>
            <a:r>
              <a:rPr lang="zh-CN" altLang="en-US" dirty="0"/>
              <a:t>二层</a:t>
            </a:r>
            <a:r>
              <a:rPr lang="en-US" altLang="zh-CN" dirty="0"/>
              <a:t>”</a:t>
            </a:r>
            <a:r>
              <a:rPr lang="zh-CN" altLang="en-US" dirty="0"/>
              <a:t>是广域网里按 </a:t>
            </a:r>
            <a:r>
              <a:rPr lang="en-US" dirty="0"/>
              <a:t>L0～L3 </a:t>
            </a:r>
            <a:r>
              <a:rPr lang="zh-CN" altLang="en-US" dirty="0"/>
              <a:t>给网络分层时的第二层：路由器与路由器之间的链路。</a:t>
            </a:r>
            <a:r>
              <a:rPr lang="en-US" altLang="zh-CN" dirty="0"/>
              <a:t>"</a:t>
            </a:r>
            <a:r>
              <a:rPr lang="zh-CN" altLang="en-US" dirty="0"/>
              <a:t>二层及以上</a:t>
            </a:r>
            <a:r>
              <a:rPr lang="en-US" altLang="zh-CN" dirty="0"/>
              <a:t>"</a:t>
            </a:r>
            <a:r>
              <a:rPr lang="zh-CN" altLang="en-US" dirty="0"/>
              <a:t>就是链路、路由器、路由，以及上面的 </a:t>
            </a:r>
            <a:r>
              <a:rPr lang="en-US" dirty="0"/>
              <a:t>SDN </a:t>
            </a:r>
            <a:r>
              <a:rPr lang="zh-CN" altLang="en-US" dirty="0"/>
              <a:t>控制面。不在隔离范围内的，是下面的光纤和光传输（</a:t>
            </a:r>
            <a:r>
              <a:rPr lang="en-US" dirty="0"/>
              <a:t>L0/L1）。</a:t>
            </a:r>
          </a:p>
          <a:p>
            <a:endParaRPr lang="en-US" dirty="0"/>
          </a:p>
          <a:p>
            <a:r>
              <a:rPr lang="zh-CN" altLang="en-US" dirty="0"/>
              <a:t>论文里流量的出发端叫 </a:t>
            </a:r>
            <a:r>
              <a:rPr lang="en-US" dirty="0"/>
              <a:t>Local Edge，</a:t>
            </a:r>
            <a:r>
              <a:rPr lang="zh-CN" altLang="en-US" dirty="0"/>
              <a:t>接收端叫 </a:t>
            </a:r>
            <a:r>
              <a:rPr lang="en-US" dirty="0"/>
              <a:t>Remote Edge。</a:t>
            </a:r>
            <a:r>
              <a:rPr lang="zh-CN" altLang="en-US" dirty="0"/>
              <a:t>流量在 </a:t>
            </a:r>
            <a:r>
              <a:rPr lang="en-US" dirty="0"/>
              <a:t>Local Edge </a:t>
            </a:r>
            <a:r>
              <a:rPr lang="zh-CN" altLang="en-US" dirty="0"/>
              <a:t>拆分到各个 </a:t>
            </a:r>
            <a:r>
              <a:rPr lang="en-US" dirty="0"/>
              <a:t>shard，</a:t>
            </a:r>
            <a:r>
              <a:rPr lang="zh-CN" altLang="en-US" dirty="0"/>
              <a:t>在 </a:t>
            </a:r>
            <a:r>
              <a:rPr lang="en-US" dirty="0"/>
              <a:t>Remote Edge </a:t>
            </a:r>
            <a:r>
              <a:rPr lang="zh-CN" altLang="en-US" dirty="0"/>
              <a:t>汇合。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7DA72-7FB8-3200-B604-14CC9718B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64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左栏（由 GGN 推导）：
· 多平面：GGN 按 N−1 只保护 Tier-0/1；4 个 shard 时容量 1.33 倍超配。训练同步流量若算 Tier-2（高带宽、时延不敏感），单个 shard 故障时损失约 1/4 带宽，同步训练整体变慢。
· 光层：GGN 只在路由器及以上严格隔离，海缆、光传输系统共用；历史事故中共用光层的故障出于成本考虑不打算完全隔离。metro 距离的陆缆做路由多样性比海缆便宜得多。
· 开放接口：WBB 的抽象 SKU + gNMI/gNOI/gRIBI；部署规则是任一厂商 bug 不影响全部 shard。GGN 最近约每 2 周新增一张 2019 年规模的 B4。
· 表项：B4 受硬件表项限制，Tree Tunnels 把隧道和 FIB 表项减少最多 90%；SE 受 WCMP 组数限制，一次只能停一个 shard、只能为 50% 远端 edge 编程独立状态；ECMP 下观测到 6% 不均衡。
右栏（GGN 未涉及，来自公开资料）：
· 在途数据量 = 带宽 × RTT；光纤约 5 µs/km。800 Gbps × 1 ms = 100 MB；× 5 ms = 500 MB。深缓存芯片如 Broadcom Jericho4、Cisco Silicon One P200（HBM）。
· 长距 RDMA：PFC 暂停信号跨 100 km 需 0.5 ms，下游需约 100 MB 余量；分段方案如 MatchRDMA（arXiv 2604.23932）。
· 拥塞控制：NVIDIA Spectrum-XGS 的距离自适应拥塞控制；Cisco 主张利用集合通信的重复性提前调度，深缓存作安全网。
· 光模块：Cisco（The Register，2026.10）估算 scale-across 带宽约为常规 DCI 的 14 倍，两个 100 MW 站点需 1.2~3.2 万个相干端口（常规 DCI 约 1~2 千）。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943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zh-CN" alt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zh-CN" alt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zh-CN" alt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zh-CN" alt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zh-CN" alt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zh-CN" alt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chemeClr val="accent6"/>
                </a:solidFill>
              </a:rPr>
              <a:t>来源：Al-Fares et al., GGN, ACM SIGCOMM 2026</a:t>
            </a:r>
            <a:endParaRPr lang="zh-CN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792" y="2468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4400" b="1" dirty="0">
                <a:solidFill>
                  <a:schemeClr val="bg1"/>
                </a:solidFill>
              </a:rPr>
              <a:t>从 B2/B4 到 GGN</a:t>
            </a:r>
            <a:endParaRPr lang="zh-CN" alt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792" y="3429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000" dirty="0">
                <a:solidFill>
                  <a:schemeClr val="accent4"/>
                </a:solidFill>
              </a:rPr>
              <a:t>Google 骨干网重构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E15E-BA1E-72FC-C209-A81CE733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BB9F6E-C19F-547C-5E8F-013A6F9A5CB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chemeClr val="tx1"/>
                </a:solidFill>
              </a:rPr>
              <a:t>为什么要把 B2/B4 升级为 GGN</a:t>
            </a:r>
            <a:endParaRPr lang="zh-CN" altLang="en-US" sz="3600" dirty="0"/>
          </a:p>
        </p:txBody>
      </p:sp>
      <p:sp>
        <p:nvSpPr>
          <p:cNvPr id="3" name="legacy card 1">
            <a:extLst>
              <a:ext uri="{FF2B5EF4-FFF2-40B4-BE49-F238E27FC236}">
                <a16:creationId xmlns:a16="http://schemas.microsoft.com/office/drawing/2014/main" id="{1C00FB87-F1CE-E944-C7F9-A76EF762A311}"/>
              </a:ext>
            </a:extLst>
          </p:cNvPr>
          <p:cNvSpPr/>
          <p:nvPr/>
        </p:nvSpPr>
        <p:spPr>
          <a:xfrm>
            <a:off x="548640" y="1280160"/>
            <a:ext cx="348477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2：公网骨干 circle">
            <a:extLst>
              <a:ext uri="{FF2B5EF4-FFF2-40B4-BE49-F238E27FC236}">
                <a16:creationId xmlns:a16="http://schemas.microsoft.com/office/drawing/2014/main" id="{945C7597-140A-ED76-F7D4-665EF152494B}"/>
              </a:ext>
            </a:extLst>
          </p:cNvPr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B2：公网骨干 icon" descr="B2：公网骨干">
            <a:extLst>
              <a:ext uri="{FF2B5EF4-FFF2-40B4-BE49-F238E27FC236}">
                <a16:creationId xmlns:a16="http://schemas.microsoft.com/office/drawing/2014/main" id="{16C3708D-D720-77B5-7ABE-F538DFD29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675181"/>
            <a:ext cx="307238" cy="30723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62792E1-C72E-C796-BEB8-641315E5DD0F}"/>
              </a:ext>
            </a:extLst>
          </p:cNvPr>
          <p:cNvSpPr txBox="1"/>
          <p:nvPr/>
        </p:nvSpPr>
        <p:spPr>
          <a:xfrm>
            <a:off x="1508760" y="150876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B2：公网骨干</a:t>
            </a:r>
            <a:endParaRPr lang="zh-CN" alt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D8C4D0F-C454-BCA8-AD9B-F43D08994BB2}"/>
              </a:ext>
            </a:extLst>
          </p:cNvPr>
          <p:cNvSpPr txBox="1"/>
          <p:nvPr/>
        </p:nvSpPr>
        <p:spPr>
          <a:xfrm>
            <a:off x="1508760" y="187452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传统运营商风格</a:t>
            </a:r>
            <a:r>
              <a:rPr lang="en-SG" altLang="zh-CN" sz="1200" dirty="0">
                <a:solidFill>
                  <a:schemeClr val="accent6"/>
                </a:solidFill>
              </a:rPr>
              <a:t>IP/MPLS</a:t>
            </a:r>
            <a:r>
              <a:rPr lang="zh-CN" altLang="en-US" sz="1200" dirty="0">
                <a:solidFill>
                  <a:schemeClr val="accent6"/>
                </a:solidFill>
              </a:rPr>
              <a:t>网络，处理面向普通用户的互联网流量；</a:t>
            </a:r>
            <a:endParaRPr lang="zh-CN" alt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8E525A3-170B-519F-FACC-D8CF9BBA0E3E}"/>
              </a:ext>
            </a:extLst>
          </p:cNvPr>
          <p:cNvSpPr txBox="1"/>
          <p:nvPr/>
        </p:nvSpPr>
        <p:spPr>
          <a:xfrm>
            <a:off x="822960" y="2331720"/>
            <a:ext cx="29361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LSP 数量随网络扩张持续增长，分布式 MPLS-TE 控制面逼近扩展上限</a:t>
            </a:r>
            <a:endParaRPr lang="zh-CN" altLang="en-US" sz="1600" dirty="0"/>
          </a:p>
        </p:txBody>
      </p:sp>
      <p:sp>
        <p:nvSpPr>
          <p:cNvPr id="9" name="legacy card 2">
            <a:extLst>
              <a:ext uri="{FF2B5EF4-FFF2-40B4-BE49-F238E27FC236}">
                <a16:creationId xmlns:a16="http://schemas.microsoft.com/office/drawing/2014/main" id="{A852C6DE-2F5D-B0F6-D785-DCA093A923C6}"/>
              </a:ext>
            </a:extLst>
          </p:cNvPr>
          <p:cNvSpPr/>
          <p:nvPr/>
        </p:nvSpPr>
        <p:spPr>
          <a:xfrm>
            <a:off x="4353458" y="1280160"/>
            <a:ext cx="348477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B4：DC 间 SDN 骨干 circle">
            <a:extLst>
              <a:ext uri="{FF2B5EF4-FFF2-40B4-BE49-F238E27FC236}">
                <a16:creationId xmlns:a16="http://schemas.microsoft.com/office/drawing/2014/main" id="{A9612CEF-9324-A324-4207-E114B696A958}"/>
              </a:ext>
            </a:extLst>
          </p:cNvPr>
          <p:cNvSpPr/>
          <p:nvPr/>
        </p:nvSpPr>
        <p:spPr>
          <a:xfrm>
            <a:off x="4627778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B4：DC 间 SDN 骨干 icon" descr="B4：DC 间 SDN 骨干">
            <a:extLst>
              <a:ext uri="{FF2B5EF4-FFF2-40B4-BE49-F238E27FC236}">
                <a16:creationId xmlns:a16="http://schemas.microsoft.com/office/drawing/2014/main" id="{513E0FE9-C959-00AF-A141-E87B6D8CB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1675181"/>
            <a:ext cx="307238" cy="307238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8CF7FC0E-463D-26B9-36AF-DD0570BE0E44}"/>
              </a:ext>
            </a:extLst>
          </p:cNvPr>
          <p:cNvSpPr txBox="1"/>
          <p:nvPr/>
        </p:nvSpPr>
        <p:spPr>
          <a:xfrm>
            <a:off x="5313578" y="150876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B4：软件定义广域网</a:t>
            </a:r>
            <a:endParaRPr lang="zh-CN" altLang="en-US" sz="18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7F92954-0799-16AB-CD42-5A614610B805}"/>
              </a:ext>
            </a:extLst>
          </p:cNvPr>
          <p:cNvSpPr txBox="1"/>
          <p:nvPr/>
        </p:nvSpPr>
        <p:spPr>
          <a:xfrm>
            <a:off x="5313578" y="187452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集中式 </a:t>
            </a:r>
            <a:r>
              <a:rPr lang="en-SG" altLang="zh-CN" sz="1200" dirty="0">
                <a:solidFill>
                  <a:schemeClr val="accent6"/>
                </a:solidFill>
              </a:rPr>
              <a:t>SDN</a:t>
            </a:r>
            <a:r>
              <a:rPr lang="zh-CN" altLang="en-US" sz="1200" dirty="0">
                <a:solidFill>
                  <a:schemeClr val="accent6"/>
                </a:solidFill>
              </a:rPr>
              <a:t> 控制器，自研硬件</a:t>
            </a:r>
            <a:endParaRPr lang="zh-CN" altLang="en-US" sz="1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FFBBBD0-8259-D717-8D03-AAA87DA520F6}"/>
              </a:ext>
            </a:extLst>
          </p:cNvPr>
          <p:cNvSpPr txBox="1"/>
          <p:nvPr/>
        </p:nvSpPr>
        <p:spPr>
          <a:xfrm>
            <a:off x="4627778" y="2331720"/>
            <a:ext cx="29361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全局控制器的 bug 可影响全球；依靠升级更强硬件、增加节点实现扩容</a:t>
            </a:r>
            <a:endParaRPr lang="zh-CN" altLang="en-US" sz="1600" dirty="0"/>
          </a:p>
        </p:txBody>
      </p:sp>
      <p:sp>
        <p:nvSpPr>
          <p:cNvPr id="15" name="legacy card 3">
            <a:extLst>
              <a:ext uri="{FF2B5EF4-FFF2-40B4-BE49-F238E27FC236}">
                <a16:creationId xmlns:a16="http://schemas.microsoft.com/office/drawing/2014/main" id="{0892533C-CABD-55AA-7162-57F7DEE61070}"/>
              </a:ext>
            </a:extLst>
          </p:cNvPr>
          <p:cNvSpPr/>
          <p:nvPr/>
        </p:nvSpPr>
        <p:spPr>
          <a:xfrm>
            <a:off x="8158277" y="1280160"/>
            <a:ext cx="348477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两张网并存 circle">
            <a:extLst>
              <a:ext uri="{FF2B5EF4-FFF2-40B4-BE49-F238E27FC236}">
                <a16:creationId xmlns:a16="http://schemas.microsoft.com/office/drawing/2014/main" id="{BE978616-B07D-1AC2-186B-E33102E07003}"/>
              </a:ext>
            </a:extLst>
          </p:cNvPr>
          <p:cNvSpPr/>
          <p:nvPr/>
        </p:nvSpPr>
        <p:spPr>
          <a:xfrm>
            <a:off x="8432597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两张网并存 icon" descr="两张网并存">
            <a:extLst>
              <a:ext uri="{FF2B5EF4-FFF2-40B4-BE49-F238E27FC236}">
                <a16:creationId xmlns:a16="http://schemas.microsoft.com/office/drawing/2014/main" id="{552690D9-DDFD-BC9D-A017-823A140A2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298" y="1675181"/>
            <a:ext cx="307238" cy="30723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F4A0608B-6528-582D-B5EE-D7431FB5BF17}"/>
              </a:ext>
            </a:extLst>
          </p:cNvPr>
          <p:cNvSpPr txBox="1"/>
          <p:nvPr/>
        </p:nvSpPr>
        <p:spPr>
          <a:xfrm>
            <a:off x="9118397" y="150876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两张网并存</a:t>
            </a:r>
            <a:endParaRPr lang="zh-CN" altLang="en-US" sz="18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DD487E1-3A0E-8B10-87F9-401420D34BFC}"/>
              </a:ext>
            </a:extLst>
          </p:cNvPr>
          <p:cNvSpPr txBox="1"/>
          <p:nvPr/>
        </p:nvSpPr>
        <p:spPr>
          <a:xfrm>
            <a:off x="9118397" y="187452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两套控制面、管理系统、运维流程</a:t>
            </a:r>
            <a:endParaRPr lang="zh-CN" altLang="en-US" sz="1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4E40E60-069D-C858-7DD3-0E299A8062FF}"/>
              </a:ext>
            </a:extLst>
          </p:cNvPr>
          <p:cNvSpPr txBox="1"/>
          <p:nvPr/>
        </p:nvSpPr>
        <p:spPr>
          <a:xfrm>
            <a:off x="8432597" y="2331720"/>
            <a:ext cx="29361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IPv6、新 QoS 等特性要开发两遍；容量不能互借，海缆中断时一张网拥塞、另一张闲置</a:t>
            </a:r>
            <a:endParaRPr lang="zh-CN" altLang="en-US" sz="1600" dirty="0"/>
          </a:p>
        </p:txBody>
      </p:sp>
      <p:sp>
        <p:nvSpPr>
          <p:cNvPr id="21" name="requirements card">
            <a:extLst>
              <a:ext uri="{FF2B5EF4-FFF2-40B4-BE49-F238E27FC236}">
                <a16:creationId xmlns:a16="http://schemas.microsoft.com/office/drawing/2014/main" id="{B12D9E21-6338-36E5-45AD-D24C8F7D0E53}"/>
              </a:ext>
            </a:extLst>
          </p:cNvPr>
          <p:cNvSpPr/>
          <p:nvPr/>
        </p:nvSpPr>
        <p:spPr>
          <a:xfrm>
            <a:off x="548640" y="4069080"/>
            <a:ext cx="50292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D9138A2-9924-6E69-C20E-0CE8EE340BE9}"/>
              </a:ext>
            </a:extLst>
          </p:cNvPr>
          <p:cNvSpPr txBox="1"/>
          <p:nvPr/>
        </p:nvSpPr>
        <p:spPr>
          <a:xfrm>
            <a:off x="82296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accent1"/>
                </a:solidFill>
              </a:rPr>
              <a:t>新需求</a:t>
            </a:r>
            <a:endParaRPr lang="zh-CN" altLang="en-US" sz="1800" dirty="0"/>
          </a:p>
        </p:txBody>
      </p:sp>
      <p:sp>
        <p:nvSpPr>
          <p:cNvPr id="23" name="Cloud 客户 circle">
            <a:extLst>
              <a:ext uri="{FF2B5EF4-FFF2-40B4-BE49-F238E27FC236}">
                <a16:creationId xmlns:a16="http://schemas.microsoft.com/office/drawing/2014/main" id="{58208919-2CA5-744F-8DA9-1205AE841762}"/>
              </a:ext>
            </a:extLst>
          </p:cNvPr>
          <p:cNvSpPr/>
          <p:nvPr/>
        </p:nvSpPr>
        <p:spPr>
          <a:xfrm>
            <a:off x="822960" y="4754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Cloud 客户 icon" descr="Cloud 客户">
            <a:extLst>
              <a:ext uri="{FF2B5EF4-FFF2-40B4-BE49-F238E27FC236}">
                <a16:creationId xmlns:a16="http://schemas.microsoft.com/office/drawing/2014/main" id="{06A5F840-7904-BC91-D54E-9D28452AC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486" y="4845406"/>
            <a:ext cx="230429" cy="230429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3616F03A-C72E-1E61-C1CC-CF3E8CCCB9CC}"/>
              </a:ext>
            </a:extLst>
          </p:cNvPr>
          <p:cNvSpPr txBox="1"/>
          <p:nvPr/>
        </p:nvSpPr>
        <p:spPr>
          <a:xfrm>
            <a:off x="1417320" y="47091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400" b="1" dirty="0">
                <a:solidFill>
                  <a:schemeClr val="tx1"/>
                </a:solidFill>
              </a:rPr>
              <a:t>Cloud 客户  </a:t>
            </a:r>
            <a:r>
              <a:rPr lang="zh-CN" altLang="en-US" sz="1400" dirty="0"/>
              <a:t>把网络当成自己的业务，要求明确的 </a:t>
            </a:r>
            <a:r>
              <a:rPr lang="en-SG" sz="1400" dirty="0"/>
              <a:t>SLO、</a:t>
            </a:r>
            <a:r>
              <a:rPr lang="zh-CN" altLang="en-US" sz="1400" dirty="0"/>
              <a:t>可预测的带宽、延迟和可用性</a:t>
            </a:r>
            <a:r>
              <a:rPr lang="zh-CN" altLang="en-US" sz="1400" dirty="0">
                <a:solidFill>
                  <a:schemeClr val="tx1"/>
                </a:solidFill>
              </a:rPr>
              <a:t>；多区域同时故障不可接受</a:t>
            </a:r>
            <a:endParaRPr lang="zh-CN" altLang="en-US" sz="1400" dirty="0"/>
          </a:p>
        </p:txBody>
      </p:sp>
      <p:sp>
        <p:nvSpPr>
          <p:cNvPr id="26" name="AI/ML circle">
            <a:extLst>
              <a:ext uri="{FF2B5EF4-FFF2-40B4-BE49-F238E27FC236}">
                <a16:creationId xmlns:a16="http://schemas.microsoft.com/office/drawing/2014/main" id="{76387F7A-8BF9-E0CA-272E-D56BE8098B21}"/>
              </a:ext>
            </a:extLst>
          </p:cNvPr>
          <p:cNvSpPr/>
          <p:nvPr/>
        </p:nvSpPr>
        <p:spPr>
          <a:xfrm>
            <a:off x="822960" y="5532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AI/ML icon" descr="AI/ML">
            <a:extLst>
              <a:ext uri="{FF2B5EF4-FFF2-40B4-BE49-F238E27FC236}">
                <a16:creationId xmlns:a16="http://schemas.microsoft.com/office/drawing/2014/main" id="{5BAE705F-6E2E-8A13-FA80-7F91608886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6" y="5622646"/>
            <a:ext cx="230429" cy="230429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8CD81C39-5988-2E6C-5FA9-BAD06FE9D3A6}"/>
              </a:ext>
            </a:extLst>
          </p:cNvPr>
          <p:cNvSpPr txBox="1"/>
          <p:nvPr/>
        </p:nvSpPr>
        <p:spPr>
          <a:xfrm>
            <a:off x="1417320" y="5486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AI/ML  </a:t>
            </a:r>
            <a:r>
              <a:rPr lang="zh-CN" altLang="en-US" sz="1400" dirty="0">
                <a:solidFill>
                  <a:schemeClr val="tx1"/>
                </a:solidFill>
              </a:rPr>
              <a:t>训练规模超出单个数据中心，容量需求爆发式增长</a:t>
            </a:r>
            <a:endParaRPr lang="zh-CN" altLang="en-US" sz="1400" dirty="0"/>
          </a:p>
        </p:txBody>
      </p:sp>
      <p:sp>
        <p:nvSpPr>
          <p:cNvPr id="29" name="arrow to goals">
            <a:extLst>
              <a:ext uri="{FF2B5EF4-FFF2-40B4-BE49-F238E27FC236}">
                <a16:creationId xmlns:a16="http://schemas.microsoft.com/office/drawing/2014/main" id="{6AE65315-793D-95B9-C367-568FFB3B396F}"/>
              </a:ext>
            </a:extLst>
          </p:cNvPr>
          <p:cNvSpPr/>
          <p:nvPr/>
        </p:nvSpPr>
        <p:spPr>
          <a:xfrm>
            <a:off x="5715000" y="4937760"/>
            <a:ext cx="45720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oals card">
            <a:extLst>
              <a:ext uri="{FF2B5EF4-FFF2-40B4-BE49-F238E27FC236}">
                <a16:creationId xmlns:a16="http://schemas.microsoft.com/office/drawing/2014/main" id="{AD9C6969-D0EB-0757-6E91-BE68085965C1}"/>
              </a:ext>
            </a:extLst>
          </p:cNvPr>
          <p:cNvSpPr/>
          <p:nvPr/>
        </p:nvSpPr>
        <p:spPr>
          <a:xfrm>
            <a:off x="6309360" y="4069080"/>
            <a:ext cx="5333695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A4243D86-71B1-6F5A-8C4B-A630EB5A5DCC}"/>
              </a:ext>
            </a:extLst>
          </p:cNvPr>
          <p:cNvSpPr txBox="1"/>
          <p:nvPr/>
        </p:nvSpPr>
        <p:spPr>
          <a:xfrm>
            <a:off x="6583680" y="420624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accent2"/>
                </a:solidFill>
              </a:rPr>
              <a:t>GGN 的四个目标</a:t>
            </a:r>
            <a:endParaRPr lang="zh-CN" altLang="en-US" sz="1800" dirty="0"/>
          </a:p>
        </p:txBody>
      </p:sp>
      <p:sp>
        <p:nvSpPr>
          <p:cNvPr id="32" name="goal tile 1">
            <a:extLst>
              <a:ext uri="{FF2B5EF4-FFF2-40B4-BE49-F238E27FC236}">
                <a16:creationId xmlns:a16="http://schemas.microsoft.com/office/drawing/2014/main" id="{686D174A-B597-B61C-0C2D-016119928857}"/>
              </a:ext>
            </a:extLst>
          </p:cNvPr>
          <p:cNvSpPr/>
          <p:nvPr/>
        </p:nvSpPr>
        <p:spPr>
          <a:xfrm>
            <a:off x="6583680" y="4709160"/>
            <a:ext cx="2301088" cy="6858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A0E626DA-4414-E643-392F-8F13431EDFEB}"/>
              </a:ext>
            </a:extLst>
          </p:cNvPr>
          <p:cNvSpPr txBox="1"/>
          <p:nvPr/>
        </p:nvSpPr>
        <p:spPr>
          <a:xfrm>
            <a:off x="6720840" y="4754880"/>
            <a:ext cx="202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消除全局故障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200" dirty="0">
                <a:solidFill>
                  <a:schemeClr val="accent4"/>
                </a:solidFill>
              </a:rPr>
              <a:t>限制在单个区域内</a:t>
            </a:r>
            <a:endParaRPr lang="zh-CN" altLang="en-US" sz="1400" dirty="0"/>
          </a:p>
        </p:txBody>
      </p:sp>
      <p:sp>
        <p:nvSpPr>
          <p:cNvPr id="34" name="goal tile 2">
            <a:extLst>
              <a:ext uri="{FF2B5EF4-FFF2-40B4-BE49-F238E27FC236}">
                <a16:creationId xmlns:a16="http://schemas.microsoft.com/office/drawing/2014/main" id="{3171E9F1-1CC4-4809-727C-A18D1B09F188}"/>
              </a:ext>
            </a:extLst>
          </p:cNvPr>
          <p:cNvSpPr/>
          <p:nvPr/>
        </p:nvSpPr>
        <p:spPr>
          <a:xfrm>
            <a:off x="9067648" y="4709160"/>
            <a:ext cx="2301088" cy="6858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12E82DDC-5602-74EE-23D8-DA84F6742E82}"/>
              </a:ext>
            </a:extLst>
          </p:cNvPr>
          <p:cNvSpPr txBox="1"/>
          <p:nvPr/>
        </p:nvSpPr>
        <p:spPr>
          <a:xfrm>
            <a:off x="9204808" y="4754880"/>
            <a:ext cx="202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超大可扩展能力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200" dirty="0">
                <a:solidFill>
                  <a:schemeClr val="accent4"/>
                </a:solidFill>
              </a:rPr>
              <a:t>不再单纯依赖硬件升级</a:t>
            </a:r>
            <a:endParaRPr lang="zh-CN" altLang="en-US" sz="1400" dirty="0"/>
          </a:p>
        </p:txBody>
      </p:sp>
      <p:sp>
        <p:nvSpPr>
          <p:cNvPr id="36" name="goal tile 3">
            <a:extLst>
              <a:ext uri="{FF2B5EF4-FFF2-40B4-BE49-F238E27FC236}">
                <a16:creationId xmlns:a16="http://schemas.microsoft.com/office/drawing/2014/main" id="{9FDFED7A-56DF-8167-FC18-271DE9B44F54}"/>
              </a:ext>
            </a:extLst>
          </p:cNvPr>
          <p:cNvSpPr/>
          <p:nvPr/>
        </p:nvSpPr>
        <p:spPr>
          <a:xfrm>
            <a:off x="6583680" y="5504688"/>
            <a:ext cx="2301088" cy="6858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41553402-4253-02E1-5E51-6B84B28E4E97}"/>
              </a:ext>
            </a:extLst>
          </p:cNvPr>
          <p:cNvSpPr txBox="1"/>
          <p:nvPr/>
        </p:nvSpPr>
        <p:spPr>
          <a:xfrm>
            <a:off x="6720840" y="5550408"/>
            <a:ext cx="202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网络快速迭代</a:t>
            </a:r>
            <a:endParaRPr lang="en-SG" altLang="zh-CN" sz="1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accent4"/>
                </a:solidFill>
              </a:rPr>
              <a:t>新硬件、新特性快速上线</a:t>
            </a:r>
            <a:endParaRPr lang="zh-CN" altLang="en-US" sz="1400" dirty="0"/>
          </a:p>
        </p:txBody>
      </p:sp>
      <p:sp>
        <p:nvSpPr>
          <p:cNvPr id="38" name="goal tile 4">
            <a:extLst>
              <a:ext uri="{FF2B5EF4-FFF2-40B4-BE49-F238E27FC236}">
                <a16:creationId xmlns:a16="http://schemas.microsoft.com/office/drawing/2014/main" id="{884BF3C6-9B40-A75B-14E9-F30CE2ACEA12}"/>
              </a:ext>
            </a:extLst>
          </p:cNvPr>
          <p:cNvSpPr/>
          <p:nvPr/>
        </p:nvSpPr>
        <p:spPr>
          <a:xfrm>
            <a:off x="9067648" y="5504688"/>
            <a:ext cx="2301088" cy="6858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227313-8336-9C31-DD0C-0786B6748C7E}"/>
              </a:ext>
            </a:extLst>
          </p:cNvPr>
          <p:cNvSpPr txBox="1"/>
          <p:nvPr/>
        </p:nvSpPr>
        <p:spPr>
          <a:xfrm>
            <a:off x="9204808" y="5550408"/>
            <a:ext cx="202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清晰可执行 SLO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200" dirty="0">
                <a:solidFill>
                  <a:schemeClr val="accent4"/>
                </a:solidFill>
              </a:rPr>
              <a:t>丢包、带宽、时延可执行</a:t>
            </a:r>
            <a:endParaRPr lang="zh-CN" altLang="en-US" sz="1400" dirty="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12379A14-26B5-F392-DB1A-42F1EBCC6A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15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116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SG" altLang="zh-CN" sz="3600" b="1" dirty="0">
                <a:solidFill>
                  <a:schemeClr val="tx1"/>
                </a:solidFill>
              </a:rPr>
              <a:t>SIGCOMM 2026</a:t>
            </a:r>
            <a:r>
              <a:rPr lang="zh-CN" altLang="en-US" sz="3600" b="1" dirty="0">
                <a:solidFill>
                  <a:schemeClr val="tx1"/>
                </a:solidFill>
              </a:rPr>
              <a:t> 从 </a:t>
            </a:r>
            <a:r>
              <a:rPr lang="en-SG" altLang="zh-CN" sz="3600" b="1" dirty="0">
                <a:solidFill>
                  <a:schemeClr val="tx1"/>
                </a:solidFill>
              </a:rPr>
              <a:t>B2/B4 </a:t>
            </a:r>
            <a:r>
              <a:rPr lang="zh-CN" altLang="en-US" sz="3600" b="1" dirty="0">
                <a:solidFill>
                  <a:schemeClr val="tx1"/>
                </a:solidFill>
              </a:rPr>
              <a:t>到 </a:t>
            </a:r>
            <a:r>
              <a:rPr lang="en-SG" altLang="zh-CN" sz="3600" b="1" dirty="0">
                <a:solidFill>
                  <a:schemeClr val="tx1"/>
                </a:solidFill>
              </a:rPr>
              <a:t>GGN</a:t>
            </a:r>
            <a:r>
              <a:rPr lang="zh-CN" altLang="en-SG" sz="3600" b="1" dirty="0">
                <a:solidFill>
                  <a:schemeClr val="tx1"/>
                </a:solidFill>
              </a:rPr>
              <a:t>，</a:t>
            </a:r>
            <a:r>
              <a:rPr lang="zh-CN" altLang="en-US" sz="3600" b="1" dirty="0">
                <a:solidFill>
                  <a:schemeClr val="tx1"/>
                </a:solidFill>
              </a:rPr>
              <a:t>谷歌新一代全球广域网 GGN</a:t>
            </a:r>
            <a:endParaRPr lang="zh-CN" altLang="en-US" sz="36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3</a:t>
            </a:fld>
            <a:endParaRPr lang="zh-CN" altLang="en-US"/>
          </a:p>
        </p:txBody>
      </p:sp>
      <p:pic>
        <p:nvPicPr>
          <p:cNvPr id="44" name="Picture 43" descr="A close-up of a paper&#10;&#10;AI-generated content may be incorrect.">
            <a:extLst>
              <a:ext uri="{FF2B5EF4-FFF2-40B4-BE49-F238E27FC236}">
                <a16:creationId xmlns:a16="http://schemas.microsoft.com/office/drawing/2014/main" id="{89685CAB-CAA2-88EC-8178-A568535F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782" y="1616076"/>
            <a:ext cx="8498129" cy="3887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D77A-71E8-0E38-4908-9CC8E2FA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EFDE2B-B7CB-875B-28F4-522E87E6250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52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chemeClr val="tx1"/>
                </a:solidFill>
              </a:rPr>
              <a:t>GGN 架构</a:t>
            </a:r>
            <a:endParaRPr lang="zh-CN" altLang="en-US" sz="3600" dirty="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286DAF64-B209-28F8-BA77-C159C3B42C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4415" y="569837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4</a:t>
            </a:fld>
            <a:endParaRPr lang="zh-CN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E4EA18-E44A-8DB4-F5F8-548C12830413}"/>
              </a:ext>
            </a:extLst>
          </p:cNvPr>
          <p:cNvSpPr txBox="1"/>
          <p:nvPr/>
        </p:nvSpPr>
        <p:spPr>
          <a:xfrm>
            <a:off x="5964094" y="1339493"/>
            <a:ext cx="596665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</a:rPr>
              <a:t>核心域</a:t>
            </a:r>
            <a:r>
              <a:rPr lang="en-SG" b="1" dirty="0">
                <a:solidFill>
                  <a:srgbClr val="333333"/>
                </a:solidFill>
              </a:rPr>
              <a:t>Core：</a:t>
            </a:r>
            <a:r>
              <a:rPr lang="zh-CN" altLang="en-US" dirty="0">
                <a:solidFill>
                  <a:srgbClr val="333333"/>
                </a:solidFill>
              </a:rPr>
              <a:t>负责在不同边缘之间中转流量，分为全局核心</a:t>
            </a:r>
            <a:r>
              <a:rPr lang="en-SG" dirty="0">
                <a:solidFill>
                  <a:srgbClr val="333333"/>
                </a:solidFill>
              </a:rPr>
              <a:t>Global Core（</a:t>
            </a:r>
            <a:r>
              <a:rPr lang="zh-CN" altLang="en-US" dirty="0">
                <a:solidFill>
                  <a:srgbClr val="333333"/>
                </a:solidFill>
              </a:rPr>
              <a:t>连接所有地区）、区域核心</a:t>
            </a:r>
            <a:r>
              <a:rPr lang="en-SG" dirty="0">
                <a:solidFill>
                  <a:srgbClr val="333333"/>
                </a:solidFill>
              </a:rPr>
              <a:t>Regional Core（</a:t>
            </a:r>
            <a:r>
              <a:rPr lang="zh-CN" altLang="en-US" dirty="0">
                <a:solidFill>
                  <a:srgbClr val="333333"/>
                </a:solidFill>
              </a:rPr>
              <a:t>处理同一个区域内部流量）。</a:t>
            </a:r>
            <a:endParaRPr lang="en-SG" altLang="zh-CN" dirty="0">
              <a:solidFill>
                <a:srgbClr val="333333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</a:rPr>
              <a:t>边缘域</a:t>
            </a:r>
            <a:r>
              <a:rPr lang="en-SG" b="1" dirty="0">
                <a:solidFill>
                  <a:srgbClr val="333333"/>
                </a:solidFill>
              </a:rPr>
              <a:t>Edge：</a:t>
            </a:r>
            <a:r>
              <a:rPr lang="zh-CN" altLang="en-US" dirty="0">
                <a:solidFill>
                  <a:srgbClr val="333333"/>
                </a:solidFill>
              </a:rPr>
              <a:t>流量的起点和终点，分为三类：</a:t>
            </a:r>
            <a:endParaRPr lang="en-SG" altLang="zh-CN" dirty="0">
              <a:solidFill>
                <a:srgbClr val="333333"/>
              </a:solidFill>
            </a:endParaRPr>
          </a:p>
          <a:p>
            <a:pPr marL="742950" lvl="1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</a:rPr>
              <a:t>计算边缘：</a:t>
            </a:r>
            <a:r>
              <a:rPr lang="zh-CN" altLang="en-US" dirty="0">
                <a:solidFill>
                  <a:srgbClr val="333333"/>
                </a:solidFill>
              </a:rPr>
              <a:t>对接谷歌计算集群，如 </a:t>
            </a:r>
            <a:r>
              <a:rPr lang="en-US" altLang="zh-CN" dirty="0">
                <a:solidFill>
                  <a:srgbClr val="333333"/>
                </a:solidFill>
              </a:rPr>
              <a:t>Jupiter</a:t>
            </a:r>
            <a:r>
              <a:rPr lang="zh-CN" altLang="en-US" dirty="0">
                <a:solidFill>
                  <a:srgbClr val="333333"/>
                </a:solidFill>
              </a:rPr>
              <a:t> 集群；</a:t>
            </a:r>
            <a:endParaRPr lang="en-SG" altLang="zh-CN" dirty="0">
              <a:solidFill>
                <a:srgbClr val="333333"/>
              </a:solidFill>
            </a:endParaRPr>
          </a:p>
          <a:p>
            <a:pPr marL="742950" lvl="1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</a:rPr>
              <a:t>客户服务边缘：</a:t>
            </a:r>
            <a:r>
              <a:rPr lang="zh-CN" altLang="en-US" dirty="0">
                <a:solidFill>
                  <a:srgbClr val="333333"/>
                </a:solidFill>
              </a:rPr>
              <a:t>对接谷歌云专线客户；</a:t>
            </a:r>
            <a:endParaRPr lang="en-SG" altLang="zh-CN" dirty="0">
              <a:solidFill>
                <a:srgbClr val="333333"/>
              </a:solidFill>
            </a:endParaRPr>
          </a:p>
          <a:p>
            <a:pPr marL="742950" lvl="1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</a:rPr>
              <a:t>互联网边缘：</a:t>
            </a:r>
            <a:r>
              <a:rPr lang="zh-CN" altLang="en-US" dirty="0">
                <a:solidFill>
                  <a:srgbClr val="333333"/>
                </a:solidFill>
              </a:rPr>
              <a:t>对接外部互联网对等互联。</a:t>
            </a:r>
            <a:endParaRPr lang="zh-CN" altLang="en-US" dirty="0">
              <a:solidFill>
                <a:srgbClr val="333333"/>
              </a:solidFill>
              <a:effectLst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6E59776-286F-841D-F63F-732BCB461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95" y="1153121"/>
            <a:ext cx="5549900" cy="332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C6CB60-2061-F1B4-1874-6374F97092CE}"/>
              </a:ext>
            </a:extLst>
          </p:cNvPr>
          <p:cNvSpPr txBox="1"/>
          <p:nvPr/>
        </p:nvSpPr>
        <p:spPr>
          <a:xfrm>
            <a:off x="1503937" y="4826009"/>
            <a:ext cx="91838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Aft>
                <a:spcPts val="1800"/>
              </a:spcAft>
              <a:buNone/>
            </a:pPr>
            <a:r>
              <a:rPr lang="zh-CN" altLang="en-US" dirty="0">
                <a:solidFill>
                  <a:srgbClr val="333333"/>
                </a:solidFill>
                <a:effectLst/>
              </a:rPr>
              <a:t>这些域之间的关键边界叫 </a:t>
            </a:r>
            <a:r>
              <a:rPr lang="en-SG" b="1" dirty="0">
                <a:solidFill>
                  <a:srgbClr val="333333"/>
                </a:solidFill>
                <a:effectLst/>
              </a:rPr>
              <a:t>Edge-Core API</a:t>
            </a:r>
            <a:r>
              <a:rPr lang="en-SG" dirty="0">
                <a:solidFill>
                  <a:srgbClr val="333333"/>
                </a:solidFill>
                <a:effectLst/>
              </a:rPr>
              <a:t>。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它不是某个单一协议，而是一套交互规范：</a:t>
            </a:r>
          </a:p>
          <a:p>
            <a:pPr marL="0" marR="0"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  <a:effectLst/>
              </a:rPr>
              <a:t>路由 </a:t>
            </a:r>
            <a:r>
              <a:rPr lang="en-SG" b="1" dirty="0">
                <a:solidFill>
                  <a:srgbClr val="333333"/>
                </a:solidFill>
                <a:effectLst/>
              </a:rPr>
              <a:t>API</a:t>
            </a:r>
            <a:r>
              <a:rPr lang="en-SG" dirty="0">
                <a:solidFill>
                  <a:srgbClr val="333333"/>
                </a:solidFill>
                <a:effectLst/>
              </a:rPr>
              <a:t>：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基于 </a:t>
            </a:r>
            <a:r>
              <a:rPr lang="en-SG" dirty="0">
                <a:solidFill>
                  <a:srgbClr val="333333"/>
                </a:solidFill>
                <a:effectLst/>
              </a:rPr>
              <a:t>eBGP，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交换最小必要的</a:t>
            </a:r>
            <a:r>
              <a:rPr lang="zh-CN" altLang="en-US" dirty="0">
                <a:solidFill>
                  <a:srgbClr val="333333"/>
                </a:solidFill>
              </a:rPr>
              <a:t>路由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信息。</a:t>
            </a:r>
          </a:p>
          <a:p>
            <a:pPr marL="0" marR="0">
              <a:spcBef>
                <a:spcPts val="4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  <a:effectLst/>
              </a:rPr>
              <a:t>带宽 </a:t>
            </a:r>
            <a:r>
              <a:rPr lang="en-SG" b="1" dirty="0">
                <a:solidFill>
                  <a:srgbClr val="333333"/>
                </a:solidFill>
                <a:effectLst/>
              </a:rPr>
              <a:t>API</a:t>
            </a:r>
            <a:r>
              <a:rPr lang="en-SG" dirty="0">
                <a:solidFill>
                  <a:srgbClr val="333333"/>
                </a:solidFill>
                <a:effectLst/>
              </a:rPr>
              <a:t>：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基于 </a:t>
            </a:r>
            <a:r>
              <a:rPr lang="en-SG" dirty="0">
                <a:solidFill>
                  <a:srgbClr val="333333"/>
                </a:solidFill>
                <a:effectLst/>
              </a:rPr>
              <a:t>BwE4（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谷歌自研带宽管控系统），核心告诉边缘能分配多少容量。</a:t>
            </a:r>
          </a:p>
        </p:txBody>
      </p:sp>
    </p:spTree>
    <p:extLst>
      <p:ext uri="{BB962C8B-B14F-4D97-AF65-F5344CB8AC3E}">
        <p14:creationId xmlns:p14="http://schemas.microsoft.com/office/powerpoint/2010/main" val="246755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68F6-B7B2-2E5A-FFED-C8EFB32B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1E54F3-CC93-CEA5-CC60-6D39DA432788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52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chemeClr val="tx1"/>
                </a:solidFill>
              </a:rPr>
              <a:t>GGN 分片</a:t>
            </a:r>
            <a:endParaRPr lang="zh-CN" altLang="en-US" sz="3600" dirty="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5B369052-F5DC-B405-6B78-FA965904E8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4415" y="569837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5</a:t>
            </a:fld>
            <a:endParaRPr lang="zh-CN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10F2A1-18C3-6795-5F32-02B7EB4AD823}"/>
              </a:ext>
            </a:extLst>
          </p:cNvPr>
          <p:cNvSpPr txBox="1"/>
          <p:nvPr/>
        </p:nvSpPr>
        <p:spPr>
          <a:xfrm>
            <a:off x="5964094" y="1339493"/>
            <a:ext cx="5966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每个分片拥有完全独立的数据转发平面、独立</a:t>
            </a:r>
            <a:r>
              <a:rPr lang="en-SG" dirty="0"/>
              <a:t>SDN</a:t>
            </a:r>
            <a:r>
              <a:rPr lang="zh-CN" altLang="en-US" dirty="0"/>
              <a:t>控制平面，二层及以上完全隔离，分片之间核心内部不直接互通。边缘路由器同时连接全部分片，流量分散跑在各个分片上。</a:t>
            </a:r>
            <a:endParaRPr lang="en-SG" altLang="zh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3038EC-BBB4-2B0F-1458-211629319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28321"/>
            <a:ext cx="5257800" cy="4292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8A97FF-2A89-7DFC-A6E5-B86F22C5281B}"/>
              </a:ext>
            </a:extLst>
          </p:cNvPr>
          <p:cNvSpPr txBox="1"/>
          <p:nvPr/>
        </p:nvSpPr>
        <p:spPr>
          <a:xfrm>
            <a:off x="5964094" y="3204930"/>
            <a:ext cx="610076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</a:rPr>
              <a:t>全局故障被分片隔离：</a:t>
            </a:r>
            <a:r>
              <a:rPr lang="zh-CN" altLang="en-US" dirty="0">
                <a:solidFill>
                  <a:srgbClr val="333333"/>
                </a:solidFill>
              </a:rPr>
              <a:t>一个分片的控制面 </a:t>
            </a:r>
            <a:r>
              <a:rPr lang="en-SG" altLang="zh-CN" dirty="0">
                <a:solidFill>
                  <a:srgbClr val="333333"/>
                </a:solidFill>
              </a:rPr>
              <a:t>bug </a:t>
            </a:r>
            <a:r>
              <a:rPr lang="zh-CN" altLang="en-US" dirty="0">
                <a:solidFill>
                  <a:srgbClr val="333333"/>
                </a:solidFill>
              </a:rPr>
              <a:t>不会直接搞垮所有流量。</a:t>
            </a:r>
            <a:endParaRPr lang="en-SG" altLang="zh-CN" dirty="0">
              <a:solidFill>
                <a:srgbClr val="333333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33333"/>
                </a:solidFill>
              </a:rPr>
              <a:t>水平扩展：</a:t>
            </a:r>
            <a:r>
              <a:rPr lang="zh-CN" altLang="en-US" dirty="0">
                <a:solidFill>
                  <a:srgbClr val="333333"/>
                </a:solidFill>
              </a:rPr>
              <a:t>容量可以分散到多个分片，而不是让单个全局控制器管整个网络。</a:t>
            </a:r>
            <a:endParaRPr lang="en-SG" altLang="zh-CN" dirty="0">
              <a:solidFill>
                <a:srgbClr val="333333"/>
              </a:solidFill>
            </a:endParaRP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altLang="zh-CN" b="1" dirty="0">
                <a:solidFill>
                  <a:srgbClr val="333333"/>
                </a:solidFill>
              </a:rPr>
              <a:t>N+1 </a:t>
            </a:r>
            <a:r>
              <a:rPr lang="zh-CN" altLang="en-US" b="1" dirty="0">
                <a:solidFill>
                  <a:srgbClr val="333333"/>
                </a:solidFill>
              </a:rPr>
              <a:t>式冗余：</a:t>
            </a:r>
            <a:r>
              <a:rPr lang="zh-CN" altLang="en-US" dirty="0">
                <a:solidFill>
                  <a:srgbClr val="333333"/>
                </a:solidFill>
              </a:rPr>
              <a:t>坏一个分片，其余分片可以承接高优先级流量。</a:t>
            </a:r>
            <a:endParaRPr lang="zh-CN" altLang="en-US" dirty="0">
              <a:solidFill>
                <a:srgbClr val="333333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B771F-489B-11F5-F333-D2BD7E701770}"/>
              </a:ext>
            </a:extLst>
          </p:cNvPr>
          <p:cNvSpPr txBox="1"/>
          <p:nvPr/>
        </p:nvSpPr>
        <p:spPr>
          <a:xfrm>
            <a:off x="1065162" y="5638721"/>
            <a:ext cx="10061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Aft>
                <a:spcPts val="1800"/>
              </a:spcAft>
              <a:buNone/>
            </a:pPr>
            <a:r>
              <a:rPr lang="en-SG" dirty="0">
                <a:solidFill>
                  <a:srgbClr val="333333"/>
                </a:solidFill>
                <a:effectLst/>
              </a:rPr>
              <a:t>GGN</a:t>
            </a:r>
            <a:r>
              <a:rPr lang="zh-CN" altLang="en-US" dirty="0">
                <a:solidFill>
                  <a:srgbClr val="333333"/>
                </a:solidFill>
              </a:rPr>
              <a:t> 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三大特点：</a:t>
            </a:r>
            <a:r>
              <a:rPr lang="zh-CN" altLang="en-US" b="1" dirty="0">
                <a:solidFill>
                  <a:srgbClr val="333333"/>
                </a:solidFill>
                <a:effectLst/>
              </a:rPr>
              <a:t>核心分片（</a:t>
            </a:r>
            <a:r>
              <a:rPr lang="en-SG" b="1" dirty="0">
                <a:solidFill>
                  <a:srgbClr val="333333"/>
                </a:solidFill>
                <a:effectLst/>
              </a:rPr>
              <a:t>Sharding）、</a:t>
            </a:r>
            <a:r>
              <a:rPr lang="zh-CN" altLang="en-US" b="1" dirty="0">
                <a:solidFill>
                  <a:srgbClr val="333333"/>
                </a:solidFill>
                <a:effectLst/>
              </a:rPr>
              <a:t>区域化隔离（</a:t>
            </a:r>
            <a:r>
              <a:rPr lang="en-SG" b="1" dirty="0">
                <a:solidFill>
                  <a:srgbClr val="333333"/>
                </a:solidFill>
                <a:effectLst/>
              </a:rPr>
              <a:t>Regionalization）、</a:t>
            </a:r>
            <a:r>
              <a:rPr lang="zh-CN" altLang="en-US" b="1" dirty="0">
                <a:solidFill>
                  <a:srgbClr val="333333"/>
                </a:solidFill>
                <a:effectLst/>
              </a:rPr>
              <a:t>硬件厂商无关化（</a:t>
            </a:r>
            <a:r>
              <a:rPr lang="en-US" altLang="zh-CN" b="1" dirty="0">
                <a:solidFill>
                  <a:srgbClr val="333333"/>
                </a:solidFill>
                <a:effectLst/>
              </a:rPr>
              <a:t>WAN</a:t>
            </a:r>
            <a:r>
              <a:rPr lang="zh-CN" altLang="en-US" b="1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333333"/>
                </a:solidFill>
                <a:effectLst/>
              </a:rPr>
              <a:t>Building</a:t>
            </a:r>
            <a:r>
              <a:rPr lang="zh-CN" altLang="en-US" b="1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333333"/>
                </a:solidFill>
                <a:effectLst/>
              </a:rPr>
              <a:t>Block</a:t>
            </a:r>
            <a:r>
              <a:rPr lang="zh-CN" altLang="en-US" b="1" dirty="0">
                <a:solidFill>
                  <a:srgbClr val="333333"/>
                </a:solidFill>
                <a:effectLst/>
              </a:rPr>
              <a:t>）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136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chemeClr val="tx1"/>
                </a:solidFill>
              </a:rPr>
              <a:t>GGN：一张分片、区域化的统一 SDN 骨干</a:t>
            </a:r>
            <a:endParaRPr lang="zh-CN" alt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accent6"/>
                </a:solidFill>
              </a:rPr>
              <a:t>Region A 核心</a:t>
            </a:r>
            <a:endParaRPr lang="zh-CN" alt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15468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accent6"/>
                </a:solidFill>
              </a:rPr>
              <a:t>Global Core</a:t>
            </a:r>
            <a:endParaRPr lang="zh-CN" alt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1772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accent6"/>
                </a:solidFill>
              </a:rPr>
              <a:t>Region B 核心</a:t>
            </a:r>
            <a:endParaRPr lang="zh-CN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Shard 1 · B4</a:t>
            </a:r>
            <a:endParaRPr lang="zh-CN" altLang="en-US" sz="1200" dirty="0"/>
          </a:p>
        </p:txBody>
      </p:sp>
      <p:sp>
        <p:nvSpPr>
          <p:cNvPr id="7" name="control domain 1-1"/>
          <p:cNvSpPr/>
          <p:nvPr/>
        </p:nvSpPr>
        <p:spPr>
          <a:xfrm>
            <a:off x="1691640" y="169164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8" name="control domain 1-2"/>
          <p:cNvSpPr/>
          <p:nvPr/>
        </p:nvSpPr>
        <p:spPr>
          <a:xfrm>
            <a:off x="3154680" y="169164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9" name="control domain 1-3"/>
          <p:cNvSpPr/>
          <p:nvPr/>
        </p:nvSpPr>
        <p:spPr>
          <a:xfrm>
            <a:off x="4617720" y="169164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Shard 2</a:t>
            </a:r>
            <a:endParaRPr lang="zh-CN" altLang="en-US" sz="1200" dirty="0"/>
          </a:p>
        </p:txBody>
      </p:sp>
      <p:sp>
        <p:nvSpPr>
          <p:cNvPr id="11" name="control domain 2-1"/>
          <p:cNvSpPr/>
          <p:nvPr/>
        </p:nvSpPr>
        <p:spPr>
          <a:xfrm>
            <a:off x="1691640" y="228600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12" name="control domain 2-2"/>
          <p:cNvSpPr/>
          <p:nvPr/>
        </p:nvSpPr>
        <p:spPr>
          <a:xfrm>
            <a:off x="3154680" y="228600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13" name="control domain 2-3"/>
          <p:cNvSpPr/>
          <p:nvPr/>
        </p:nvSpPr>
        <p:spPr>
          <a:xfrm>
            <a:off x="4617720" y="228600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Shard 3</a:t>
            </a:r>
            <a:endParaRPr lang="zh-CN" altLang="en-US" sz="1200" dirty="0"/>
          </a:p>
        </p:txBody>
      </p:sp>
      <p:sp>
        <p:nvSpPr>
          <p:cNvPr id="15" name="control domain 3-1"/>
          <p:cNvSpPr/>
          <p:nvPr/>
        </p:nvSpPr>
        <p:spPr>
          <a:xfrm>
            <a:off x="1691640" y="288036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16" name="control domain 3-2"/>
          <p:cNvSpPr/>
          <p:nvPr/>
        </p:nvSpPr>
        <p:spPr>
          <a:xfrm>
            <a:off x="3154680" y="288036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17" name="control domain 3-3"/>
          <p:cNvSpPr/>
          <p:nvPr/>
        </p:nvSpPr>
        <p:spPr>
          <a:xfrm>
            <a:off x="4617720" y="288036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74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Shard 4</a:t>
            </a:r>
            <a:endParaRPr lang="zh-CN" altLang="en-US" sz="1200" dirty="0"/>
          </a:p>
        </p:txBody>
      </p:sp>
      <p:sp>
        <p:nvSpPr>
          <p:cNvPr id="19" name="control domain 4-1"/>
          <p:cNvSpPr/>
          <p:nvPr/>
        </p:nvSpPr>
        <p:spPr>
          <a:xfrm>
            <a:off x="1691640" y="347472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20" name="control domain 4-2"/>
          <p:cNvSpPr/>
          <p:nvPr/>
        </p:nvSpPr>
        <p:spPr>
          <a:xfrm>
            <a:off x="3154680" y="347472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21" name="control domain 4-3"/>
          <p:cNvSpPr/>
          <p:nvPr/>
        </p:nvSpPr>
        <p:spPr>
          <a:xfrm>
            <a:off x="4617720" y="3474720"/>
            <a:ext cx="137160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bg1"/>
                </a:solidFill>
              </a:rPr>
              <a:t>TE / BwE</a:t>
            </a:r>
            <a:endParaRPr lang="zh-CN" altLang="en-US" sz="1200" dirty="0"/>
          </a:p>
        </p:txBody>
      </p:sp>
      <p:sp>
        <p:nvSpPr>
          <p:cNvPr id="22" name="edge-core api band"/>
          <p:cNvSpPr/>
          <p:nvPr/>
        </p:nvSpPr>
        <p:spPr>
          <a:xfrm>
            <a:off x="548640" y="4160520"/>
            <a:ext cx="544068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Edge-Core API（eBGP 路由 + BwE 带宽）· 每个 edge 接入全部 shard</a:t>
            </a:r>
            <a:endParaRPr lang="zh-CN" altLang="en-US" sz="1200" dirty="0"/>
          </a:p>
        </p:txBody>
      </p:sp>
      <p:sp>
        <p:nvSpPr>
          <p:cNvPr id="23" name="edge Compute Edge"/>
          <p:cNvSpPr/>
          <p:nvPr/>
        </p:nvSpPr>
        <p:spPr>
          <a:xfrm>
            <a:off x="548640" y="4754880"/>
            <a:ext cx="17526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Compute Edge</a:t>
            </a:r>
            <a:endParaRPr lang="zh-CN" altLang="en-US" sz="1200" dirty="0"/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Jupiter 集群</a:t>
            </a:r>
            <a:endParaRPr lang="zh-CN" altLang="en-US" sz="1200" dirty="0"/>
          </a:p>
        </p:txBody>
      </p:sp>
      <p:sp>
        <p:nvSpPr>
          <p:cNvPr id="24" name="edge CSE"/>
          <p:cNvSpPr/>
          <p:nvPr/>
        </p:nvSpPr>
        <p:spPr>
          <a:xfrm>
            <a:off x="2392680" y="4754880"/>
            <a:ext cx="17526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CSE</a:t>
            </a:r>
            <a:endParaRPr lang="zh-CN" altLang="en-US" sz="1200" dirty="0"/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Cloud 专线接入</a:t>
            </a:r>
            <a:endParaRPr lang="zh-CN" altLang="en-US" sz="1200" dirty="0"/>
          </a:p>
        </p:txBody>
      </p:sp>
      <p:sp>
        <p:nvSpPr>
          <p:cNvPr id="25" name="edge Internet Edge"/>
          <p:cNvSpPr/>
          <p:nvPr/>
        </p:nvSpPr>
        <p:spPr>
          <a:xfrm>
            <a:off x="4236720" y="4754880"/>
            <a:ext cx="17526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Internet Edge</a:t>
            </a:r>
            <a:endParaRPr lang="zh-CN" altLang="en-US" sz="1200" dirty="0"/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对外互联</a:t>
            </a:r>
            <a:endParaRPr lang="zh-CN" altLang="en-US" sz="1200" dirty="0"/>
          </a:p>
        </p:txBody>
      </p:sp>
      <p:sp>
        <p:nvSpPr>
          <p:cNvPr id="26" name="grid legend"/>
          <p:cNvSpPr txBox="1"/>
          <p:nvPr/>
        </p:nvSpPr>
        <p:spPr>
          <a:xfrm>
            <a:off x="548640" y="55321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行 = shard：物理隔离的平行全球网（路由器及以上严格隔离）</a:t>
            </a:r>
            <a:endParaRPr lang="zh-CN" altLang="en-US" sz="1200" dirty="0"/>
          </a:p>
          <a:p>
            <a:pPr marL="0" indent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格 = 控制域：每格一套独立 TE/BwE，只读本域输入</a:t>
            </a:r>
            <a:endParaRPr lang="zh-CN" altLang="en-US" sz="1200" dirty="0"/>
          </a:p>
        </p:txBody>
      </p:sp>
      <p:sp>
        <p:nvSpPr>
          <p:cNvPr id="27" name="模块化分域 circle"/>
          <p:cNvSpPr/>
          <p:nvPr/>
        </p:nvSpPr>
        <p:spPr>
          <a:xfrm>
            <a:off x="640080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模块化分域 icon" descr="模块化分域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1390802"/>
            <a:ext cx="281635" cy="28163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7086600" y="1261872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模块化分域</a:t>
            </a:r>
            <a:endParaRPr lang="zh-CN" alt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1664208"/>
            <a:ext cx="4556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Edge 负责收发（Compute / CSE / IE），Core 负责中转（Global / Regional）；两者只经 Edge-Core API 交互，故障互不传染</a:t>
            </a:r>
            <a:endParaRPr lang="zh-CN" altLang="en-US" sz="1400" dirty="0"/>
          </a:p>
        </p:txBody>
      </p:sp>
      <p:sp>
        <p:nvSpPr>
          <p:cNvPr id="31" name="分片 + 区域化 circle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分片 + 区域化 icon" descr="分片 + 区域化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2625242"/>
            <a:ext cx="281635" cy="281635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086600" y="2496312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分片 + 区域化</a:t>
            </a:r>
            <a:endParaRPr lang="zh-CN" altLang="en-US" sz="1800" dirty="0"/>
          </a:p>
        </p:txBody>
      </p:sp>
      <p:sp>
        <p:nvSpPr>
          <p:cNvPr id="34" name="Text 30"/>
          <p:cNvSpPr txBox="1"/>
          <p:nvPr/>
        </p:nvSpPr>
        <p:spPr>
          <a:xfrm>
            <a:off x="7086600" y="2898648"/>
            <a:ext cx="4556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Core 复制为 4 个 shard（B4 即 Shard 1），路由器及以上严格隔离，Tier-0/1 按 N−1 规划；每个 region 独立 TE/BwE，只读本 region 输入</a:t>
            </a:r>
            <a:endParaRPr lang="zh-CN" altLang="en-US" sz="1400" dirty="0"/>
          </a:p>
        </p:txBody>
      </p:sp>
      <p:sp>
        <p:nvSpPr>
          <p:cNvPr id="35" name="WBB 多厂商硬件 circle"/>
          <p:cNvSpPr/>
          <p:nvPr/>
        </p:nvSpPr>
        <p:spPr>
          <a:xfrm>
            <a:off x="6400800" y="3749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WBB 多厂商硬件 icon" descr="WBB 多厂商硬件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2" y="3859682"/>
            <a:ext cx="281635" cy="28163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086600" y="3730752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WBB 多厂商硬件</a:t>
            </a:r>
            <a:endParaRPr lang="zh-CN" alt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7086600" y="4133088"/>
            <a:ext cx="4556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按抽象 SKU 采购商用路由器，统一 gNMI / gNOI / gRIBI 接口；任一厂商的 bug 都不会影响全部 shard</a:t>
            </a:r>
            <a:endParaRPr lang="zh-CN" altLang="en-US" sz="1400" dirty="0"/>
          </a:p>
        </p:txBody>
      </p:sp>
      <p:sp>
        <p:nvSpPr>
          <p:cNvPr id="39" name="failure response card"/>
          <p:cNvSpPr/>
          <p:nvPr/>
        </p:nvSpPr>
        <p:spPr>
          <a:xfrm>
            <a:off x="6400800" y="5074920"/>
            <a:ext cx="524225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6629400" y="5166360"/>
            <a:ext cx="4785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chemeClr val="accent1"/>
                </a:solidFill>
              </a:rPr>
              <a:t>故障响应  </a:t>
            </a:r>
            <a:r>
              <a:rPr lang="zh-CN" altLang="en-US" sz="1400" dirty="0">
                <a:solidFill>
                  <a:schemeClr val="tx1"/>
                </a:solidFill>
              </a:rPr>
              <a:t>亚秒级 PRR 换路 → 秒级 BGP 撤路由 → 分钟级 SE/TE 重新分配；TE 异常时自动回退到 BGP/IS-IS 底层路由</a:t>
            </a:r>
            <a:endParaRPr lang="zh-CN" alt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F071F-AEDE-4007-D24F-80C86328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953F1B-6BBA-082A-1FE4-9D002228854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52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chemeClr val="tx1"/>
                </a:solidFill>
              </a:rPr>
              <a:t>一、分片执行器 </a:t>
            </a:r>
            <a:r>
              <a:rPr lang="en-SG" altLang="zh-CN" sz="3600" b="1" dirty="0">
                <a:solidFill>
                  <a:schemeClr val="tx1"/>
                </a:solidFill>
              </a:rPr>
              <a:t>Shard Enforcer</a:t>
            </a:r>
            <a:r>
              <a:rPr lang="zh-CN" altLang="en-SG" sz="3600" b="1" dirty="0">
                <a:solidFill>
                  <a:schemeClr val="tx1"/>
                </a:solidFill>
              </a:rPr>
              <a:t>（</a:t>
            </a:r>
            <a:r>
              <a:rPr lang="en-SG" altLang="zh-CN" sz="3600" b="1" dirty="0">
                <a:solidFill>
                  <a:schemeClr val="tx1"/>
                </a:solidFill>
              </a:rPr>
              <a:t>SE</a:t>
            </a:r>
            <a:r>
              <a:rPr lang="zh-CN" altLang="en-SG" sz="3600" b="1" dirty="0">
                <a:solidFill>
                  <a:schemeClr val="tx1"/>
                </a:solidFill>
              </a:rPr>
              <a:t>）</a:t>
            </a:r>
            <a:endParaRPr lang="zh-CN" altLang="en-US" sz="3600" dirty="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15D45B03-D5DA-7DD7-6C0A-7ECFF2E997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4415" y="569837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7</a:t>
            </a:fld>
            <a:endParaRPr lang="zh-CN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1ED3BE-12D6-AA03-12DF-EF7C31C3140A}"/>
              </a:ext>
            </a:extLst>
          </p:cNvPr>
          <p:cNvSpPr txBox="1"/>
          <p:nvPr/>
        </p:nvSpPr>
        <p:spPr>
          <a:xfrm>
            <a:off x="779179" y="885306"/>
            <a:ext cx="11094415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800"/>
              </a:spcAft>
            </a:pPr>
            <a:r>
              <a:rPr lang="en-SG" altLang="zh-CN" sz="1600" dirty="0"/>
              <a:t>SE</a:t>
            </a:r>
            <a:r>
              <a:rPr lang="zh-CN" altLang="en-US" sz="1600" dirty="0"/>
              <a:t> 是一个策略驱动的 </a:t>
            </a:r>
            <a:r>
              <a:rPr lang="en-SG" altLang="zh-CN" sz="1600" dirty="0"/>
              <a:t>SDN </a:t>
            </a:r>
            <a:r>
              <a:rPr lang="zh-CN" altLang="en-US" sz="1600" dirty="0"/>
              <a:t>组件：</a:t>
            </a:r>
            <a:endParaRPr lang="en-SG" altLang="zh-CN" sz="16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sz="1200" dirty="0"/>
              <a:t>掌握所有分片的带宽、可达状态；</a:t>
            </a:r>
            <a:endParaRPr lang="en-SG" altLang="zh-CN" sz="12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sz="1200" dirty="0"/>
              <a:t>通过</a:t>
            </a:r>
            <a:r>
              <a:rPr lang="en-SG" altLang="zh-CN" sz="1200" dirty="0"/>
              <a:t>BGP</a:t>
            </a:r>
            <a:r>
              <a:rPr lang="zh-CN" altLang="en-US" sz="1200" dirty="0"/>
              <a:t>协议向边缘路由器下发策略，告诉路由器哪些分片能用、哪些要禁用；</a:t>
            </a:r>
            <a:endParaRPr lang="en-SG" altLang="zh-CN" sz="12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sz="1200" dirty="0"/>
              <a:t>同时通知主机侧</a:t>
            </a:r>
            <a:r>
              <a:rPr lang="en-SG" altLang="zh-CN" sz="1200" dirty="0" err="1"/>
              <a:t>BwE</a:t>
            </a:r>
            <a:r>
              <a:rPr lang="zh-CN" altLang="en-US" sz="1200" dirty="0"/>
              <a:t>带宽管控，调整流量配额。</a:t>
            </a:r>
            <a:endParaRPr lang="en-SG" altLang="zh-CN" sz="1200" dirty="0"/>
          </a:p>
          <a:p>
            <a:pPr algn="just">
              <a:spcAft>
                <a:spcPts val="1800"/>
              </a:spcAft>
            </a:pPr>
            <a:r>
              <a:rPr lang="en-SG" altLang="zh-CN" sz="1600" dirty="0"/>
              <a:t>SE</a:t>
            </a:r>
            <a:r>
              <a:rPr lang="zh-CN" altLang="en-US" sz="1600" dirty="0"/>
              <a:t> 能根据 </a:t>
            </a:r>
            <a:r>
              <a:rPr lang="en-SG" altLang="zh-CN" sz="1600" dirty="0"/>
              <a:t>Service Level Objective </a:t>
            </a:r>
            <a:r>
              <a:rPr lang="zh-CN" altLang="en-US" sz="1600" dirty="0"/>
              <a:t>和业务策略做主动、精细的决策。故障发生时，</a:t>
            </a:r>
            <a:r>
              <a:rPr lang="en-SG" altLang="zh-CN" sz="1600" dirty="0"/>
              <a:t>GGN</a:t>
            </a:r>
            <a:r>
              <a:rPr lang="zh-CN" altLang="en-US" sz="1600" dirty="0"/>
              <a:t>是多层递进响应：</a:t>
            </a:r>
            <a:endParaRPr lang="en-SG" altLang="zh-CN" sz="16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/>
              <a:t>亚秒级数据平面：</a:t>
            </a:r>
            <a:r>
              <a:rPr lang="zh-CN" altLang="en-US" sz="1200" dirty="0"/>
              <a:t>主机立刻把流量哈希切换到正常分片，应对黑洞故障；</a:t>
            </a:r>
            <a:endParaRPr lang="en-SG" altLang="zh-CN" sz="12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/>
              <a:t>秒级边缘路由层：</a:t>
            </a:r>
            <a:r>
              <a:rPr lang="en-SG" altLang="zh-CN" sz="1200" dirty="0"/>
              <a:t>BGP</a:t>
            </a:r>
            <a:r>
              <a:rPr lang="zh-CN" altLang="en-US" sz="1200" dirty="0"/>
              <a:t> 检测路由消失，边缘路由器自动避开故障分片；</a:t>
            </a:r>
            <a:endParaRPr lang="en-SG" altLang="zh-CN" sz="12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/>
              <a:t>分钟级</a:t>
            </a:r>
            <a:r>
              <a:rPr lang="en-SG" altLang="zh-CN" sz="1200" b="1" dirty="0"/>
              <a:t>SDN</a:t>
            </a:r>
            <a:r>
              <a:rPr lang="zh-CN" altLang="en-US" sz="1200" b="1" dirty="0"/>
              <a:t>控制平面：</a:t>
            </a:r>
            <a:r>
              <a:rPr lang="en-SG" altLang="zh-CN" sz="1200" dirty="0"/>
              <a:t>SE</a:t>
            </a:r>
            <a:r>
              <a:rPr lang="zh-CN" altLang="en-US" sz="1200" dirty="0"/>
              <a:t> 感知故障，通知剩余分片的控制器重新计算全网带宽分配，处理带宽下降这类非黑洞的部分故障。</a:t>
            </a:r>
            <a:endParaRPr lang="en-SG" altLang="zh-CN" sz="1200" dirty="0"/>
          </a:p>
          <a:p>
            <a:pPr algn="just">
              <a:spcAft>
                <a:spcPts val="1800"/>
              </a:spcAft>
            </a:pPr>
            <a:r>
              <a:rPr lang="zh-CN" altLang="en-US" sz="1600" dirty="0"/>
              <a:t>流量分级 </a:t>
            </a:r>
            <a:r>
              <a:rPr lang="en-SG" altLang="zh-CN" sz="1600" dirty="0"/>
              <a:t>Service Level Objective</a:t>
            </a:r>
            <a:r>
              <a:rPr lang="zh-CN" altLang="en-SG" sz="1600" dirty="0"/>
              <a:t>：</a:t>
            </a:r>
            <a:endParaRPr lang="en-SG" altLang="zh-CN" sz="16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altLang="zh-CN" sz="1200" dirty="0"/>
              <a:t>Tier-0</a:t>
            </a:r>
            <a:r>
              <a:rPr lang="zh-CN" altLang="en-US" sz="1200" dirty="0"/>
              <a:t>面向用户最高优先级：</a:t>
            </a:r>
            <a:r>
              <a:rPr lang="en-US" altLang="zh-CN" sz="1200" dirty="0"/>
              <a:t>99.99</a:t>
            </a:r>
            <a:r>
              <a:rPr lang="zh-CN" altLang="en-US" sz="1200" dirty="0"/>
              <a:t>可用性，每月只允许约</a:t>
            </a:r>
            <a:r>
              <a:rPr lang="en-US" altLang="zh-CN" sz="1200" dirty="0"/>
              <a:t>4</a:t>
            </a:r>
            <a:r>
              <a:rPr lang="zh-CN" altLang="en-US" sz="1200" dirty="0"/>
              <a:t>分钟故障；</a:t>
            </a:r>
            <a:endParaRPr lang="en-SG" altLang="zh-CN" sz="12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altLang="zh-CN" sz="1200" dirty="0"/>
              <a:t>Tier-1</a:t>
            </a:r>
            <a:r>
              <a:rPr lang="zh-CN" altLang="en-US" sz="1200" dirty="0"/>
              <a:t>内部高重要流量：</a:t>
            </a:r>
            <a:r>
              <a:rPr lang="en-US" altLang="zh-CN" sz="1200" dirty="0"/>
              <a:t>99.9</a:t>
            </a:r>
            <a:r>
              <a:rPr lang="zh-CN" altLang="en-US" sz="1200" dirty="0"/>
              <a:t>可用性；</a:t>
            </a:r>
            <a:endParaRPr lang="en-SG" altLang="zh-CN" sz="12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altLang="zh-CN" sz="1200" dirty="0"/>
              <a:t>Tier-2</a:t>
            </a:r>
            <a:r>
              <a:rPr lang="zh-CN" altLang="en-US" sz="1200" dirty="0"/>
              <a:t>大带宽、对时延不敏感业务；</a:t>
            </a:r>
            <a:endParaRPr lang="en-SG" altLang="zh-CN" sz="1200" dirty="0"/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altLang="zh-CN" sz="1200" dirty="0"/>
              <a:t>Tier-3</a:t>
            </a:r>
            <a:r>
              <a:rPr lang="zh-CN" altLang="en-US" sz="1200" dirty="0"/>
              <a:t>批量拷贝、后台迁移流量，容忍大量降级。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2829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5BBD4-17E4-DBAC-7640-44000523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10E19C-40D2-0E4D-1E62-4A5D6BD7E2B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52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dirty="0"/>
              <a:t>二、</a:t>
            </a:r>
            <a:r>
              <a:rPr lang="zh-CN" altLang="en-SG" sz="3600" b="1" dirty="0">
                <a:solidFill>
                  <a:schemeClr val="tx1"/>
                </a:solidFill>
              </a:rPr>
              <a:t>区域化</a:t>
            </a:r>
            <a:r>
              <a:rPr lang="zh-CN" altLang="en-US" sz="3600" b="1" dirty="0">
                <a:solidFill>
                  <a:schemeClr val="tx1"/>
                </a:solidFill>
              </a:rPr>
              <a:t> </a:t>
            </a:r>
            <a:r>
              <a:rPr lang="en-US" altLang="zh-CN" sz="3600" b="1" dirty="0">
                <a:solidFill>
                  <a:schemeClr val="tx1"/>
                </a:solidFill>
              </a:rPr>
              <a:t>Regionalization</a:t>
            </a:r>
            <a:endParaRPr lang="zh-CN" altLang="en-US" sz="3600" dirty="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24A198DB-EFA9-4563-3AB8-CE9C0E4B8C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4415" y="569837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8</a:t>
            </a:fld>
            <a:endParaRPr lang="zh-CN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496AC0-4DA5-2A82-4C5E-9703B657D7BD}"/>
              </a:ext>
            </a:extLst>
          </p:cNvPr>
          <p:cNvSpPr txBox="1"/>
          <p:nvPr/>
        </p:nvSpPr>
        <p:spPr>
          <a:xfrm>
            <a:off x="548640" y="1289001"/>
            <a:ext cx="110944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分片解决跨全球的控制器</a:t>
            </a:r>
            <a:r>
              <a:rPr lang="en-SG" dirty="0"/>
              <a:t>bug</a:t>
            </a:r>
            <a:r>
              <a:rPr lang="zh-CN" altLang="en-US" dirty="0"/>
              <a:t>风险，而区域化解决单个地区内部故障向外扩散。</a:t>
            </a:r>
            <a:endParaRPr lang="en-SG" altLang="zh-CN" dirty="0"/>
          </a:p>
          <a:p>
            <a:endParaRPr lang="zh-CN" altLang="en-US" dirty="0"/>
          </a:p>
          <a:p>
            <a:r>
              <a:rPr lang="en-SG" dirty="0"/>
              <a:t>GGN</a:t>
            </a:r>
            <a:r>
              <a:rPr lang="zh-CN" altLang="en-US" dirty="0"/>
              <a:t>给每一个地理区域部署一套完全独立的</a:t>
            </a:r>
            <a:r>
              <a:rPr lang="en-SG" dirty="0"/>
              <a:t>TE</a:t>
            </a:r>
            <a:r>
              <a:rPr lang="zh-CN" altLang="en-US" dirty="0"/>
              <a:t>流量工程、</a:t>
            </a:r>
            <a:r>
              <a:rPr lang="en-SG" dirty="0" err="1"/>
              <a:t>BwE</a:t>
            </a:r>
            <a:r>
              <a:rPr lang="zh-CN" altLang="en-US" dirty="0"/>
              <a:t>控制器。</a:t>
            </a:r>
            <a:r>
              <a:rPr lang="zh-CN" altLang="en-US" b="1" dirty="0"/>
              <a:t>区域控制器只能看见、管控本区域拓扑和流量，看不到全球完整网络。</a:t>
            </a:r>
            <a:endParaRPr lang="en-SG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区域内流量</a:t>
            </a:r>
            <a:r>
              <a:rPr lang="zh-CN" altLang="en-US" dirty="0"/>
              <a:t>：完全交给本区域控制器全权处理；</a:t>
            </a:r>
            <a:endParaRPr lang="en-SG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跨区域流量</a:t>
            </a:r>
            <a:r>
              <a:rPr lang="zh-CN" altLang="en-US" dirty="0"/>
              <a:t>：由区域控制器 </a:t>
            </a:r>
            <a:r>
              <a:rPr lang="en-US" altLang="zh-CN" dirty="0"/>
              <a:t>+ </a:t>
            </a:r>
            <a:r>
              <a:rPr lang="zh-CN" altLang="en-US" dirty="0"/>
              <a:t>全局控制器共同协作，各自管理自己管辖那一段路径，合并后得到最终带宽配额下发主机。</a:t>
            </a:r>
            <a:endParaRPr lang="en-SG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r>
              <a:rPr lang="zh-CN" altLang="en-US" dirty="0"/>
              <a:t>区域与全局之间设置硬边界，由边界节点</a:t>
            </a:r>
            <a:r>
              <a:rPr lang="en-SG" dirty="0"/>
              <a:t>Border Node</a:t>
            </a:r>
            <a:r>
              <a:rPr lang="zh-CN" altLang="en-US" dirty="0"/>
              <a:t>充当关口。边界节点物理硬件被两者共享，但做了严格保护：一旦策略冲突，</a:t>
            </a:r>
            <a:r>
              <a:rPr lang="zh-CN" altLang="en-US" b="1" dirty="0"/>
              <a:t>区域控制器指令优先级永远高于全局控制器</a:t>
            </a:r>
            <a:r>
              <a:rPr lang="zh-CN" altLang="en-US" dirty="0"/>
              <a:t>，杜绝全局控制器错误配置污染本地区域业务。</a:t>
            </a:r>
            <a:endParaRPr lang="en-SG" altLang="zh-CN" dirty="0"/>
          </a:p>
          <a:p>
            <a:endParaRPr lang="zh-CN" altLang="en-US" dirty="0"/>
          </a:p>
          <a:p>
            <a:r>
              <a:rPr lang="zh-CN" altLang="en-US" dirty="0"/>
              <a:t>连接边界节点的物理链路，做逻辑切分，一部分带宽专门给区域内部流量，剩下归全局跨域流量使用。不需要改动硬件，通过配置就可以动态调整两边带宽占比。</a:t>
            </a:r>
          </a:p>
        </p:txBody>
      </p:sp>
    </p:spTree>
    <p:extLst>
      <p:ext uri="{BB962C8B-B14F-4D97-AF65-F5344CB8AC3E}">
        <p14:creationId xmlns:p14="http://schemas.microsoft.com/office/powerpoint/2010/main" val="2786762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894E9-5A40-CC3C-54D5-44D35BA8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BF7654-3ACA-0033-6C83-FB14C291BA8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52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chemeClr val="tx1"/>
                </a:solidFill>
              </a:rPr>
              <a:t>三、硬件可选策略 </a:t>
            </a:r>
            <a:r>
              <a:rPr lang="en-SG" altLang="zh-CN" sz="3600" b="1" dirty="0">
                <a:solidFill>
                  <a:schemeClr val="tx1"/>
                </a:solidFill>
              </a:rPr>
              <a:t>WBB WAN</a:t>
            </a:r>
            <a:r>
              <a:rPr lang="zh-CN" altLang="en-US" sz="3600" b="1" dirty="0">
                <a:solidFill>
                  <a:schemeClr val="tx1"/>
                </a:solidFill>
              </a:rPr>
              <a:t>构建块</a:t>
            </a:r>
            <a:endParaRPr lang="zh-CN" altLang="en-US" sz="3600" dirty="0"/>
          </a:p>
        </p:txBody>
      </p:sp>
      <p:sp>
        <p:nvSpPr>
          <p:cNvPr id="40" name="Slide Number Placeholder 0">
            <a:extLst>
              <a:ext uri="{FF2B5EF4-FFF2-40B4-BE49-F238E27FC236}">
                <a16:creationId xmlns:a16="http://schemas.microsoft.com/office/drawing/2014/main" id="{E26B3B99-5856-BC0A-94DC-F9D8DF6269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4415" y="569837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9</a:t>
            </a:fld>
            <a:endParaRPr lang="zh-CN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FEC4C7-5832-402C-6E79-C10D885B1803}"/>
              </a:ext>
            </a:extLst>
          </p:cNvPr>
          <p:cNvSpPr txBox="1"/>
          <p:nvPr/>
        </p:nvSpPr>
        <p:spPr>
          <a:xfrm>
            <a:off x="548640" y="1289001"/>
            <a:ext cx="110944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谷歌</a:t>
            </a:r>
            <a:r>
              <a:rPr lang="en-SG" dirty="0"/>
              <a:t>B4</a:t>
            </a:r>
            <a:r>
              <a:rPr lang="zh-CN" altLang="en-US" dirty="0"/>
              <a:t>时代使用自研定制路由器硬件，现在</a:t>
            </a:r>
            <a:r>
              <a:rPr lang="en-SG" dirty="0"/>
              <a:t>GGN</a:t>
            </a:r>
            <a:r>
              <a:rPr lang="zh-CN" altLang="en-US" dirty="0"/>
              <a:t>转向多厂商通用商用路由器，提出</a:t>
            </a:r>
            <a:r>
              <a:rPr lang="en-SG" dirty="0"/>
              <a:t>WAN Building </a:t>
            </a:r>
            <a:r>
              <a:rPr lang="en-SG" dirty="0" err="1"/>
              <a:t>Block（WBB</a:t>
            </a:r>
            <a:r>
              <a:rPr lang="en-SG" dirty="0"/>
              <a:t>）</a:t>
            </a:r>
            <a:r>
              <a:rPr lang="zh-CN" altLang="en-US" dirty="0"/>
              <a:t>标准。优势如下：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规避单一厂商固件</a:t>
            </a:r>
            <a:r>
              <a:rPr lang="en-SG" dirty="0"/>
              <a:t>Bug、</a:t>
            </a:r>
            <a:r>
              <a:rPr lang="zh-CN" altLang="en-US" dirty="0"/>
              <a:t>供应链断供风险；</a:t>
            </a:r>
            <a:endParaRPr lang="en-SG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快速享用商业硬件迭代，不用自己投入巨大人力做硬件开发；</a:t>
            </a:r>
            <a:endParaRPr lang="en-SG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工程师聚焦核心软件（控制平面、流量调度），硬件交给供应商。</a:t>
            </a:r>
            <a:endParaRPr lang="en-SG" altLang="zh-CN" dirty="0"/>
          </a:p>
          <a:p>
            <a:endParaRPr lang="zh-CN" altLang="en-US" dirty="0"/>
          </a:p>
          <a:p>
            <a:r>
              <a:rPr lang="en-SG" dirty="0"/>
              <a:t>WBB</a:t>
            </a:r>
            <a:r>
              <a:rPr lang="zh-CN" altLang="en-US" dirty="0"/>
              <a:t>包含两大部分：</a:t>
            </a:r>
            <a:endParaRPr lang="en-SG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标准化开放</a:t>
            </a:r>
            <a:r>
              <a:rPr lang="en-SG" b="1" dirty="0"/>
              <a:t>API</a:t>
            </a:r>
            <a:r>
              <a:rPr lang="zh-CN" altLang="en-US" b="1" dirty="0"/>
              <a:t>；</a:t>
            </a:r>
            <a:endParaRPr lang="en-SG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抽象硬件</a:t>
            </a:r>
            <a:r>
              <a:rPr lang="en-SG" b="1" dirty="0"/>
              <a:t>SKU</a:t>
            </a:r>
            <a:r>
              <a:rPr lang="zh-CN" altLang="en-US" b="1" dirty="0"/>
              <a:t>目录</a:t>
            </a:r>
            <a:r>
              <a:rPr lang="zh-CN" altLang="en-US" dirty="0"/>
              <a:t>：不指定具体型号，只定义设备能力规格（吞吐量、功耗、转发能力），多家厂商硬件只要满足规格就可以互换部署。</a:t>
            </a:r>
            <a:endParaRPr lang="en-SG" altLang="zh-CN" dirty="0"/>
          </a:p>
        </p:txBody>
      </p:sp>
    </p:spTree>
    <p:extLst>
      <p:ext uri="{BB962C8B-B14F-4D97-AF65-F5344CB8AC3E}">
        <p14:creationId xmlns:p14="http://schemas.microsoft.com/office/powerpoint/2010/main" val="768846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chemeClr val="tx1"/>
                </a:solidFill>
              </a:rPr>
              <a:t>对 scale-across 硬件需求的启示</a:t>
            </a:r>
            <a:endParaRPr lang="zh-CN" altLang="en-US" sz="3600" dirty="0"/>
          </a:p>
        </p:txBody>
      </p:sp>
      <p:sp>
        <p:nvSpPr>
          <p:cNvPr id="3" name="inference note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accent6"/>
                </a:solidFill>
              </a:rPr>
              <a:t>【推断】左栏由 GGN 的设计推导；右栏是 GGN 未覆盖、跨站训练数据面必须补齐的部分</a:t>
            </a:r>
            <a:endParaRPr lang="zh-CN" altLang="en-US" sz="1400" dirty="0"/>
          </a:p>
        </p:txBody>
      </p:sp>
      <p:sp>
        <p:nvSpPr>
          <p:cNvPr id="4" name="column header 1"/>
          <p:cNvSpPr/>
          <p:nvPr/>
        </p:nvSpPr>
        <p:spPr>
          <a:xfrm>
            <a:off x="548640" y="1463040"/>
            <a:ext cx="5387188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492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GGN 已验证的设计 → 跨站互联要求</a:t>
            </a:r>
            <a:endParaRPr lang="zh-CN" altLang="en-US" sz="1600" dirty="0"/>
          </a:p>
        </p:txBody>
      </p:sp>
      <p:sp>
        <p:nvSpPr>
          <p:cNvPr id="6" name="column header 2"/>
          <p:cNvSpPr/>
          <p:nvPr/>
        </p:nvSpPr>
        <p:spPr>
          <a:xfrm>
            <a:off x="6255868" y="1463040"/>
            <a:ext cx="5387188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84468" y="1463040"/>
            <a:ext cx="492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GGN 未覆盖 → 站点边界必须补齐</a:t>
            </a:r>
            <a:endParaRPr lang="zh-CN" altLang="en-US" sz="1600" dirty="0"/>
          </a:p>
        </p:txBody>
      </p:sp>
      <p:sp>
        <p:nvSpPr>
          <p:cNvPr id="8" name="extra sources"/>
          <p:cNvSpPr txBox="1"/>
          <p:nvPr/>
        </p:nvSpPr>
        <p:spPr>
          <a:xfrm>
            <a:off x="45720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chemeClr val="accent6"/>
                </a:solidFill>
              </a:rPr>
              <a:t>右栏另据：Cisco（2026.10）、Broadcom、NVIDIA、MatchRDMA（arXiv 2604.23932）</a:t>
            </a:r>
            <a:endParaRPr lang="zh-CN" altLang="en-US" sz="1000" dirty="0"/>
          </a:p>
        </p:txBody>
      </p:sp>
      <p:sp>
        <p:nvSpPr>
          <p:cNvPr id="9" name="lesson row 1"/>
          <p:cNvSpPr/>
          <p:nvPr/>
        </p:nvSpPr>
        <p:spPr>
          <a:xfrm>
            <a:off x="548640" y="205740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多平面 + N−1 冗余 circle"/>
          <p:cNvSpPr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多平面 + N−1 冗余 icon" descr="多平面 + N−1 冗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5915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213055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多平面 + N−1 冗余</a:t>
            </a:r>
            <a:endParaRPr lang="zh-CN" alt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46888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每个集群出口接入全部平面，容量按 N/(N−1) 超配；不受保护时坏一个平面，带宽少约 1/N</a:t>
            </a:r>
            <a:endParaRPr lang="zh-CN" altLang="en-US" sz="1400" dirty="0"/>
          </a:p>
        </p:txBody>
      </p:sp>
      <p:sp>
        <p:nvSpPr>
          <p:cNvPr id="14" name="lesson row 2"/>
          <p:cNvSpPr/>
          <p:nvPr/>
        </p:nvSpPr>
        <p:spPr>
          <a:xfrm>
            <a:off x="548640" y="310896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光层路由多样性 circle"/>
          <p:cNvSpPr/>
          <p:nvPr/>
        </p:nvSpPr>
        <p:spPr>
          <a:xfrm>
            <a:off x="731520" y="33101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光层路由多样性 icon" descr="光层路由多样性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41071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25880" y="318211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光层路由多样性</a:t>
            </a:r>
            <a:endParaRPr lang="zh-CN" alt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352044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隔离只做到路由器层，光纤与光传输系统仍共享；关键链路要走不同管道和路由，metro 距离上成本可控</a:t>
            </a:r>
            <a:endParaRPr lang="zh-CN" altLang="en-US" sz="1400" dirty="0"/>
          </a:p>
        </p:txBody>
      </p:sp>
      <p:sp>
        <p:nvSpPr>
          <p:cNvPr id="19" name="lesson row 3"/>
          <p:cNvSpPr/>
          <p:nvPr/>
        </p:nvSpPr>
        <p:spPr>
          <a:xfrm>
            <a:off x="548640" y="416052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开放接口 + 多厂商 circle"/>
          <p:cNvSpPr/>
          <p:nvPr/>
        </p:nvSpPr>
        <p:spPr>
          <a:xfrm>
            <a:off x="731520" y="43616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开放接口 + 多厂商 icon" descr="开放接口 + 多厂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46227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25880" y="423367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开放接口 + 多厂商</a:t>
            </a:r>
            <a:endParaRPr lang="zh-CN" alt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325880" y="457200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设备需支持 gNMI / gNOI / gRIBI 开放接口，厂商按平面分散；供货速度要跟上 AI 驱动的扩容</a:t>
            </a:r>
            <a:endParaRPr lang="zh-CN" altLang="en-US" sz="1400" dirty="0"/>
          </a:p>
        </p:txBody>
      </p:sp>
      <p:sp>
        <p:nvSpPr>
          <p:cNvPr id="24" name="lesson row 4"/>
          <p:cNvSpPr/>
          <p:nvPr/>
        </p:nvSpPr>
        <p:spPr>
          <a:xfrm>
            <a:off x="548640" y="521208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表项与加权负载均衡 circle"/>
          <p:cNvSpPr/>
          <p:nvPr/>
        </p:nvSpPr>
        <p:spPr>
          <a:xfrm>
            <a:off x="731520" y="54132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表项与加权负载均衡 icon" descr="表项与加权负载均衡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551383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25880" y="528523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表项与加权负载均衡</a:t>
            </a:r>
            <a:endParaRPr lang="zh-CN" alt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325880" y="562356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要有足够的 ECMP/WCMP 组和隧道表项：GGN 受其所限，ECMP 下有 6% 不均衡，一次只能停一个 shard</a:t>
            </a:r>
            <a:endParaRPr lang="zh-CN" altLang="en-US" sz="1400" dirty="0"/>
          </a:p>
        </p:txBody>
      </p:sp>
      <p:sp>
        <p:nvSpPr>
          <p:cNvPr id="29" name="gap row 1"/>
          <p:cNvSpPr/>
          <p:nvPr/>
        </p:nvSpPr>
        <p:spPr>
          <a:xfrm>
            <a:off x="6255868" y="205740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深缓存（HBM 级） circle"/>
          <p:cNvSpPr/>
          <p:nvPr/>
        </p:nvSpPr>
        <p:spPr>
          <a:xfrm>
            <a:off x="6438748" y="22585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深缓存（HBM 级） icon" descr="深缓存（HBM 级）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332" y="2359152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033108" y="213055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深缓存（HBM 级）</a:t>
            </a:r>
            <a:endParaRPr lang="zh-CN" alt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033108" y="246888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800G 端口的在途数据：100 km（RTT 1 ms）≈ 100 MB；metro 上限 5 ms ≈ 500 MB</a:t>
            </a:r>
            <a:endParaRPr lang="zh-CN" altLang="en-US" sz="1400" dirty="0"/>
          </a:p>
        </p:txBody>
      </p:sp>
      <p:sp>
        <p:nvSpPr>
          <p:cNvPr id="34" name="gap row 2"/>
          <p:cNvSpPr/>
          <p:nvPr/>
        </p:nvSpPr>
        <p:spPr>
          <a:xfrm>
            <a:off x="6255868" y="310896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长距 RDMA circle"/>
          <p:cNvSpPr/>
          <p:nvPr/>
        </p:nvSpPr>
        <p:spPr>
          <a:xfrm>
            <a:off x="6438748" y="3310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长距 RDMA icon" descr="长距 RDM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9332" y="3410712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033108" y="318211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长距 RDMA</a:t>
            </a:r>
            <a:endParaRPr lang="zh-CN" alt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7033108" y="352044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无损 PFC 要按在途数据量留余量，浅缓存给不起；需要深缓存、分段流控或选择性重传网卡</a:t>
            </a:r>
            <a:endParaRPr lang="zh-CN" altLang="en-US" sz="1400" dirty="0"/>
          </a:p>
        </p:txBody>
      </p:sp>
      <p:sp>
        <p:nvSpPr>
          <p:cNvPr id="39" name="gap row 3"/>
          <p:cNvSpPr/>
          <p:nvPr/>
        </p:nvSpPr>
        <p:spPr>
          <a:xfrm>
            <a:off x="6255868" y="416052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距离自适应 + 集合通信感知的拥塞控制 circle"/>
          <p:cNvSpPr/>
          <p:nvPr/>
        </p:nvSpPr>
        <p:spPr>
          <a:xfrm>
            <a:off x="6438748" y="43616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距离自适应 + 集合通信感知的拥塞控制 icon" descr="距离自适应 + 集合通信感知的拥塞控制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9332" y="4462272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033108" y="423367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距离自适应 + 集合通信感知的拥塞控制</a:t>
            </a:r>
            <a:endParaRPr lang="zh-CN" alt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7033108" y="457200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反馈环从微秒变成毫秒，被动降速来不及；按集合通信提前错峰编排，让各流同时完成</a:t>
            </a:r>
            <a:endParaRPr lang="zh-CN" altLang="en-US" sz="1400" dirty="0"/>
          </a:p>
        </p:txBody>
      </p:sp>
      <p:sp>
        <p:nvSpPr>
          <p:cNvPr id="44" name="gap row 4"/>
          <p:cNvSpPr/>
          <p:nvPr/>
        </p:nvSpPr>
        <p:spPr>
          <a:xfrm>
            <a:off x="6255868" y="5212080"/>
            <a:ext cx="5387188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相干可插拔光模块 circle"/>
          <p:cNvSpPr/>
          <p:nvPr/>
        </p:nvSpPr>
        <p:spPr>
          <a:xfrm>
            <a:off x="6438748" y="541324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相干可插拔光模块 icon" descr="相干可插拔光模块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9332" y="5513832"/>
            <a:ext cx="256032" cy="25603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033108" y="5285232"/>
            <a:ext cx="442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相干可插拔光模块</a:t>
            </a:r>
            <a:endParaRPr lang="zh-CN" altLang="en-US" sz="1600" dirty="0"/>
          </a:p>
        </p:txBody>
      </p:sp>
      <p:sp>
        <p:nvSpPr>
          <p:cNvPr id="48" name="Text 38"/>
          <p:cNvSpPr txBox="1"/>
          <p:nvPr/>
        </p:nvSpPr>
        <p:spPr>
          <a:xfrm>
            <a:off x="7033108" y="5623560"/>
            <a:ext cx="442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400G/800G ZR/ZR+ 直插路由器端口；Cisco 估算两个 100 MW 站点需 1.2～3.2 万个相干端口</a:t>
            </a:r>
            <a:endParaRPr lang="zh-CN" alt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zh-CN" altLang="en-US" b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GN Fiber">
  <a:themeElements>
    <a:clrScheme name="GGN Fiber">
      <a:dk1>
        <a:srgbClr val="14232B"/>
      </a:dk1>
      <a:lt1>
        <a:srgbClr val="FFFFFF"/>
      </a:lt1>
      <a:dk2>
        <a:srgbClr val="0E3B43"/>
      </a:dk2>
      <a:lt2>
        <a:srgbClr val="EEF3F4"/>
      </a:lt2>
      <a:accent1>
        <a:srgbClr val="0F7C80"/>
      </a:accent1>
      <a:accent2>
        <a:srgbClr val="E3A43A"/>
      </a:accent2>
      <a:accent3>
        <a:srgbClr val="5B7A8C"/>
      </a:accent3>
      <a:accent4>
        <a:srgbClr val="A7D3D0"/>
      </a:accent4>
      <a:accent5>
        <a:srgbClr val="B5523B"/>
      </a:accent5>
      <a:accent6>
        <a:srgbClr val="5E6E76"/>
      </a:accent6>
      <a:hlink>
        <a:srgbClr val="0F7C80"/>
      </a:hlink>
      <a:folHlink>
        <a:srgbClr val="5B7A8C"/>
      </a:folHlink>
    </a:clrScheme>
    <a:fontScheme name="GGN Fiber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3089</Words>
  <Application>Microsoft Macintosh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GGN Fiber</vt:lpstr>
      <vt:lpstr>从 B2/B4 到 GGN</vt:lpstr>
      <vt:lpstr>为什么要把 B2/B4 升级为 GGN</vt:lpstr>
      <vt:lpstr>SIGCOMM 2026 从 B2/B4 到 GGN，谷歌新一代全球广域网 GGN</vt:lpstr>
      <vt:lpstr>GGN 架构</vt:lpstr>
      <vt:lpstr>GGN 分片</vt:lpstr>
      <vt:lpstr>GGN：一张分片、区域化的统一 SDN 骨干</vt:lpstr>
      <vt:lpstr>一、分片执行器 Shard Enforcer（SE）</vt:lpstr>
      <vt:lpstr>二、区域化 Regionalization</vt:lpstr>
      <vt:lpstr>三、硬件可选策略 WBB WAN构建块</vt:lpstr>
      <vt:lpstr>对 scale-across 硬件需求的启示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B2/B4 到 GGN</dc:title>
  <dc:subject>Google GGN 解读与 scale-across 启示</dc:subject>
  <dc:creator>Xin Ye</dc:creator>
  <cp:lastModifiedBy>ab21003</cp:lastModifiedBy>
  <cp:revision>4</cp:revision>
  <dcterms:created xsi:type="dcterms:W3CDTF">2026-10-20T13:21:21Z</dcterms:created>
  <dcterms:modified xsi:type="dcterms:W3CDTF">2026-10-21T08:01:01Z</dcterms:modified>
</cp:coreProperties>
</file>