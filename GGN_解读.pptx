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61" r:id="rId3"/>
    <p:sldId id="262" r:id="rId4"/>
    <p:sldId id="263" r:id="rId5"/>
    <p:sldId id="258" r:id="rId6"/>
    <p:sldId id="267" r:id="rId7"/>
    <p:sldId id="268" r:id="rId8"/>
    <p:sldId id="272" r:id="rId9"/>
    <p:sldId id="264" r:id="rId10"/>
    <p:sldId id="271" r:id="rId11"/>
    <p:sldId id="269" r:id="rId12"/>
    <p:sldId id="270" r:id="rId13"/>
    <p:sldId id="260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概览" id="{2A7BB7A3-0521-3580-8F84-F8EB4EC2560F}">
          <p14:sldIdLst>
            <p14:sldId id="256"/>
            <p14:sldId id="261"/>
            <p14:sldId id="262"/>
            <p14:sldId id="263"/>
          </p14:sldIdLst>
        </p14:section>
        <p14:section name="组网" id="{486E4666-6F76-EA43-8EE8-73E4282C9C53}">
          <p14:sldIdLst>
            <p14:sldId id="258"/>
            <p14:sldId id="267"/>
          </p14:sldIdLst>
        </p14:section>
        <p14:section name="业务" id="{8E668536-6A51-7047-A168-8C20ECC52924}">
          <p14:sldIdLst>
            <p14:sldId id="268"/>
          </p14:sldIdLst>
        </p14:section>
        <p14:section name="技术方案" id="{897D0692-6E00-BC4A-8B06-7BE536304AD0}">
          <p14:sldIdLst>
            <p14:sldId id="272"/>
            <p14:sldId id="264"/>
          </p14:sldIdLst>
        </p14:section>
        <p14:section name="关键组件与产品" id="{A4A45762-15C5-8140-B3D1-13518C6DF341}">
          <p14:sldIdLst>
            <p14:sldId id="271"/>
            <p14:sldId id="269"/>
          </p14:sldIdLst>
        </p14:section>
        <p14:section name="总结" id="{C918DB67-4451-9C47-9735-15AA2F93CB14}">
          <p14:sldIdLst>
            <p14:sldId id="270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82"/>
    <p:restoredTop sz="75263"/>
  </p:normalViewPr>
  <p:slideViewPr>
    <p:cSldViewPr snapToGrid="0" snapToObjects="1">
      <p:cViewPr>
        <p:scale>
          <a:sx n="84" d="100"/>
          <a:sy n="84" d="100"/>
        </p:scale>
        <p:origin x="1544" y="200"/>
      </p:cViewPr>
      <p:guideLst/>
    </p:cSldViewPr>
  </p:slideViewPr>
  <p:notesTextViewPr>
    <p:cViewPr>
      <p:scale>
        <a:sx n="110" d="100"/>
        <a:sy n="11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406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三个问题的结论先行。
1）为什么升级：B2 是运营商式 IP/MPLS，分布式 MPLS-TE 随 LSP 增长撑不住；B4 集中式 TE 的全局控制器是全球故障域，硬件转发表逼近上限；双网并存导致特性做两遍、容量不能互借。新需求来自 Cloud（可执行 SLO、多 region 故障不可接受）和 AI（规模超出单个数据中心）。
2）GGN 是什么：模块化分域（Edge/Core + Edge-Core API）、核心分片（4 个 shard，B4 为 Shard 1）+ 区域化（每 region 独立 TE/BwE）、WBB 多厂商硬件。
3）启示为推断：GGN 本身是控制面/可用性论文，未涉及深缓存、长距 RDMA、集合通信感知拥塞控制。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7A9C8-5B67-16C0-97E8-E118A7FC9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1F1324-E437-7D65-F415-DA37B6834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E3E614-841C-6F47-29D9-3D8CC9CA6C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G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IPv6（</a:t>
            </a:r>
            <a:r>
              <a:rPr lang="zh-CN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互联网协议第</a:t>
            </a:r>
            <a:r>
              <a:rPr lang="en-US" altLang="zh-CN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</a:t>
            </a:r>
            <a:r>
              <a:rPr lang="zh-CN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版）是</a:t>
            </a:r>
            <a:r>
              <a:rPr lang="zh-CN" altLang="en-US" dirty="0"/>
              <a:t>用于在互联网上标识设备和路由数据的最新网络层协议。它是为取代地址已耗尽的</a:t>
            </a:r>
            <a:r>
              <a:rPr lang="en-SG" dirty="0"/>
              <a:t>IPv4</a:t>
            </a:r>
            <a:r>
              <a:rPr lang="zh-CN" altLang="en-US" dirty="0"/>
              <a:t>而设计的，将</a:t>
            </a:r>
            <a:r>
              <a:rPr lang="en-SG" dirty="0"/>
              <a:t>IP</a:t>
            </a:r>
            <a:r>
              <a:rPr lang="zh-CN" altLang="en-US" dirty="0"/>
              <a:t>地址长度从</a:t>
            </a:r>
            <a:r>
              <a:rPr lang="en-US" altLang="zh-CN" dirty="0"/>
              <a:t>32</a:t>
            </a:r>
            <a:r>
              <a:rPr lang="zh-CN" altLang="en-US" dirty="0"/>
              <a:t>位扩展至</a:t>
            </a:r>
            <a:r>
              <a:rPr lang="en-US" altLang="zh-CN" dirty="0"/>
              <a:t>128</a:t>
            </a:r>
            <a:r>
              <a:rPr lang="zh-CN" altLang="en-US" dirty="0"/>
              <a:t>位，提供几乎用不完的地址空间。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论文</a:t>
            </a:r>
            <a:r>
              <a:rPr lang="en-US" dirty="0"/>
              <a:t> §2：B2 的 MPLS-TE 控制面受 LSP 增长所困（图 1）；B4 的集中式 TE 扩展性好，但全局控制器是全球故障域（2019 年 GCP 网络事故），硬件表项受限（图 2）。B4 靠垂直扩容（100GE→400GE 芯片）和水平扩容（加 supernode），不足以支撑 Cloud 与 AI/ML 的容量增长。
双网问题：控制面、管理栈、运维流程各一套；B2 与 B4 支持的流量类型、连接的 </a:t>
            </a:r>
            <a:r>
              <a:rPr lang="en-US" dirty="0" err="1"/>
              <a:t>edge、时延都不同，容量无法动态互借</a:t>
            </a:r>
            <a:r>
              <a:rPr lang="en-US" dirty="0"/>
              <a:t>。
新需求：Cloud 客户要求带宽/时延/可用性 SLO、数据主权下的路径控制、按需带宽和线速加密；多 region 故障不可接受。动机中明确写到 ML </a:t>
            </a:r>
            <a:r>
              <a:rPr lang="en-US" dirty="0" err="1"/>
              <a:t>工作负载规模超出单个数据中心</a:t>
            </a:r>
            <a:r>
              <a:rPr lang="en-US" dirty="0"/>
              <a:t>。</a:t>
            </a:r>
          </a:p>
          <a:p>
            <a:endParaRPr lang="en-US" dirty="0"/>
          </a:p>
          <a:p>
            <a:r>
              <a:rPr lang="en-US" dirty="0"/>
              <a:t>┌─────────────┬──────────┬─────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r>
              <a:rPr lang="en-US" dirty="0"/>
              <a:t>│             </a:t>
            </a:r>
            <a:r>
              <a:rPr lang="zh-CN" altLang="en-US" dirty="0"/>
              <a:t>                      </a:t>
            </a:r>
            <a:r>
              <a:rPr lang="en-US" dirty="0"/>
              <a:t>│ B2 / B4  </a:t>
            </a:r>
            <a:r>
              <a:rPr lang="zh-CN" altLang="en-US" dirty="0"/>
              <a:t>           </a:t>
            </a:r>
            <a:r>
              <a:rPr lang="en-US" dirty="0"/>
              <a:t>│                              GGN </a:t>
            </a:r>
            <a:r>
              <a:rPr lang="zh-CN" altLang="en-US" dirty="0"/>
              <a:t>的 </a:t>
            </a:r>
            <a:r>
              <a:rPr lang="en-US" altLang="zh-CN" dirty="0"/>
              <a:t>4 </a:t>
            </a:r>
            <a:r>
              <a:rPr lang="zh-CN" altLang="en-US" dirty="0"/>
              <a:t>个 </a:t>
            </a:r>
            <a:r>
              <a:rPr lang="en-US" dirty="0"/>
              <a:t>shard                              </a:t>
            </a:r>
            <a:r>
              <a:rPr lang="zh-CN" altLang="en-US" dirty="0"/>
              <a:t>                                             </a:t>
            </a:r>
            <a:r>
              <a:rPr lang="en-US" dirty="0"/>
              <a:t>│</a:t>
            </a:r>
          </a:p>
          <a:p>
            <a:r>
              <a:rPr lang="en-US" dirty="0"/>
              <a:t>├─────────────┼──────────┼─────────────────────────────────────────────────────────────────────────────┤</a:t>
            </a:r>
          </a:p>
          <a:p>
            <a:r>
              <a:rPr lang="en-US" dirty="0"/>
              <a:t>│ </a:t>
            </a:r>
            <a:r>
              <a:rPr lang="zh-CN" altLang="en-US" dirty="0"/>
              <a:t>流量类型                   │ 各管各的          │ 每个 </a:t>
            </a:r>
            <a:r>
              <a:rPr lang="en-US" dirty="0"/>
              <a:t>shard </a:t>
            </a:r>
            <a:r>
              <a:rPr lang="zh-CN" altLang="en-US" dirty="0"/>
              <a:t>都承载所有类型（按 </a:t>
            </a:r>
            <a:r>
              <a:rPr lang="en-US" dirty="0"/>
              <a:t>Tier </a:t>
            </a:r>
            <a:r>
              <a:rPr lang="zh-CN" altLang="en-US" dirty="0"/>
              <a:t>分优先级）                               │</a:t>
            </a:r>
          </a:p>
          <a:p>
            <a:r>
              <a:rPr lang="zh-CN" altLang="en-US" dirty="0"/>
              <a:t>├─────────────┼──────────┼─────────────────────────────────────────────────────────────────────────────┤</a:t>
            </a:r>
          </a:p>
          <a:p>
            <a:r>
              <a:rPr lang="zh-CN" altLang="en-US" dirty="0"/>
              <a:t>│ 连接的 </a:t>
            </a:r>
            <a:r>
              <a:rPr lang="en-US" dirty="0"/>
              <a:t>edge </a:t>
            </a:r>
            <a:r>
              <a:rPr lang="zh-CN" altLang="en-US" dirty="0"/>
              <a:t>            </a:t>
            </a:r>
            <a:r>
              <a:rPr lang="en-US" dirty="0"/>
              <a:t>│ </a:t>
            </a:r>
            <a:r>
              <a:rPr lang="zh-CN" altLang="en-US" dirty="0"/>
              <a:t>不一样              │ 每个 </a:t>
            </a:r>
            <a:r>
              <a:rPr lang="en-US" dirty="0" err="1"/>
              <a:t>edge（Compute、CSE、IE</a:t>
            </a:r>
            <a:r>
              <a:rPr lang="en-US" dirty="0"/>
              <a:t>）</a:t>
            </a:r>
            <a:r>
              <a:rPr lang="zh-CN" altLang="en-US" dirty="0"/>
              <a:t>都接到全部 </a:t>
            </a:r>
            <a:r>
              <a:rPr lang="en-US" dirty="0"/>
              <a:t>shard                               │</a:t>
            </a:r>
          </a:p>
          <a:p>
            <a:r>
              <a:rPr lang="en-US" dirty="0"/>
              <a:t>├─────────────┼──────────┼─────────────────────────────────────────────────────────────────────────────┤</a:t>
            </a:r>
          </a:p>
          <a:p>
            <a:r>
              <a:rPr lang="en-US" dirty="0"/>
              <a:t>│ </a:t>
            </a:r>
            <a:r>
              <a:rPr lang="zh-CN" altLang="en-US" dirty="0"/>
              <a:t>统一调度                  │ 没有                   │ </a:t>
            </a:r>
            <a:r>
              <a:rPr lang="en-S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Shard Enforcer</a:t>
            </a:r>
            <a:r>
              <a:rPr lang="en-US" dirty="0"/>
              <a:t> </a:t>
            </a:r>
            <a:r>
              <a:rPr lang="zh-CN" altLang="en-US" dirty="0"/>
              <a:t>掌握所有 </a:t>
            </a:r>
            <a:r>
              <a:rPr lang="en-US" dirty="0"/>
              <a:t>shard </a:t>
            </a:r>
            <a:r>
              <a:rPr lang="zh-CN" altLang="en-US" dirty="0"/>
              <a:t>的可用带宽，可以按目的地把流量从一个 </a:t>
            </a:r>
            <a:r>
              <a:rPr lang="en-US" dirty="0"/>
              <a:t>shard </a:t>
            </a:r>
            <a:r>
              <a:rPr lang="zh-CN" altLang="en-US" dirty="0"/>
              <a:t>挪到其他 </a:t>
            </a:r>
            <a:r>
              <a:rPr lang="en-US" dirty="0"/>
              <a:t>shard │</a:t>
            </a:r>
          </a:p>
          <a:p>
            <a:r>
              <a:rPr lang="en-US" dirty="0"/>
              <a:t>├─────────────┼──────────┼─────────────────────────────────────────────────────────────────────────────┤</a:t>
            </a:r>
          </a:p>
          <a:p>
            <a:r>
              <a:rPr lang="en-US" dirty="0"/>
              <a:t>│ </a:t>
            </a:r>
            <a:r>
              <a:rPr lang="zh-CN" altLang="en-US" dirty="0"/>
              <a:t>容量规划                   │ 分开做              │ 统一做：</a:t>
            </a:r>
            <a:r>
              <a:rPr lang="en-US" dirty="0"/>
              <a:t>Tier-0/1 </a:t>
            </a:r>
            <a:r>
              <a:rPr lang="zh-CN" altLang="en-US" dirty="0"/>
              <a:t>按 </a:t>
            </a:r>
            <a:r>
              <a:rPr lang="en-US" dirty="0"/>
              <a:t>N−1 </a:t>
            </a:r>
            <a:r>
              <a:rPr lang="zh-CN" altLang="en-US" dirty="0"/>
              <a:t>规划，低优先级流量机会性地用各 </a:t>
            </a:r>
            <a:r>
              <a:rPr lang="en-US" dirty="0"/>
              <a:t>shard </a:t>
            </a:r>
            <a:r>
              <a:rPr lang="zh-CN" altLang="en-US" dirty="0"/>
              <a:t>的余量         │</a:t>
            </a:r>
          </a:p>
          <a:p>
            <a:r>
              <a:rPr lang="zh-CN" altLang="en-US" dirty="0"/>
              <a:t>└─────────────┴──────────┴─────────────────────────────────────────────────────────────────────────────┘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1F8ED-79AA-309E-5EF2-C4EE7FB9E2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43429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23D58-3D10-88D7-D491-A8DABA3AF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79C115-F05E-D3A0-9C7E-3ACBA79887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2B622D-924A-724F-328E-15B2AC09FB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A16816-1D1D-5297-CA46-90485E90D6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0415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E8F1E-1EFA-9716-A8DD-9A3F40CA6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08A20A-6F7A-3488-079C-D8594A9049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72DD27-3DC4-2B2A-4DCE-8D8F7964FD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这里的</a:t>
            </a:r>
            <a:r>
              <a:rPr lang="en-US" altLang="zh-CN" dirty="0"/>
              <a:t>“</a:t>
            </a:r>
            <a:r>
              <a:rPr lang="zh-CN" altLang="en-US" dirty="0"/>
              <a:t>二层</a:t>
            </a:r>
            <a:r>
              <a:rPr lang="en-US" altLang="zh-CN" dirty="0"/>
              <a:t>”</a:t>
            </a:r>
            <a:r>
              <a:rPr lang="zh-CN" altLang="en-US" dirty="0"/>
              <a:t>是广域网里按 </a:t>
            </a:r>
            <a:r>
              <a:rPr lang="en-US" dirty="0"/>
              <a:t>L0～L3 </a:t>
            </a:r>
            <a:r>
              <a:rPr lang="zh-CN" altLang="en-US" dirty="0"/>
              <a:t>给网络分层时的第二层：路由器与路由器之间的链路。</a:t>
            </a:r>
            <a:r>
              <a:rPr lang="en-US" altLang="zh-CN" dirty="0"/>
              <a:t>"</a:t>
            </a:r>
            <a:r>
              <a:rPr lang="zh-CN" altLang="en-US" dirty="0"/>
              <a:t>二层及以上</a:t>
            </a:r>
            <a:r>
              <a:rPr lang="en-US" altLang="zh-CN" dirty="0"/>
              <a:t>"</a:t>
            </a:r>
            <a:r>
              <a:rPr lang="zh-CN" altLang="en-US" dirty="0"/>
              <a:t>就是链路、路由器、路由，以及上面的 </a:t>
            </a:r>
            <a:r>
              <a:rPr lang="en-US" dirty="0"/>
              <a:t>SDN </a:t>
            </a:r>
            <a:r>
              <a:rPr lang="zh-CN" altLang="en-US" dirty="0"/>
              <a:t>控制面。不在隔离范围内的，是下面的光纤和光传输（</a:t>
            </a:r>
            <a:r>
              <a:rPr lang="en-US" dirty="0"/>
              <a:t>L0/L1）。</a:t>
            </a:r>
          </a:p>
          <a:p>
            <a:endParaRPr lang="en-US" dirty="0"/>
          </a:p>
          <a:p>
            <a:r>
              <a:rPr lang="zh-CN" altLang="en-US" dirty="0"/>
              <a:t>论文里流量的出发端叫 </a:t>
            </a:r>
            <a:r>
              <a:rPr lang="en-US" dirty="0"/>
              <a:t>Local Edge，</a:t>
            </a:r>
            <a:r>
              <a:rPr lang="zh-CN" altLang="en-US" dirty="0"/>
              <a:t>接收端叫 </a:t>
            </a:r>
            <a:r>
              <a:rPr lang="en-US" dirty="0"/>
              <a:t>Remote Edge。</a:t>
            </a:r>
            <a:r>
              <a:rPr lang="zh-CN" altLang="en-US" dirty="0"/>
              <a:t>流量在 </a:t>
            </a:r>
            <a:r>
              <a:rPr lang="en-US" dirty="0"/>
              <a:t>Local Edge </a:t>
            </a:r>
            <a:r>
              <a:rPr lang="zh-CN" altLang="en-US" dirty="0"/>
              <a:t>拆分到各个 </a:t>
            </a:r>
            <a:r>
              <a:rPr lang="en-US" dirty="0"/>
              <a:t>shard，</a:t>
            </a:r>
            <a:r>
              <a:rPr lang="zh-CN" altLang="en-US" dirty="0"/>
              <a:t>在 </a:t>
            </a:r>
            <a:r>
              <a:rPr lang="en-US" dirty="0"/>
              <a:t>Remote Edge </a:t>
            </a:r>
            <a:r>
              <a:rPr lang="zh-CN" altLang="en-US" dirty="0"/>
              <a:t>汇合。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8F3EC1-7445-6792-3C9C-DD46F008A8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3025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左图：核心网被复制成 4 个 shard（行），每个 shard 内部再按 Global Core / Regional Core 切成控制域（格）；每格有独立 TE/BwE。Shard 1 是原 B4，Shard 2~4 新建且从一开始就区域化；Shard 1 仍在逐步区域化（53% 的 region 已完成）。
Edge 域不分片，每个 edge 经独立 L1 链路接入全部 shard；源端 edge 按流 ECMP 拆分，目的端汇合。SE（Shard Enforcer）在 edge 的 BwE 控制面里，用 target prefix + BGP 递归解析按目的集群停用某个 shard。
隔离：路由器及以上严格隔离，L0/L1（光纤、光传输系统）尽量隔离，海缆等共用。
WBB：抽象 SKU（转发能力、吞吐、功耗），WBB-XL（16 槽机框）用于最大数据中心、WBB-S 用于 peering 站点；开放接口 gNMI/gNOI/gRIBI。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来源：论文 §3（功能分域）、§4（核心分片）、§4.3.1（隔离层级）、§4.3.3（FBR 与主机打标）、§5.1（区域化、边界节点、边界链路逻辑切分）、脚注 1（43 个 region、200+ 国家和地区）、§6.2 图 9～10（站点约 10 倍、容量约 45 倍）。
主机打标用的是包头里的保留位；论文说明它主要用于平滑迁移，不是分片架构的必需品。FBR 对打标流量默认 ECMP，由 SE 调整权重；edge 路由器用分层 WCMP 把 SE 的意图落到物理干线。
Shard 2～4 从一开始就区域化；Shard 1（B4）原来是全局控制器，正在逐步改造（已区域化的 region 占 53%，覆盖 12% 的 region 内流量）。
站点（site）是 B4 架构的基本 fabric 单元，supernode 是一个 SDN 域，也是 site 的构建块，这两个概念在 GGN 里沿用。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CN" altLang="en-US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来源：论文 §2.2（业务从内部服务扩展到 Cloud 企业客户和大规模 AI/ML）、§3（三类 edge）、§3.3 表 1（等级与 SLO）、§4.1（故障预算约 4 / 40 分钟）、§4.3.4（N−1 只保护 Tier-0/1）、§4.3.4 第 3 层响应（Tier-0 约 3 分钟、Tier-1 5～15 分钟）、§6 图 7（UF 占比 5%→21%）、§6.2（ML/AI region 40%）、§6.3（+406%）。
“坏分钟”比业界常见做法更严：论文脚注指出 Microsoft OneWAN 和 Meta EBB 只按连通性/丢包定义。
时延 SLO：不超过基线最短路时延乘以按等级设定的倍数，低等级容忍度更大。
Compute Edge 卡片中“Cloud 的计算和存储”来自 §5（区域化降低 Cloud 客户计算与存储的区域相关故障风险）；论文没有逐条列出各类业务走哪个 edge。
训练同步流量属于哪个 Tier，论文没有说明。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CN" altLang="en-US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来源：GGN 论文 §3.2（WBB、抽象 SKU、gNMI / gNOI / gRIBI；B2 在厂商设备上跑 IS-IS、RSVP-TE，B4 在自研硬件上用 SDN 控制器）、附录 A（GGN 的 TE 与路由系统设计成互不依赖）；Orion（NSDI 2021，对交换机下发用 OpenFlow，同时用于 Jupiter 和 B4）；ONF 2023 P4 Workshop 谷歌报告（Orion 之下为 P4Runtime、SAI、SONiC，未说明用于哪张网）；SwitchV（SIGCOMM 2022）。
两种控制模式的区别：OpenFlow 模式下交换机基本没有自己的路由能力，转发表全靠控制器；gRIBI 模式下路由器照常跑 BGP、IS-IS，控制器只额外插入路由，控制器故障时路由器仍能转发。
缩写：OpenFlow = 控制器直接编程交换机流表的协议；gRIBI = gRPC Routing Information Base Interface，往路由器路由表写条目的接口；gNMI = gRPC Network Management Interface，配置和遥测；gNOI = gRPC Network Operations Interface，重启、升级等运维操作；P4Runtime = 按 P4 程序描述的流水线下发表项的接口；PINS = P4 Integrated Network Stack，在 SONiC 上提供 P4Runtime；SONiC = 开源交换机操作系统；SAI = Switch Abstraction Interface，屏蔽不同交换芯片差异的接口。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CN" altLang="en-US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来源：论文 §5（区域化、边界节点、边界链路逻辑切分、被否决的方案、区域控制器部署）、§4.3.4（三层故障响应）、附录 A.2（Automated TE-to-Routing Fallback）、§6.3（53% region、12% region 内流量、受保护流量 +947%）、§7（事故 C、D）。
底层路由里 BGP 回答“从哪个出口送出去”，IS-IS 回答“到出口走哪几条干线”；BGP、IS-IS 一直在运行，只是优先级低于 TE 下发的路径，所以回退能自动、快速完成。代价是只走最短路，可能拥塞（事故 C 丢包持续 90 分钟）。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来源：论文 §3.2（WBB、抽象 SKU、gNMI/gNOI/gRIBI）、§4.1～4.3（SE、FBR、PRR、CAPA、edge 路由控制器引 [11] Orion）、§5.1（边界节点、区域控制器部署）、附录 A（Tree Tunnels、NU-BwE、NCS-free/Borg）、附录 D（D.1：数据面可作为 Google 容器化应用的可编程平台，研发到试点周期缩短 75%；D.2：ONDATRA、Feature Profiles、KNE）。
Saturn / Stargate 是论文 §3.2 给出的 B4 自研交换硬件名称。WBB 的部署规则：任何单一厂商的 bug 都不能影响全部 shard。
WBB 相对“再自研一代”的五年总拥有成本：净现值约省 2%，基本持平（§7.4）。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CN" altLang="en-US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来源：GGN 论文 §2、§3.2、§4、§4.3；B4 and After 幻灯片（SIGCOMM 2018，cspages.ucalgary.ca 存档）；Network Computing、eeNews Europe 对 2012 年 ONS 主题演讲的报道（B4 128 × 10GE 交换机、OpenFlow agent、Quagga）；Jupiter Rising（SIGCOMM 2015）；谷歌博客 The evolution of Google's Jupiter data center network（2022）；Mission Apollo（arXiv 2208.10041）；TPU v4（arXiv 2304.01433）；Espresso（SIGCOMM 2017）；Google Cloud 事故报告 cloud-networking/21006。
查不到的：WBB 路由器的厂商、型号和交换芯片；光线路系统和相干光模块的厂商、型号；J-POP、Stargate 的芯片和端口规格（B4 and After 论文正文未取到）。
OCS = Optical Circuit Switch，光路交换机：用微镜直接把两根光纤的光接通，不解析数据包；MEMS = 微机电系统。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各条结论的出处见对应板块页的备注。成本数字来自论文 §7.4；可用性来自 §7.1；“没覆盖”一行为对论文内容的归纳。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右栏第 4 条（为什么 GGN 没覆盖这些）：BwE = Bandwidth Enforcer，谷歌在发送端做限速的系统；TE = Traffic Engineering，流量工程，由中央控制器决定流量走哪条路；GGN 还靠优先级分层和主机侧 PRR 换路处理拥塞与故障。RDMA = Remote Direct Memory Access，网卡直接读写对方机器的内存；PFC = Priority-based Flow Control，交换机缓存快满时让上游暂停发送。
左栏（由 GGN 推导）：
· 多平面：GGN 按 N−1 只保护 Tier-0/1；4 个 shard 时容量 1.33 倍超配。训练同步流量若算 Tier-2（高带宽、时延不敏感），单个 shard 故障时损失约 1/4 带宽，同步训练整体变慢。
· 光层：GGN 只在路由器及以上严格隔离，海缆、光传输系统共用；历史事故中共用光层的故障出于成本考虑不打算完全隔离。metro 距离的陆缆做路由多样性比海缆便宜得多。
· 开放接口：WBB 的抽象 SKU + gNMI/gNOI/gRIBI；部署规则是任一厂商 bug 不影响全部 shard。GGN 最近约每 2 周新增一张 2019 年规模的 B4。
· 表项：B4 受硬件表项限制，Tree Tunnels 把隧道和 FIB 表项减少最多 90%；SE 受 WCMP 组数限制，一次只能停一个 shard、只能为 50% 远端 edge 编程独立状态；ECMP 下观测到 6% 不均衡。
右栏（GGN 未涉及，来自公开资料）：
· 在途数据量 = 带宽 × RTT；光纤约 5 µs/km。800 Gbps × 1 ms = 100 MB；× 5 ms = 500 MB。深缓存芯片如 Broadcom Jericho4、Cisco Silicon One P200（HBM）。
· 长距 RDMA：PFC 暂停信号跨 100 km 需 0.5 ms，下游需约 100 MB 余量；分段方案如 MatchRDMA（arXiv 2604.23932）。</a:t>
            </a:r>
            <a:r>
              <a:rPr lang="zh-CN" altLang="en-US" dirty="0"/>
              <a:t>基于优先级的流量控制（</a:t>
            </a:r>
            <a:r>
              <a:rPr lang="en-SG" dirty="0"/>
              <a:t>Priority-based Flow Control）</a:t>
            </a:r>
            <a:r>
              <a:rPr lang="en-US" dirty="0"/>
              <a:t>
· 拥塞控制：NVIDIA Spectrum-XGS 的距离自适应拥塞控制；Cisco 主张利用集合通信的重复性提前调度，深缓存作安全网。
· 光模块：Cisco（The Register，2026.10）估算 scale-across 带宽约为常规 DCI 的 14 倍，两个 100 MW 站点需 1.2~3.2 万个相干端口（常规 DCI 约 1~2 千）。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59436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zh-CN" altLang="en-US" sz="44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zh-CN" altLang="en-US" sz="4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1554480"/>
            <a:ext cx="11094415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zh-CN" altLang="en-US" sz="2000" dirty="0">
                <a:solidFill>
                  <a:schemeClr val="accent4"/>
                </a:solidFill>
              </a:defRPr>
            </a:lvl1pPr>
          </a:lstStyle>
          <a:p>
            <a:pPr marL="0" indent="0">
              <a:buNone/>
            </a:pPr>
            <a:endParaRPr lang="zh-CN" alt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zh-CN" altLang="en-US" sz="36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zh-CN" alt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000" dirty="0">
                <a:solidFill>
                  <a:schemeClr val="accent6"/>
                </a:solidFill>
              </a:rPr>
              <a:t>来源：Al-Fares et al., GGN, ACM SIGCOMM 2026</a:t>
            </a:r>
            <a:endParaRPr lang="zh-CN" alt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5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9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5" Type="http://schemas.openxmlformats.org/officeDocument/2006/relationships/image" Target="../media/image10.png"/><Relationship Id="rId4" Type="http://schemas.openxmlformats.org/officeDocument/2006/relationships/image" Target="../media/image19.png"/><Relationship Id="rId9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792" y="2468880"/>
            <a:ext cx="110944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CN" sz="4400" b="1" dirty="0">
                <a:solidFill>
                  <a:schemeClr val="bg1"/>
                </a:solidFill>
              </a:rPr>
              <a:t>Google</a:t>
            </a:r>
            <a:r>
              <a:rPr lang="zh-CN" altLang="en-US" sz="4400" b="1" dirty="0">
                <a:solidFill>
                  <a:schemeClr val="bg1"/>
                </a:solidFill>
              </a:rPr>
              <a:t> GGN</a:t>
            </a:r>
            <a:r>
              <a:rPr lang="en-US" dirty="0"/>
              <a:t> ：</a:t>
            </a:r>
            <a:r>
              <a:rPr lang="en-US" dirty="0" err="1"/>
              <a:t>组网、业务、技术方案与关键组件</a:t>
            </a:r>
            <a:endParaRPr lang="zh-CN" altLang="en-US" sz="4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AE15E-BA1E-72FC-C209-A81CE733D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3BB9F6E-C19F-547C-5E8F-013A6F9A5CB4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600" b="1" dirty="0">
                <a:solidFill>
                  <a:schemeClr val="tx1"/>
                </a:solidFill>
              </a:rPr>
              <a:t>为什么要把 B2/B4 升级为 GGN</a:t>
            </a:r>
            <a:endParaRPr lang="zh-CN" altLang="en-US" sz="3600" dirty="0"/>
          </a:p>
        </p:txBody>
      </p:sp>
      <p:sp>
        <p:nvSpPr>
          <p:cNvPr id="3" name="legacy card 1">
            <a:extLst>
              <a:ext uri="{FF2B5EF4-FFF2-40B4-BE49-F238E27FC236}">
                <a16:creationId xmlns:a16="http://schemas.microsoft.com/office/drawing/2014/main" id="{1C00FB87-F1CE-E944-C7F9-A76EF762A311}"/>
              </a:ext>
            </a:extLst>
          </p:cNvPr>
          <p:cNvSpPr/>
          <p:nvPr/>
        </p:nvSpPr>
        <p:spPr>
          <a:xfrm>
            <a:off x="548640" y="1280160"/>
            <a:ext cx="3484778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B2：公网骨干 circle">
            <a:extLst>
              <a:ext uri="{FF2B5EF4-FFF2-40B4-BE49-F238E27FC236}">
                <a16:creationId xmlns:a16="http://schemas.microsoft.com/office/drawing/2014/main" id="{945C7597-140A-ED76-F7D4-665EF152494B}"/>
              </a:ext>
            </a:extLst>
          </p:cNvPr>
          <p:cNvSpPr/>
          <p:nvPr/>
        </p:nvSpPr>
        <p:spPr>
          <a:xfrm>
            <a:off x="822960" y="155448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B2：公网骨干 icon" descr="B2：公网骨干">
            <a:extLst>
              <a:ext uri="{FF2B5EF4-FFF2-40B4-BE49-F238E27FC236}">
                <a16:creationId xmlns:a16="http://schemas.microsoft.com/office/drawing/2014/main" id="{16C3708D-D720-77B5-7ABE-F538DFD295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661" y="1675181"/>
            <a:ext cx="307238" cy="307238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462792E1-C72E-C796-BEB8-641315E5DD0F}"/>
              </a:ext>
            </a:extLst>
          </p:cNvPr>
          <p:cNvSpPr txBox="1"/>
          <p:nvPr/>
        </p:nvSpPr>
        <p:spPr>
          <a:xfrm>
            <a:off x="1508760" y="1508760"/>
            <a:ext cx="2296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800" b="1" dirty="0">
                <a:solidFill>
                  <a:schemeClr val="tx1"/>
                </a:solidFill>
              </a:rPr>
              <a:t>B2：公网骨干</a:t>
            </a:r>
            <a:endParaRPr lang="zh-CN" altLang="en-US" sz="18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0D8C4D0F-C454-BCA8-AD9B-F43D08994BB2}"/>
              </a:ext>
            </a:extLst>
          </p:cNvPr>
          <p:cNvSpPr txBox="1"/>
          <p:nvPr/>
        </p:nvSpPr>
        <p:spPr>
          <a:xfrm>
            <a:off x="1508760" y="1874520"/>
            <a:ext cx="2296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chemeClr val="accent6"/>
                </a:solidFill>
              </a:rPr>
              <a:t>传统运营商风格</a:t>
            </a:r>
            <a:r>
              <a:rPr lang="en-SG" altLang="zh-CN" sz="1200" dirty="0">
                <a:solidFill>
                  <a:schemeClr val="accent6"/>
                </a:solidFill>
              </a:rPr>
              <a:t>IP/MPLS</a:t>
            </a:r>
            <a:r>
              <a:rPr lang="zh-CN" altLang="en-US" sz="1200" dirty="0">
                <a:solidFill>
                  <a:schemeClr val="accent6"/>
                </a:solidFill>
              </a:rPr>
              <a:t>网络，处理面向普通用户的互联网流量；</a:t>
            </a:r>
            <a:endParaRPr lang="zh-CN" altLang="en-US" sz="12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58E525A3-170B-519F-FACC-D8CF9BBA0E3E}"/>
              </a:ext>
            </a:extLst>
          </p:cNvPr>
          <p:cNvSpPr txBox="1"/>
          <p:nvPr/>
        </p:nvSpPr>
        <p:spPr>
          <a:xfrm>
            <a:off x="822960" y="2331720"/>
            <a:ext cx="293613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zh-CN" altLang="en-US" sz="1600" dirty="0">
                <a:solidFill>
                  <a:schemeClr val="tx1"/>
                </a:solidFill>
              </a:rPr>
              <a:t>LSP 数量随网络扩张持续增长，分布式 MPLS-TE 控制面逼近扩展上限</a:t>
            </a:r>
            <a:endParaRPr lang="zh-CN" altLang="en-US" sz="1600" dirty="0"/>
          </a:p>
        </p:txBody>
      </p:sp>
      <p:sp>
        <p:nvSpPr>
          <p:cNvPr id="9" name="legacy card 2">
            <a:extLst>
              <a:ext uri="{FF2B5EF4-FFF2-40B4-BE49-F238E27FC236}">
                <a16:creationId xmlns:a16="http://schemas.microsoft.com/office/drawing/2014/main" id="{A852C6DE-2F5D-B0F6-D785-DCA093A923C6}"/>
              </a:ext>
            </a:extLst>
          </p:cNvPr>
          <p:cNvSpPr/>
          <p:nvPr/>
        </p:nvSpPr>
        <p:spPr>
          <a:xfrm>
            <a:off x="4353458" y="1280160"/>
            <a:ext cx="3484778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B4：DC 间 SDN 骨干 circle">
            <a:extLst>
              <a:ext uri="{FF2B5EF4-FFF2-40B4-BE49-F238E27FC236}">
                <a16:creationId xmlns:a16="http://schemas.microsoft.com/office/drawing/2014/main" id="{A9612CEF-9324-A324-4207-E114B696A958}"/>
              </a:ext>
            </a:extLst>
          </p:cNvPr>
          <p:cNvSpPr/>
          <p:nvPr/>
        </p:nvSpPr>
        <p:spPr>
          <a:xfrm>
            <a:off x="4627778" y="155448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B4：DC 间 SDN 骨干 icon" descr="B4：DC 间 SDN 骨干">
            <a:extLst>
              <a:ext uri="{FF2B5EF4-FFF2-40B4-BE49-F238E27FC236}">
                <a16:creationId xmlns:a16="http://schemas.microsoft.com/office/drawing/2014/main" id="{513E0FE9-C959-00AF-A141-E87B6D8CBE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8479" y="1675181"/>
            <a:ext cx="307238" cy="307238"/>
          </a:xfrm>
          <a:prstGeom prst="rect">
            <a:avLst/>
          </a:prstGeom>
        </p:spPr>
      </p:pic>
      <p:sp>
        <p:nvSpPr>
          <p:cNvPr id="12" name="Text 8">
            <a:extLst>
              <a:ext uri="{FF2B5EF4-FFF2-40B4-BE49-F238E27FC236}">
                <a16:creationId xmlns:a16="http://schemas.microsoft.com/office/drawing/2014/main" id="{8CF7FC0E-463D-26B9-36AF-DD0570BE0E44}"/>
              </a:ext>
            </a:extLst>
          </p:cNvPr>
          <p:cNvSpPr txBox="1"/>
          <p:nvPr/>
        </p:nvSpPr>
        <p:spPr>
          <a:xfrm>
            <a:off x="5313578" y="1508760"/>
            <a:ext cx="2296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800" b="1" dirty="0">
                <a:solidFill>
                  <a:schemeClr val="tx1"/>
                </a:solidFill>
              </a:rPr>
              <a:t>B4：软件定义广域网</a:t>
            </a:r>
            <a:endParaRPr lang="zh-CN" altLang="en-US" sz="1800" dirty="0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D7F92954-0799-16AB-CD42-5A614610B805}"/>
              </a:ext>
            </a:extLst>
          </p:cNvPr>
          <p:cNvSpPr txBox="1"/>
          <p:nvPr/>
        </p:nvSpPr>
        <p:spPr>
          <a:xfrm>
            <a:off x="5313578" y="1874520"/>
            <a:ext cx="2296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chemeClr val="accent6"/>
                </a:solidFill>
              </a:rPr>
              <a:t>集中式 </a:t>
            </a:r>
            <a:r>
              <a:rPr lang="en-SG" altLang="zh-CN" sz="1200" dirty="0">
                <a:solidFill>
                  <a:schemeClr val="accent6"/>
                </a:solidFill>
              </a:rPr>
              <a:t>SDN</a:t>
            </a:r>
            <a:r>
              <a:rPr lang="zh-CN" altLang="en-US" sz="1200" dirty="0">
                <a:solidFill>
                  <a:schemeClr val="accent6"/>
                </a:solidFill>
              </a:rPr>
              <a:t> 控制器，自研硬件</a:t>
            </a:r>
            <a:endParaRPr lang="zh-CN" altLang="en-US" sz="1200" dirty="0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CFFBBBD0-8259-D717-8D03-AAA87DA520F6}"/>
              </a:ext>
            </a:extLst>
          </p:cNvPr>
          <p:cNvSpPr txBox="1"/>
          <p:nvPr/>
        </p:nvSpPr>
        <p:spPr>
          <a:xfrm>
            <a:off x="4627778" y="2331720"/>
            <a:ext cx="293613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zh-CN" altLang="en-US" sz="1600" dirty="0">
                <a:solidFill>
                  <a:schemeClr val="tx1"/>
                </a:solidFill>
              </a:rPr>
              <a:t>全局控制器的 bug 可影响全球；依靠升级更强硬件、增加节点实现扩容</a:t>
            </a:r>
            <a:endParaRPr lang="zh-CN" altLang="en-US" sz="1600" dirty="0"/>
          </a:p>
        </p:txBody>
      </p:sp>
      <p:sp>
        <p:nvSpPr>
          <p:cNvPr id="15" name="legacy card 3">
            <a:extLst>
              <a:ext uri="{FF2B5EF4-FFF2-40B4-BE49-F238E27FC236}">
                <a16:creationId xmlns:a16="http://schemas.microsoft.com/office/drawing/2014/main" id="{0892533C-CABD-55AA-7162-57F7DEE61070}"/>
              </a:ext>
            </a:extLst>
          </p:cNvPr>
          <p:cNvSpPr/>
          <p:nvPr/>
        </p:nvSpPr>
        <p:spPr>
          <a:xfrm>
            <a:off x="8158277" y="1280160"/>
            <a:ext cx="3484778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两张网并存 circle">
            <a:extLst>
              <a:ext uri="{FF2B5EF4-FFF2-40B4-BE49-F238E27FC236}">
                <a16:creationId xmlns:a16="http://schemas.microsoft.com/office/drawing/2014/main" id="{BE978616-B07D-1AC2-186B-E33102E07003}"/>
              </a:ext>
            </a:extLst>
          </p:cNvPr>
          <p:cNvSpPr/>
          <p:nvPr/>
        </p:nvSpPr>
        <p:spPr>
          <a:xfrm>
            <a:off x="8432597" y="155448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两张网并存 icon" descr="两张网并存">
            <a:extLst>
              <a:ext uri="{FF2B5EF4-FFF2-40B4-BE49-F238E27FC236}">
                <a16:creationId xmlns:a16="http://schemas.microsoft.com/office/drawing/2014/main" id="{552690D9-DDFD-BC9D-A017-823A140A24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3298" y="1675181"/>
            <a:ext cx="307238" cy="307238"/>
          </a:xfrm>
          <a:prstGeom prst="rect">
            <a:avLst/>
          </a:prstGeom>
        </p:spPr>
      </p:pic>
      <p:sp>
        <p:nvSpPr>
          <p:cNvPr id="18" name="Text 13">
            <a:extLst>
              <a:ext uri="{FF2B5EF4-FFF2-40B4-BE49-F238E27FC236}">
                <a16:creationId xmlns:a16="http://schemas.microsoft.com/office/drawing/2014/main" id="{F4A0608B-6528-582D-B5EE-D7431FB5BF17}"/>
              </a:ext>
            </a:extLst>
          </p:cNvPr>
          <p:cNvSpPr txBox="1"/>
          <p:nvPr/>
        </p:nvSpPr>
        <p:spPr>
          <a:xfrm>
            <a:off x="9118397" y="1508760"/>
            <a:ext cx="2296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800" b="1" dirty="0">
                <a:solidFill>
                  <a:schemeClr val="tx1"/>
                </a:solidFill>
              </a:rPr>
              <a:t>两张网并存</a:t>
            </a:r>
            <a:endParaRPr lang="zh-CN" altLang="en-US" sz="1800" dirty="0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FDD487E1-3A0E-8B10-87F9-401420D34BFC}"/>
              </a:ext>
            </a:extLst>
          </p:cNvPr>
          <p:cNvSpPr txBox="1"/>
          <p:nvPr/>
        </p:nvSpPr>
        <p:spPr>
          <a:xfrm>
            <a:off x="9118397" y="1874520"/>
            <a:ext cx="2296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chemeClr val="accent6"/>
                </a:solidFill>
              </a:rPr>
              <a:t>两套控制面、管理系统、运维流程</a:t>
            </a:r>
            <a:endParaRPr lang="zh-CN" altLang="en-US" sz="1200" dirty="0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A4E40E60-069D-C858-7DD3-0E299A8062FF}"/>
              </a:ext>
            </a:extLst>
          </p:cNvPr>
          <p:cNvSpPr txBox="1"/>
          <p:nvPr/>
        </p:nvSpPr>
        <p:spPr>
          <a:xfrm>
            <a:off x="8432597" y="2331720"/>
            <a:ext cx="293613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zh-CN" altLang="en-US" sz="1600" dirty="0">
                <a:solidFill>
                  <a:schemeClr val="tx1"/>
                </a:solidFill>
              </a:rPr>
              <a:t>IPv6、新 QoS 等特性要开发两遍；容量不能互借，海缆中断时一张网拥塞、另一张闲置</a:t>
            </a:r>
            <a:endParaRPr lang="zh-CN" altLang="en-US" sz="1600" dirty="0"/>
          </a:p>
        </p:txBody>
      </p:sp>
      <p:sp>
        <p:nvSpPr>
          <p:cNvPr id="21" name="requirements card">
            <a:extLst>
              <a:ext uri="{FF2B5EF4-FFF2-40B4-BE49-F238E27FC236}">
                <a16:creationId xmlns:a16="http://schemas.microsoft.com/office/drawing/2014/main" id="{B12D9E21-6338-36E5-45AD-D24C8F7D0E53}"/>
              </a:ext>
            </a:extLst>
          </p:cNvPr>
          <p:cNvSpPr/>
          <p:nvPr/>
        </p:nvSpPr>
        <p:spPr>
          <a:xfrm>
            <a:off x="548640" y="4069080"/>
            <a:ext cx="502920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8D9138A2-9924-6E69-C20E-0CE8EE340BE9}"/>
              </a:ext>
            </a:extLst>
          </p:cNvPr>
          <p:cNvSpPr txBox="1"/>
          <p:nvPr/>
        </p:nvSpPr>
        <p:spPr>
          <a:xfrm>
            <a:off x="822960" y="42062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800" b="1" dirty="0">
                <a:solidFill>
                  <a:schemeClr val="accent1"/>
                </a:solidFill>
              </a:rPr>
              <a:t>新需求</a:t>
            </a:r>
            <a:endParaRPr lang="zh-CN" altLang="en-US" sz="1800" dirty="0"/>
          </a:p>
        </p:txBody>
      </p:sp>
      <p:sp>
        <p:nvSpPr>
          <p:cNvPr id="23" name="Cloud 客户 circle">
            <a:extLst>
              <a:ext uri="{FF2B5EF4-FFF2-40B4-BE49-F238E27FC236}">
                <a16:creationId xmlns:a16="http://schemas.microsoft.com/office/drawing/2014/main" id="{58208919-2CA5-744F-8DA9-1205AE841762}"/>
              </a:ext>
            </a:extLst>
          </p:cNvPr>
          <p:cNvSpPr/>
          <p:nvPr/>
        </p:nvSpPr>
        <p:spPr>
          <a:xfrm>
            <a:off x="822960" y="47548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Cloud 客户 icon" descr="Cloud 客户">
            <a:extLst>
              <a:ext uri="{FF2B5EF4-FFF2-40B4-BE49-F238E27FC236}">
                <a16:creationId xmlns:a16="http://schemas.microsoft.com/office/drawing/2014/main" id="{06A5F840-7904-BC91-D54E-9D28452ACF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486" y="4845406"/>
            <a:ext cx="230429" cy="230429"/>
          </a:xfrm>
          <a:prstGeom prst="rect">
            <a:avLst/>
          </a:prstGeom>
        </p:spPr>
      </p:pic>
      <p:sp>
        <p:nvSpPr>
          <p:cNvPr id="25" name="Text 19">
            <a:extLst>
              <a:ext uri="{FF2B5EF4-FFF2-40B4-BE49-F238E27FC236}">
                <a16:creationId xmlns:a16="http://schemas.microsoft.com/office/drawing/2014/main" id="{3616F03A-C72E-1E61-C1CC-CF3E8CCCB9CC}"/>
              </a:ext>
            </a:extLst>
          </p:cNvPr>
          <p:cNvSpPr txBox="1"/>
          <p:nvPr/>
        </p:nvSpPr>
        <p:spPr>
          <a:xfrm>
            <a:off x="1417320" y="4709160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zh-CN" altLang="en-US" sz="1400" b="1" dirty="0">
                <a:solidFill>
                  <a:schemeClr val="tx1"/>
                </a:solidFill>
              </a:rPr>
              <a:t>Cloud 客户  </a:t>
            </a:r>
            <a:r>
              <a:rPr lang="zh-CN" altLang="en-US" sz="1400" dirty="0"/>
              <a:t>把网络当成自己的业务，要求明确的 </a:t>
            </a:r>
            <a:r>
              <a:rPr lang="en-SG" sz="1400" dirty="0"/>
              <a:t>SLO、</a:t>
            </a:r>
            <a:r>
              <a:rPr lang="zh-CN" altLang="en-US" sz="1400" dirty="0"/>
              <a:t>可预测的带宽、延迟和可用性</a:t>
            </a:r>
            <a:r>
              <a:rPr lang="zh-CN" altLang="en-US" sz="1400" dirty="0">
                <a:solidFill>
                  <a:schemeClr val="tx1"/>
                </a:solidFill>
              </a:rPr>
              <a:t>；多区域同时故障不可接受</a:t>
            </a:r>
            <a:endParaRPr lang="zh-CN" altLang="en-US" sz="1400" dirty="0"/>
          </a:p>
        </p:txBody>
      </p:sp>
      <p:sp>
        <p:nvSpPr>
          <p:cNvPr id="26" name="AI/ML circle">
            <a:extLst>
              <a:ext uri="{FF2B5EF4-FFF2-40B4-BE49-F238E27FC236}">
                <a16:creationId xmlns:a16="http://schemas.microsoft.com/office/drawing/2014/main" id="{76387F7A-8BF9-E0CA-272E-D56BE8098B21}"/>
              </a:ext>
            </a:extLst>
          </p:cNvPr>
          <p:cNvSpPr/>
          <p:nvPr/>
        </p:nvSpPr>
        <p:spPr>
          <a:xfrm>
            <a:off x="822960" y="55321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7" name="AI/ML icon" descr="AI/ML">
            <a:extLst>
              <a:ext uri="{FF2B5EF4-FFF2-40B4-BE49-F238E27FC236}">
                <a16:creationId xmlns:a16="http://schemas.microsoft.com/office/drawing/2014/main" id="{5BAE705F-6E2E-8A13-FA80-7F916088864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486" y="5622646"/>
            <a:ext cx="230429" cy="230429"/>
          </a:xfrm>
          <a:prstGeom prst="rect">
            <a:avLst/>
          </a:prstGeom>
        </p:spPr>
      </p:pic>
      <p:sp>
        <p:nvSpPr>
          <p:cNvPr id="28" name="Text 21">
            <a:extLst>
              <a:ext uri="{FF2B5EF4-FFF2-40B4-BE49-F238E27FC236}">
                <a16:creationId xmlns:a16="http://schemas.microsoft.com/office/drawing/2014/main" id="{8CD81C39-5988-2E6C-5FA9-BAD06FE9D3A6}"/>
              </a:ext>
            </a:extLst>
          </p:cNvPr>
          <p:cNvSpPr txBox="1"/>
          <p:nvPr/>
        </p:nvSpPr>
        <p:spPr>
          <a:xfrm>
            <a:off x="1417320" y="5486400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b="1" dirty="0">
                <a:solidFill>
                  <a:schemeClr val="tx1"/>
                </a:solidFill>
              </a:rPr>
              <a:t>AI/ML  </a:t>
            </a:r>
            <a:r>
              <a:rPr lang="zh-CN" altLang="en-US" sz="1400" dirty="0">
                <a:solidFill>
                  <a:schemeClr val="tx1"/>
                </a:solidFill>
              </a:rPr>
              <a:t>训练规模超出单个数据中心，容量需求爆发式增长</a:t>
            </a:r>
            <a:endParaRPr lang="zh-CN" altLang="en-US" sz="1400" dirty="0"/>
          </a:p>
        </p:txBody>
      </p:sp>
      <p:sp>
        <p:nvSpPr>
          <p:cNvPr id="29" name="arrow to goals">
            <a:extLst>
              <a:ext uri="{FF2B5EF4-FFF2-40B4-BE49-F238E27FC236}">
                <a16:creationId xmlns:a16="http://schemas.microsoft.com/office/drawing/2014/main" id="{6AE65315-793D-95B9-C367-568FFB3B396F}"/>
              </a:ext>
            </a:extLst>
          </p:cNvPr>
          <p:cNvSpPr/>
          <p:nvPr/>
        </p:nvSpPr>
        <p:spPr>
          <a:xfrm>
            <a:off x="5715000" y="4937760"/>
            <a:ext cx="457200" cy="45720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goals card">
            <a:extLst>
              <a:ext uri="{FF2B5EF4-FFF2-40B4-BE49-F238E27FC236}">
                <a16:creationId xmlns:a16="http://schemas.microsoft.com/office/drawing/2014/main" id="{AD9C6969-D0EB-0757-6E91-BE68085965C1}"/>
              </a:ext>
            </a:extLst>
          </p:cNvPr>
          <p:cNvSpPr/>
          <p:nvPr/>
        </p:nvSpPr>
        <p:spPr>
          <a:xfrm>
            <a:off x="6309360" y="4069080"/>
            <a:ext cx="5333695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4">
            <a:extLst>
              <a:ext uri="{FF2B5EF4-FFF2-40B4-BE49-F238E27FC236}">
                <a16:creationId xmlns:a16="http://schemas.microsoft.com/office/drawing/2014/main" id="{A4243D86-71B1-6F5A-8C4B-A630EB5A5DCC}"/>
              </a:ext>
            </a:extLst>
          </p:cNvPr>
          <p:cNvSpPr txBox="1"/>
          <p:nvPr/>
        </p:nvSpPr>
        <p:spPr>
          <a:xfrm>
            <a:off x="6583680" y="4206240"/>
            <a:ext cx="4785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800" b="1" dirty="0">
                <a:solidFill>
                  <a:schemeClr val="accent2"/>
                </a:solidFill>
              </a:rPr>
              <a:t>GGN 的四个目标</a:t>
            </a:r>
            <a:endParaRPr lang="zh-CN" altLang="en-US" sz="1800" dirty="0"/>
          </a:p>
        </p:txBody>
      </p:sp>
      <p:sp>
        <p:nvSpPr>
          <p:cNvPr id="32" name="goal tile 1">
            <a:extLst>
              <a:ext uri="{FF2B5EF4-FFF2-40B4-BE49-F238E27FC236}">
                <a16:creationId xmlns:a16="http://schemas.microsoft.com/office/drawing/2014/main" id="{686D174A-B597-B61C-0C2D-016119928857}"/>
              </a:ext>
            </a:extLst>
          </p:cNvPr>
          <p:cNvSpPr/>
          <p:nvPr/>
        </p:nvSpPr>
        <p:spPr>
          <a:xfrm>
            <a:off x="6583680" y="4709160"/>
            <a:ext cx="2301088" cy="685800"/>
          </a:xfrm>
          <a:prstGeom prst="roundRect">
            <a:avLst>
              <a:gd name="adj" fmla="val 8000"/>
            </a:avLst>
          </a:prstGeom>
          <a:solidFill>
            <a:schemeClr val="bg1">
              <a:alpha val="12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26">
            <a:extLst>
              <a:ext uri="{FF2B5EF4-FFF2-40B4-BE49-F238E27FC236}">
                <a16:creationId xmlns:a16="http://schemas.microsoft.com/office/drawing/2014/main" id="{A0E626DA-4414-E643-392F-8F13431EDFEB}"/>
              </a:ext>
            </a:extLst>
          </p:cNvPr>
          <p:cNvSpPr txBox="1"/>
          <p:nvPr/>
        </p:nvSpPr>
        <p:spPr>
          <a:xfrm>
            <a:off x="6720840" y="4754880"/>
            <a:ext cx="2026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b="1" dirty="0">
                <a:solidFill>
                  <a:schemeClr val="bg1"/>
                </a:solidFill>
              </a:rPr>
              <a:t>消除全局故障</a:t>
            </a:r>
            <a:endParaRPr lang="zh-CN" altLang="en-US" sz="1400" dirty="0"/>
          </a:p>
          <a:p>
            <a:pPr marL="0" indent="0">
              <a:buNone/>
            </a:pPr>
            <a:r>
              <a:rPr lang="zh-CN" altLang="en-US" sz="1200" dirty="0">
                <a:solidFill>
                  <a:schemeClr val="accent4"/>
                </a:solidFill>
              </a:rPr>
              <a:t>限制在单个区域内</a:t>
            </a:r>
            <a:endParaRPr lang="zh-CN" altLang="en-US" sz="1400" dirty="0"/>
          </a:p>
        </p:txBody>
      </p:sp>
      <p:sp>
        <p:nvSpPr>
          <p:cNvPr id="34" name="goal tile 2">
            <a:extLst>
              <a:ext uri="{FF2B5EF4-FFF2-40B4-BE49-F238E27FC236}">
                <a16:creationId xmlns:a16="http://schemas.microsoft.com/office/drawing/2014/main" id="{3171E9F1-1CC4-4809-727C-A18D1B09F188}"/>
              </a:ext>
            </a:extLst>
          </p:cNvPr>
          <p:cNvSpPr/>
          <p:nvPr/>
        </p:nvSpPr>
        <p:spPr>
          <a:xfrm>
            <a:off x="9067648" y="4709160"/>
            <a:ext cx="2301088" cy="685800"/>
          </a:xfrm>
          <a:prstGeom prst="roundRect">
            <a:avLst>
              <a:gd name="adj" fmla="val 8000"/>
            </a:avLst>
          </a:prstGeom>
          <a:solidFill>
            <a:schemeClr val="bg1">
              <a:alpha val="12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28">
            <a:extLst>
              <a:ext uri="{FF2B5EF4-FFF2-40B4-BE49-F238E27FC236}">
                <a16:creationId xmlns:a16="http://schemas.microsoft.com/office/drawing/2014/main" id="{12E82DDC-5602-74EE-23D8-DA84F6742E82}"/>
              </a:ext>
            </a:extLst>
          </p:cNvPr>
          <p:cNvSpPr txBox="1"/>
          <p:nvPr/>
        </p:nvSpPr>
        <p:spPr>
          <a:xfrm>
            <a:off x="9204808" y="4754880"/>
            <a:ext cx="2026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b="1" dirty="0">
                <a:solidFill>
                  <a:schemeClr val="bg1"/>
                </a:solidFill>
              </a:rPr>
              <a:t>超大可扩展能力</a:t>
            </a:r>
            <a:endParaRPr lang="zh-CN" altLang="en-US" sz="1400" dirty="0"/>
          </a:p>
          <a:p>
            <a:pPr marL="0" indent="0">
              <a:buNone/>
            </a:pPr>
            <a:r>
              <a:rPr lang="zh-CN" altLang="en-US" sz="1200" dirty="0">
                <a:solidFill>
                  <a:schemeClr val="accent4"/>
                </a:solidFill>
              </a:rPr>
              <a:t>不再单纯依赖硬件升级</a:t>
            </a:r>
            <a:endParaRPr lang="zh-CN" altLang="en-US" sz="1400" dirty="0"/>
          </a:p>
        </p:txBody>
      </p:sp>
      <p:sp>
        <p:nvSpPr>
          <p:cNvPr id="36" name="goal tile 3">
            <a:extLst>
              <a:ext uri="{FF2B5EF4-FFF2-40B4-BE49-F238E27FC236}">
                <a16:creationId xmlns:a16="http://schemas.microsoft.com/office/drawing/2014/main" id="{9FDFED7A-56DF-8167-FC18-271DE9B44F54}"/>
              </a:ext>
            </a:extLst>
          </p:cNvPr>
          <p:cNvSpPr/>
          <p:nvPr/>
        </p:nvSpPr>
        <p:spPr>
          <a:xfrm>
            <a:off x="6583680" y="5504688"/>
            <a:ext cx="2301088" cy="685800"/>
          </a:xfrm>
          <a:prstGeom prst="roundRect">
            <a:avLst>
              <a:gd name="adj" fmla="val 8000"/>
            </a:avLst>
          </a:prstGeom>
          <a:solidFill>
            <a:schemeClr val="bg1">
              <a:alpha val="12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0">
            <a:extLst>
              <a:ext uri="{FF2B5EF4-FFF2-40B4-BE49-F238E27FC236}">
                <a16:creationId xmlns:a16="http://schemas.microsoft.com/office/drawing/2014/main" id="{41553402-4253-02E1-5E51-6B84B28E4E97}"/>
              </a:ext>
            </a:extLst>
          </p:cNvPr>
          <p:cNvSpPr txBox="1"/>
          <p:nvPr/>
        </p:nvSpPr>
        <p:spPr>
          <a:xfrm>
            <a:off x="6720840" y="5550408"/>
            <a:ext cx="2026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b="1" dirty="0">
                <a:solidFill>
                  <a:schemeClr val="bg1"/>
                </a:solidFill>
              </a:rPr>
              <a:t>网络快速迭代</a:t>
            </a:r>
            <a:endParaRPr lang="en-SG" altLang="zh-CN" sz="1400" b="1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zh-CN" altLang="en-US" sz="1200" dirty="0">
                <a:solidFill>
                  <a:schemeClr val="accent4"/>
                </a:solidFill>
              </a:rPr>
              <a:t>新硬件、新特性快速上线</a:t>
            </a:r>
            <a:endParaRPr lang="zh-CN" altLang="en-US" sz="1400" dirty="0"/>
          </a:p>
        </p:txBody>
      </p:sp>
      <p:sp>
        <p:nvSpPr>
          <p:cNvPr id="38" name="goal tile 4">
            <a:extLst>
              <a:ext uri="{FF2B5EF4-FFF2-40B4-BE49-F238E27FC236}">
                <a16:creationId xmlns:a16="http://schemas.microsoft.com/office/drawing/2014/main" id="{884BF3C6-9B40-A75B-14E9-F30CE2ACEA12}"/>
              </a:ext>
            </a:extLst>
          </p:cNvPr>
          <p:cNvSpPr/>
          <p:nvPr/>
        </p:nvSpPr>
        <p:spPr>
          <a:xfrm>
            <a:off x="9067648" y="5504688"/>
            <a:ext cx="2301088" cy="685800"/>
          </a:xfrm>
          <a:prstGeom prst="roundRect">
            <a:avLst>
              <a:gd name="adj" fmla="val 8000"/>
            </a:avLst>
          </a:prstGeom>
          <a:solidFill>
            <a:schemeClr val="bg1">
              <a:alpha val="12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2">
            <a:extLst>
              <a:ext uri="{FF2B5EF4-FFF2-40B4-BE49-F238E27FC236}">
                <a16:creationId xmlns:a16="http://schemas.microsoft.com/office/drawing/2014/main" id="{CE227313-8336-9C31-DD0C-0786B6748C7E}"/>
              </a:ext>
            </a:extLst>
          </p:cNvPr>
          <p:cNvSpPr txBox="1"/>
          <p:nvPr/>
        </p:nvSpPr>
        <p:spPr>
          <a:xfrm>
            <a:off x="9204808" y="5550408"/>
            <a:ext cx="2026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b="1" dirty="0">
                <a:solidFill>
                  <a:schemeClr val="bg1"/>
                </a:solidFill>
              </a:rPr>
              <a:t>清晰可执行 SLO</a:t>
            </a:r>
            <a:endParaRPr lang="zh-CN" altLang="en-US" sz="1400" dirty="0"/>
          </a:p>
          <a:p>
            <a:pPr marL="0" indent="0">
              <a:buNone/>
            </a:pPr>
            <a:r>
              <a:rPr lang="zh-CN" altLang="en-US" sz="1200" dirty="0">
                <a:solidFill>
                  <a:schemeClr val="accent4"/>
                </a:solidFill>
              </a:rPr>
              <a:t>丢包、带宽、时延可执行</a:t>
            </a:r>
            <a:endParaRPr lang="zh-CN" altLang="en-US" sz="1400" dirty="0"/>
          </a:p>
        </p:txBody>
      </p:sp>
      <p:sp>
        <p:nvSpPr>
          <p:cNvPr id="40" name="Slide Number Placeholder 0">
            <a:extLst>
              <a:ext uri="{FF2B5EF4-FFF2-40B4-BE49-F238E27FC236}">
                <a16:creationId xmlns:a16="http://schemas.microsoft.com/office/drawing/2014/main" id="{12379A14-26B5-F392-DB1A-42F1EBCC6A8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2159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8D77A-71E8-0E38-4908-9CC8E2FAD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DEFDE2B-B7CB-875B-28F4-522E87E6250B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529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600" b="1" dirty="0">
                <a:solidFill>
                  <a:schemeClr val="tx1"/>
                </a:solidFill>
              </a:rPr>
              <a:t>GGN 架构</a:t>
            </a:r>
            <a:endParaRPr lang="zh-CN" altLang="en-US" sz="3600" dirty="0"/>
          </a:p>
        </p:txBody>
      </p:sp>
      <p:sp>
        <p:nvSpPr>
          <p:cNvPr id="40" name="Slide Number Placeholder 0">
            <a:extLst>
              <a:ext uri="{FF2B5EF4-FFF2-40B4-BE49-F238E27FC236}">
                <a16:creationId xmlns:a16="http://schemas.microsoft.com/office/drawing/2014/main" id="{286DAF64-B209-28F8-BA77-C159C3B42C5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094415" y="569837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3</a:t>
            </a:fld>
            <a:endParaRPr lang="zh-CN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0E4EA18-E44A-8DB4-F5F8-548C12830413}"/>
              </a:ext>
            </a:extLst>
          </p:cNvPr>
          <p:cNvSpPr txBox="1"/>
          <p:nvPr/>
        </p:nvSpPr>
        <p:spPr>
          <a:xfrm>
            <a:off x="5964094" y="1339493"/>
            <a:ext cx="5966650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rgbClr val="333333"/>
                </a:solidFill>
              </a:rPr>
              <a:t>核心域</a:t>
            </a:r>
            <a:r>
              <a:rPr lang="en-SG" b="1" dirty="0">
                <a:solidFill>
                  <a:srgbClr val="333333"/>
                </a:solidFill>
              </a:rPr>
              <a:t>Core：</a:t>
            </a:r>
            <a:r>
              <a:rPr lang="zh-CN" altLang="en-US" dirty="0">
                <a:solidFill>
                  <a:srgbClr val="333333"/>
                </a:solidFill>
              </a:rPr>
              <a:t>负责在不同边缘之间中转流量，分为全局核心</a:t>
            </a:r>
            <a:r>
              <a:rPr lang="en-SG" dirty="0">
                <a:solidFill>
                  <a:srgbClr val="333333"/>
                </a:solidFill>
              </a:rPr>
              <a:t>Global Core（</a:t>
            </a:r>
            <a:r>
              <a:rPr lang="zh-CN" altLang="en-US" dirty="0">
                <a:solidFill>
                  <a:srgbClr val="333333"/>
                </a:solidFill>
              </a:rPr>
              <a:t>连接所有地区）、区域核心</a:t>
            </a:r>
            <a:r>
              <a:rPr lang="en-SG" dirty="0">
                <a:solidFill>
                  <a:srgbClr val="333333"/>
                </a:solidFill>
              </a:rPr>
              <a:t>Regional Core（</a:t>
            </a:r>
            <a:r>
              <a:rPr lang="zh-CN" altLang="en-US" dirty="0">
                <a:solidFill>
                  <a:srgbClr val="333333"/>
                </a:solidFill>
              </a:rPr>
              <a:t>处理同一个区域内部流量）。</a:t>
            </a:r>
            <a:endParaRPr lang="en-SG" altLang="zh-CN" dirty="0">
              <a:solidFill>
                <a:srgbClr val="333333"/>
              </a:solidFill>
            </a:endParaRPr>
          </a:p>
          <a:p>
            <a:pPr marL="285750" indent="-285750" algn="just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rgbClr val="333333"/>
                </a:solidFill>
              </a:rPr>
              <a:t>边缘域</a:t>
            </a:r>
            <a:r>
              <a:rPr lang="en-SG" b="1" dirty="0">
                <a:solidFill>
                  <a:srgbClr val="333333"/>
                </a:solidFill>
              </a:rPr>
              <a:t>Edge：</a:t>
            </a:r>
            <a:r>
              <a:rPr lang="zh-CN" altLang="en-US" dirty="0">
                <a:solidFill>
                  <a:srgbClr val="333333"/>
                </a:solidFill>
              </a:rPr>
              <a:t>流量的起点和终点，分为三类：</a:t>
            </a:r>
            <a:endParaRPr lang="en-SG" altLang="zh-CN" dirty="0">
              <a:solidFill>
                <a:srgbClr val="333333"/>
              </a:solidFill>
            </a:endParaRPr>
          </a:p>
          <a:p>
            <a:pPr marL="742950" lvl="1" indent="-285750" algn="just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rgbClr val="333333"/>
                </a:solidFill>
              </a:rPr>
              <a:t>计算边缘：</a:t>
            </a:r>
            <a:r>
              <a:rPr lang="zh-CN" altLang="en-US" dirty="0">
                <a:solidFill>
                  <a:srgbClr val="333333"/>
                </a:solidFill>
              </a:rPr>
              <a:t>服务器、存储、</a:t>
            </a:r>
            <a:r>
              <a:rPr lang="en-SG" altLang="zh-CN" dirty="0">
                <a:solidFill>
                  <a:srgbClr val="333333"/>
                </a:solidFill>
              </a:rPr>
              <a:t>TPU/GPU </a:t>
            </a:r>
            <a:r>
              <a:rPr lang="zh-CN" altLang="en-US" dirty="0">
                <a:solidFill>
                  <a:srgbClr val="333333"/>
                </a:solidFill>
              </a:rPr>
              <a:t>集群之间的流量；</a:t>
            </a:r>
          </a:p>
          <a:p>
            <a:pPr marL="742950" lvl="1" indent="-285750" algn="just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rgbClr val="333333"/>
                </a:solidFill>
              </a:rPr>
              <a:t>客户服务边缘：</a:t>
            </a:r>
            <a:r>
              <a:rPr lang="zh-CN" altLang="en-US" dirty="0">
                <a:solidFill>
                  <a:srgbClr val="333333"/>
                </a:solidFill>
              </a:rPr>
              <a:t>企业客户经专线接入谷歌云的流量；</a:t>
            </a:r>
            <a:endParaRPr lang="en-SG" altLang="zh-CN" dirty="0">
              <a:solidFill>
                <a:srgbClr val="333333"/>
              </a:solidFill>
            </a:endParaRPr>
          </a:p>
          <a:p>
            <a:pPr marL="742950" lvl="1" indent="-285750" algn="just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rgbClr val="333333"/>
                </a:solidFill>
              </a:rPr>
              <a:t>互联网边缘：</a:t>
            </a:r>
            <a:r>
              <a:rPr lang="zh-CN" altLang="en-US" dirty="0">
                <a:solidFill>
                  <a:srgbClr val="333333"/>
                </a:solidFill>
              </a:rPr>
              <a:t>外部用户访问谷歌服务的流量。</a:t>
            </a:r>
            <a:endParaRPr lang="zh-CN" altLang="en-US" dirty="0">
              <a:solidFill>
                <a:srgbClr val="333333"/>
              </a:solidFill>
              <a:effectLst/>
            </a:endParaRP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36E59776-286F-841D-F63F-732BCB461B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695" y="1153121"/>
            <a:ext cx="5549900" cy="3327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0C6CB60-2061-F1B4-1874-6374F97092CE}"/>
              </a:ext>
            </a:extLst>
          </p:cNvPr>
          <p:cNvSpPr txBox="1"/>
          <p:nvPr/>
        </p:nvSpPr>
        <p:spPr>
          <a:xfrm>
            <a:off x="1503937" y="4826009"/>
            <a:ext cx="918382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>
              <a:spcAft>
                <a:spcPts val="1800"/>
              </a:spcAft>
              <a:buNone/>
            </a:pPr>
            <a:r>
              <a:rPr lang="zh-CN" altLang="en-US" dirty="0">
                <a:solidFill>
                  <a:srgbClr val="333333"/>
                </a:solidFill>
                <a:effectLst/>
              </a:rPr>
              <a:t>这些域之间的关键边界叫 </a:t>
            </a:r>
            <a:r>
              <a:rPr lang="en-SG" b="1" dirty="0">
                <a:solidFill>
                  <a:srgbClr val="333333"/>
                </a:solidFill>
                <a:effectLst/>
              </a:rPr>
              <a:t>Edge-Core API</a:t>
            </a:r>
            <a:r>
              <a:rPr lang="en-SG" dirty="0">
                <a:solidFill>
                  <a:srgbClr val="333333"/>
                </a:solidFill>
                <a:effectLst/>
              </a:rPr>
              <a:t>。</a:t>
            </a:r>
            <a:r>
              <a:rPr lang="zh-CN" altLang="en-US" dirty="0">
                <a:solidFill>
                  <a:srgbClr val="333333"/>
                </a:solidFill>
                <a:effectLst/>
              </a:rPr>
              <a:t>它不是某个单一协议，而是一套交互规范：</a:t>
            </a:r>
          </a:p>
          <a:p>
            <a:pPr marL="0" marR="0">
              <a:spcBef>
                <a:spcPts val="450"/>
              </a:spcBef>
              <a:spcAft>
                <a:spcPts val="75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rgbClr val="333333"/>
                </a:solidFill>
                <a:effectLst/>
              </a:rPr>
              <a:t>路由 </a:t>
            </a:r>
            <a:r>
              <a:rPr lang="en-SG" b="1" dirty="0">
                <a:solidFill>
                  <a:srgbClr val="333333"/>
                </a:solidFill>
                <a:effectLst/>
              </a:rPr>
              <a:t>API</a:t>
            </a:r>
            <a:r>
              <a:rPr lang="en-SG" dirty="0">
                <a:solidFill>
                  <a:srgbClr val="333333"/>
                </a:solidFill>
                <a:effectLst/>
              </a:rPr>
              <a:t>：</a:t>
            </a:r>
            <a:r>
              <a:rPr lang="zh-CN" altLang="en-US" dirty="0">
                <a:solidFill>
                  <a:srgbClr val="333333"/>
                </a:solidFill>
                <a:effectLst/>
              </a:rPr>
              <a:t>基于 </a:t>
            </a:r>
            <a:r>
              <a:rPr lang="en-SG" dirty="0">
                <a:solidFill>
                  <a:srgbClr val="333333"/>
                </a:solidFill>
                <a:effectLst/>
              </a:rPr>
              <a:t>eBGP，</a:t>
            </a:r>
            <a:r>
              <a:rPr lang="zh-CN" altLang="en-US" dirty="0">
                <a:solidFill>
                  <a:srgbClr val="333333"/>
                </a:solidFill>
                <a:effectLst/>
              </a:rPr>
              <a:t>交换最小必要的</a:t>
            </a:r>
            <a:r>
              <a:rPr lang="zh-CN" altLang="en-US" dirty="0">
                <a:solidFill>
                  <a:srgbClr val="333333"/>
                </a:solidFill>
              </a:rPr>
              <a:t>路由</a:t>
            </a:r>
            <a:r>
              <a:rPr lang="zh-CN" altLang="en-US" dirty="0">
                <a:solidFill>
                  <a:srgbClr val="333333"/>
                </a:solidFill>
                <a:effectLst/>
              </a:rPr>
              <a:t>信息。</a:t>
            </a:r>
          </a:p>
          <a:p>
            <a:pPr marL="0" marR="0">
              <a:spcBef>
                <a:spcPts val="450"/>
              </a:spcBef>
              <a:spcAft>
                <a:spcPts val="75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rgbClr val="333333"/>
                </a:solidFill>
                <a:effectLst/>
              </a:rPr>
              <a:t>带宽 </a:t>
            </a:r>
            <a:r>
              <a:rPr lang="en-SG" b="1" dirty="0">
                <a:solidFill>
                  <a:srgbClr val="333333"/>
                </a:solidFill>
                <a:effectLst/>
              </a:rPr>
              <a:t>API</a:t>
            </a:r>
            <a:r>
              <a:rPr lang="en-SG" dirty="0">
                <a:solidFill>
                  <a:srgbClr val="333333"/>
                </a:solidFill>
                <a:effectLst/>
              </a:rPr>
              <a:t>：</a:t>
            </a:r>
            <a:r>
              <a:rPr lang="zh-CN" altLang="en-US" dirty="0">
                <a:solidFill>
                  <a:srgbClr val="333333"/>
                </a:solidFill>
                <a:effectLst/>
              </a:rPr>
              <a:t>基于 </a:t>
            </a:r>
            <a:r>
              <a:rPr lang="en-SG" dirty="0">
                <a:solidFill>
                  <a:srgbClr val="333333"/>
                </a:solidFill>
                <a:effectLst/>
              </a:rPr>
              <a:t>BwE4（</a:t>
            </a:r>
            <a:r>
              <a:rPr lang="zh-CN" altLang="en-US" dirty="0">
                <a:solidFill>
                  <a:srgbClr val="333333"/>
                </a:solidFill>
                <a:effectLst/>
              </a:rPr>
              <a:t>谷歌自研带宽管控系统），核心告诉边缘能分配多少容量。</a:t>
            </a:r>
          </a:p>
        </p:txBody>
      </p:sp>
    </p:spTree>
    <p:extLst>
      <p:ext uri="{BB962C8B-B14F-4D97-AF65-F5344CB8AC3E}">
        <p14:creationId xmlns:p14="http://schemas.microsoft.com/office/powerpoint/2010/main" val="24675535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C68F6-B7B2-2E5A-FFED-C8EFB32BF3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E1E54F3-CC93-CEA5-CC60-6D39DA432788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529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600" b="1" dirty="0">
                <a:solidFill>
                  <a:schemeClr val="tx1"/>
                </a:solidFill>
              </a:rPr>
              <a:t>GGN 分片</a:t>
            </a:r>
            <a:endParaRPr lang="zh-CN" altLang="en-US" sz="3600" dirty="0"/>
          </a:p>
        </p:txBody>
      </p:sp>
      <p:sp>
        <p:nvSpPr>
          <p:cNvPr id="40" name="Slide Number Placeholder 0">
            <a:extLst>
              <a:ext uri="{FF2B5EF4-FFF2-40B4-BE49-F238E27FC236}">
                <a16:creationId xmlns:a16="http://schemas.microsoft.com/office/drawing/2014/main" id="{5B369052-F5DC-B405-6B78-FA965904E8D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094415" y="569837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4</a:t>
            </a:fld>
            <a:endParaRPr lang="zh-CN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C10F2A1-18C3-6795-5F32-02B7EB4AD823}"/>
              </a:ext>
            </a:extLst>
          </p:cNvPr>
          <p:cNvSpPr txBox="1"/>
          <p:nvPr/>
        </p:nvSpPr>
        <p:spPr>
          <a:xfrm>
            <a:off x="5964094" y="1339493"/>
            <a:ext cx="59666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zh-CN" altLang="en-US" dirty="0"/>
              <a:t>每个分片拥有</a:t>
            </a:r>
            <a:r>
              <a:rPr lang="zh-CN" altLang="en-US" dirty="0">
                <a:solidFill>
                  <a:srgbClr val="FF0000"/>
                </a:solidFill>
              </a:rPr>
              <a:t>完全独立的数据转发平面</a:t>
            </a:r>
            <a:r>
              <a:rPr lang="zh-CN" altLang="en-US" dirty="0"/>
              <a:t>、</a:t>
            </a:r>
            <a:r>
              <a:rPr lang="zh-CN" altLang="en-US" dirty="0">
                <a:solidFill>
                  <a:srgbClr val="FF0000"/>
                </a:solidFill>
              </a:rPr>
              <a:t>独立</a:t>
            </a:r>
            <a:r>
              <a:rPr lang="en-SG" dirty="0">
                <a:solidFill>
                  <a:srgbClr val="FF0000"/>
                </a:solidFill>
              </a:rPr>
              <a:t>SDN</a:t>
            </a:r>
            <a:r>
              <a:rPr lang="zh-CN" altLang="en-US" dirty="0">
                <a:solidFill>
                  <a:srgbClr val="FF0000"/>
                </a:solidFill>
              </a:rPr>
              <a:t>控制平面</a:t>
            </a:r>
            <a:r>
              <a:rPr lang="zh-CN" altLang="en-US" dirty="0"/>
              <a:t>，二层及以上完全隔离，分片之间核心内部不直接互通。边缘路由器同时连接全部分片，流量分散跑在各个分片上。</a:t>
            </a:r>
            <a:endParaRPr lang="en-SG" altLang="zh-CN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E3038EC-BBB4-2B0F-1458-2116293190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28321"/>
            <a:ext cx="5257800" cy="42926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C8A97FF-2A89-7DFC-A6E5-B86F22C5281B}"/>
              </a:ext>
            </a:extLst>
          </p:cNvPr>
          <p:cNvSpPr txBox="1"/>
          <p:nvPr/>
        </p:nvSpPr>
        <p:spPr>
          <a:xfrm>
            <a:off x="5964094" y="3204930"/>
            <a:ext cx="6100762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rgbClr val="333333"/>
                </a:solidFill>
              </a:rPr>
              <a:t>全局故障被分片隔离：</a:t>
            </a:r>
            <a:r>
              <a:rPr lang="zh-CN" altLang="en-US" dirty="0">
                <a:solidFill>
                  <a:srgbClr val="333333"/>
                </a:solidFill>
              </a:rPr>
              <a:t>一个分片的控制面 </a:t>
            </a:r>
            <a:r>
              <a:rPr lang="en-SG" altLang="zh-CN" dirty="0">
                <a:solidFill>
                  <a:srgbClr val="333333"/>
                </a:solidFill>
              </a:rPr>
              <a:t>bug </a:t>
            </a:r>
            <a:r>
              <a:rPr lang="zh-CN" altLang="en-US" dirty="0">
                <a:solidFill>
                  <a:srgbClr val="333333"/>
                </a:solidFill>
              </a:rPr>
              <a:t>不会直接搞垮所有流量。</a:t>
            </a:r>
            <a:endParaRPr lang="en-SG" altLang="zh-CN" dirty="0">
              <a:solidFill>
                <a:srgbClr val="333333"/>
              </a:solidFill>
            </a:endParaRPr>
          </a:p>
          <a:p>
            <a:pPr marL="285750" indent="-285750" algn="just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rgbClr val="333333"/>
                </a:solidFill>
              </a:rPr>
              <a:t>水平扩展：</a:t>
            </a:r>
            <a:r>
              <a:rPr lang="zh-CN" altLang="en-US" dirty="0">
                <a:solidFill>
                  <a:srgbClr val="333333"/>
                </a:solidFill>
              </a:rPr>
              <a:t>容量可以分散到多个分片，而不是让单个全局控制器管整个网络。</a:t>
            </a:r>
            <a:endParaRPr lang="en-SG" altLang="zh-CN" dirty="0">
              <a:solidFill>
                <a:srgbClr val="333333"/>
              </a:solidFill>
            </a:endParaRPr>
          </a:p>
          <a:p>
            <a:pPr marL="285750" indent="-285750" algn="just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en-SG" altLang="zh-CN" b="1" dirty="0">
                <a:solidFill>
                  <a:srgbClr val="333333"/>
                </a:solidFill>
              </a:rPr>
              <a:t>N+1 </a:t>
            </a:r>
            <a:r>
              <a:rPr lang="zh-CN" altLang="en-US" b="1" dirty="0">
                <a:solidFill>
                  <a:srgbClr val="333333"/>
                </a:solidFill>
              </a:rPr>
              <a:t>式冗余：</a:t>
            </a:r>
            <a:r>
              <a:rPr lang="zh-CN" altLang="en-US" dirty="0">
                <a:solidFill>
                  <a:srgbClr val="333333"/>
                </a:solidFill>
              </a:rPr>
              <a:t>坏一个分片，其余分片可以承接高优先级流量。</a:t>
            </a:r>
            <a:endParaRPr lang="zh-CN" altLang="en-US" dirty="0">
              <a:solidFill>
                <a:srgbClr val="333333"/>
              </a:solidFill>
              <a:effectLst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58B771F-489B-11F5-F333-D2BD7E701770}"/>
              </a:ext>
            </a:extLst>
          </p:cNvPr>
          <p:cNvSpPr txBox="1"/>
          <p:nvPr/>
        </p:nvSpPr>
        <p:spPr>
          <a:xfrm>
            <a:off x="1065162" y="5638721"/>
            <a:ext cx="100613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>
              <a:spcAft>
                <a:spcPts val="1800"/>
              </a:spcAft>
              <a:buNone/>
            </a:pPr>
            <a:r>
              <a:rPr lang="en-SG" dirty="0">
                <a:solidFill>
                  <a:srgbClr val="333333"/>
                </a:solidFill>
                <a:effectLst/>
              </a:rPr>
              <a:t>GGN</a:t>
            </a:r>
            <a:r>
              <a:rPr lang="zh-CN" altLang="en-US" dirty="0">
                <a:solidFill>
                  <a:srgbClr val="333333"/>
                </a:solidFill>
              </a:rPr>
              <a:t> </a:t>
            </a:r>
            <a:r>
              <a:rPr lang="zh-CN" altLang="en-US" dirty="0">
                <a:solidFill>
                  <a:srgbClr val="333333"/>
                </a:solidFill>
                <a:effectLst/>
              </a:rPr>
              <a:t>三大特点：</a:t>
            </a:r>
            <a:r>
              <a:rPr lang="zh-CN" altLang="en-US" b="1" dirty="0">
                <a:solidFill>
                  <a:srgbClr val="333333"/>
                </a:solidFill>
                <a:effectLst/>
              </a:rPr>
              <a:t>核心分片（</a:t>
            </a:r>
            <a:r>
              <a:rPr lang="en-SG" b="1" dirty="0">
                <a:solidFill>
                  <a:srgbClr val="333333"/>
                </a:solidFill>
                <a:effectLst/>
              </a:rPr>
              <a:t>Sharding）、</a:t>
            </a:r>
            <a:r>
              <a:rPr lang="zh-CN" altLang="en-US" b="1" dirty="0">
                <a:solidFill>
                  <a:srgbClr val="333333"/>
                </a:solidFill>
                <a:effectLst/>
              </a:rPr>
              <a:t>区域化隔离（</a:t>
            </a:r>
            <a:r>
              <a:rPr lang="en-SG" b="1" dirty="0">
                <a:solidFill>
                  <a:srgbClr val="333333"/>
                </a:solidFill>
                <a:effectLst/>
              </a:rPr>
              <a:t>Regionalization）、</a:t>
            </a:r>
            <a:r>
              <a:rPr lang="zh-CN" altLang="en-US" b="1" dirty="0">
                <a:solidFill>
                  <a:srgbClr val="333333"/>
                </a:solidFill>
                <a:effectLst/>
              </a:rPr>
              <a:t>硬件厂商无关化（</a:t>
            </a:r>
            <a:r>
              <a:rPr lang="en-US" altLang="zh-CN" b="1" dirty="0">
                <a:solidFill>
                  <a:srgbClr val="333333"/>
                </a:solidFill>
                <a:effectLst/>
              </a:rPr>
              <a:t>WAN</a:t>
            </a:r>
            <a:r>
              <a:rPr lang="zh-CN" altLang="en-US" b="1" dirty="0">
                <a:solidFill>
                  <a:srgbClr val="333333"/>
                </a:solidFill>
                <a:effectLst/>
              </a:rPr>
              <a:t> </a:t>
            </a:r>
            <a:r>
              <a:rPr lang="en-US" altLang="zh-CN" b="1" dirty="0">
                <a:solidFill>
                  <a:srgbClr val="333333"/>
                </a:solidFill>
                <a:effectLst/>
              </a:rPr>
              <a:t>Building</a:t>
            </a:r>
            <a:r>
              <a:rPr lang="zh-CN" altLang="en-US" b="1" dirty="0">
                <a:solidFill>
                  <a:srgbClr val="333333"/>
                </a:solidFill>
                <a:effectLst/>
              </a:rPr>
              <a:t> </a:t>
            </a:r>
            <a:r>
              <a:rPr lang="en-US" altLang="zh-CN" b="1" dirty="0">
                <a:solidFill>
                  <a:srgbClr val="333333"/>
                </a:solidFill>
                <a:effectLst/>
              </a:rPr>
              <a:t>Block</a:t>
            </a:r>
            <a:r>
              <a:rPr lang="zh-CN" altLang="en-US" b="1" dirty="0">
                <a:solidFill>
                  <a:srgbClr val="333333"/>
                </a:solidFill>
                <a:effectLst/>
              </a:rPr>
              <a:t>）</a:t>
            </a:r>
            <a:r>
              <a:rPr lang="zh-CN" altLang="en-US" dirty="0">
                <a:solidFill>
                  <a:srgbClr val="333333"/>
                </a:solidFill>
                <a:effectLst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3113665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CN" altLang="en-US" sz="3600" b="1" dirty="0">
                <a:solidFill>
                  <a:schemeClr val="tx1"/>
                </a:solidFill>
              </a:rPr>
              <a:t>GGN：</a:t>
            </a:r>
            <a:r>
              <a:rPr lang="en-US" dirty="0"/>
              <a:t> 4 </a:t>
            </a:r>
            <a:r>
              <a:rPr lang="en-US" dirty="0" err="1"/>
              <a:t>个</a:t>
            </a:r>
            <a:r>
              <a:rPr lang="en-US" dirty="0"/>
              <a:t> shard × </a:t>
            </a:r>
            <a:r>
              <a:rPr lang="en-US" dirty="0" err="1"/>
              <a:t>按</a:t>
            </a:r>
            <a:r>
              <a:rPr lang="en-US" dirty="0"/>
              <a:t> region </a:t>
            </a:r>
            <a:r>
              <a:rPr lang="en-US" dirty="0" err="1"/>
              <a:t>切控制域</a:t>
            </a:r>
            <a:endParaRPr lang="zh-CN" alt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1691640" y="15434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accent6"/>
                </a:solidFill>
              </a:rPr>
              <a:t>Region A 核心</a:t>
            </a:r>
            <a:endParaRPr lang="zh-CN" alt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3154680" y="15434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accent6"/>
                </a:solidFill>
              </a:rPr>
              <a:t>Global Core</a:t>
            </a:r>
            <a:endParaRPr lang="zh-CN" alt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617720" y="15434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accent6"/>
                </a:solidFill>
              </a:rPr>
              <a:t>Region B 核心</a:t>
            </a:r>
            <a:endParaRPr lang="zh-CN" alt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548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chemeClr val="tx1"/>
                </a:solidFill>
              </a:rPr>
              <a:t>Shard 1 · B4</a:t>
            </a:r>
            <a:endParaRPr lang="zh-CN" altLang="en-US" sz="1200" dirty="0"/>
          </a:p>
        </p:txBody>
      </p:sp>
      <p:sp>
        <p:nvSpPr>
          <p:cNvPr id="7" name="control domain 1-1"/>
          <p:cNvSpPr/>
          <p:nvPr/>
        </p:nvSpPr>
        <p:spPr>
          <a:xfrm>
            <a:off x="1691640" y="1954880"/>
            <a:ext cx="1371600" cy="502920"/>
          </a:xfrm>
          <a:prstGeom prst="roundRect">
            <a:avLst>
              <a:gd name="adj" fmla="val 1090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bg1"/>
                </a:solidFill>
              </a:rPr>
              <a:t>TE / BwE</a:t>
            </a:r>
            <a:endParaRPr lang="zh-CN" altLang="en-US" sz="1200" dirty="0"/>
          </a:p>
        </p:txBody>
      </p:sp>
      <p:sp>
        <p:nvSpPr>
          <p:cNvPr id="8" name="control domain 1-2"/>
          <p:cNvSpPr/>
          <p:nvPr/>
        </p:nvSpPr>
        <p:spPr>
          <a:xfrm>
            <a:off x="3154680" y="1954880"/>
            <a:ext cx="1371600" cy="502920"/>
          </a:xfrm>
          <a:prstGeom prst="roundRect">
            <a:avLst>
              <a:gd name="adj" fmla="val 1090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bg1"/>
                </a:solidFill>
              </a:rPr>
              <a:t>TE / BwE</a:t>
            </a:r>
            <a:endParaRPr lang="zh-CN" altLang="en-US" sz="1200" dirty="0"/>
          </a:p>
        </p:txBody>
      </p:sp>
      <p:sp>
        <p:nvSpPr>
          <p:cNvPr id="9" name="control domain 1-3"/>
          <p:cNvSpPr/>
          <p:nvPr/>
        </p:nvSpPr>
        <p:spPr>
          <a:xfrm>
            <a:off x="4617720" y="1954880"/>
            <a:ext cx="1371600" cy="502920"/>
          </a:xfrm>
          <a:prstGeom prst="roundRect">
            <a:avLst>
              <a:gd name="adj" fmla="val 1090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bg1"/>
                </a:solidFill>
              </a:rPr>
              <a:t>TE / BwE</a:t>
            </a:r>
            <a:endParaRPr lang="zh-CN" alt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5492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chemeClr val="tx1"/>
                </a:solidFill>
              </a:rPr>
              <a:t>Shard 2</a:t>
            </a:r>
            <a:endParaRPr lang="zh-CN" altLang="en-US" sz="1200" dirty="0"/>
          </a:p>
        </p:txBody>
      </p:sp>
      <p:sp>
        <p:nvSpPr>
          <p:cNvPr id="11" name="control domain 2-1"/>
          <p:cNvSpPr/>
          <p:nvPr/>
        </p:nvSpPr>
        <p:spPr>
          <a:xfrm>
            <a:off x="1691640" y="2549240"/>
            <a:ext cx="1371600" cy="502920"/>
          </a:xfrm>
          <a:prstGeom prst="roundRect">
            <a:avLst>
              <a:gd name="adj" fmla="val 1090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bg1"/>
                </a:solidFill>
              </a:rPr>
              <a:t>TE / BwE</a:t>
            </a:r>
            <a:endParaRPr lang="zh-CN" altLang="en-US" sz="1200" dirty="0"/>
          </a:p>
        </p:txBody>
      </p:sp>
      <p:sp>
        <p:nvSpPr>
          <p:cNvPr id="12" name="control domain 2-2"/>
          <p:cNvSpPr/>
          <p:nvPr/>
        </p:nvSpPr>
        <p:spPr>
          <a:xfrm>
            <a:off x="3154680" y="2549240"/>
            <a:ext cx="1371600" cy="502920"/>
          </a:xfrm>
          <a:prstGeom prst="roundRect">
            <a:avLst>
              <a:gd name="adj" fmla="val 1090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bg1"/>
                </a:solidFill>
              </a:rPr>
              <a:t>TE / BwE</a:t>
            </a:r>
            <a:endParaRPr lang="zh-CN" altLang="en-US" sz="1200" dirty="0"/>
          </a:p>
        </p:txBody>
      </p:sp>
      <p:sp>
        <p:nvSpPr>
          <p:cNvPr id="13" name="control domain 2-3"/>
          <p:cNvSpPr/>
          <p:nvPr/>
        </p:nvSpPr>
        <p:spPr>
          <a:xfrm>
            <a:off x="4617720" y="2549240"/>
            <a:ext cx="1371600" cy="502920"/>
          </a:xfrm>
          <a:prstGeom prst="roundRect">
            <a:avLst>
              <a:gd name="adj" fmla="val 1090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bg1"/>
                </a:solidFill>
              </a:rPr>
              <a:t>TE / BwE</a:t>
            </a:r>
            <a:endParaRPr lang="zh-CN" alt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14360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chemeClr val="tx1"/>
                </a:solidFill>
              </a:rPr>
              <a:t>Shard 3</a:t>
            </a:r>
            <a:endParaRPr lang="zh-CN" altLang="en-US" sz="1200" dirty="0"/>
          </a:p>
        </p:txBody>
      </p:sp>
      <p:sp>
        <p:nvSpPr>
          <p:cNvPr id="15" name="control domain 3-1"/>
          <p:cNvSpPr/>
          <p:nvPr/>
        </p:nvSpPr>
        <p:spPr>
          <a:xfrm>
            <a:off x="1691640" y="3143600"/>
            <a:ext cx="1371600" cy="502920"/>
          </a:xfrm>
          <a:prstGeom prst="roundRect">
            <a:avLst>
              <a:gd name="adj" fmla="val 1090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bg1"/>
                </a:solidFill>
              </a:rPr>
              <a:t>TE / BwE</a:t>
            </a:r>
            <a:endParaRPr lang="zh-CN" altLang="en-US" sz="1200" dirty="0"/>
          </a:p>
        </p:txBody>
      </p:sp>
      <p:sp>
        <p:nvSpPr>
          <p:cNvPr id="16" name="control domain 3-2"/>
          <p:cNvSpPr/>
          <p:nvPr/>
        </p:nvSpPr>
        <p:spPr>
          <a:xfrm>
            <a:off x="3154680" y="3143600"/>
            <a:ext cx="1371600" cy="502920"/>
          </a:xfrm>
          <a:prstGeom prst="roundRect">
            <a:avLst>
              <a:gd name="adj" fmla="val 1090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bg1"/>
                </a:solidFill>
              </a:rPr>
              <a:t>TE / BwE</a:t>
            </a:r>
            <a:endParaRPr lang="zh-CN" altLang="en-US" sz="1200" dirty="0"/>
          </a:p>
        </p:txBody>
      </p:sp>
      <p:sp>
        <p:nvSpPr>
          <p:cNvPr id="17" name="control domain 3-3"/>
          <p:cNvSpPr/>
          <p:nvPr/>
        </p:nvSpPr>
        <p:spPr>
          <a:xfrm>
            <a:off x="4617720" y="3143600"/>
            <a:ext cx="1371600" cy="502920"/>
          </a:xfrm>
          <a:prstGeom prst="roundRect">
            <a:avLst>
              <a:gd name="adj" fmla="val 1090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bg1"/>
                </a:solidFill>
              </a:rPr>
              <a:t>TE / BwE</a:t>
            </a:r>
            <a:endParaRPr lang="zh-CN" alt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7379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chemeClr val="tx1"/>
                </a:solidFill>
              </a:rPr>
              <a:t>Shard 4</a:t>
            </a:r>
            <a:endParaRPr lang="zh-CN" altLang="en-US" sz="1200" dirty="0"/>
          </a:p>
        </p:txBody>
      </p:sp>
      <p:sp>
        <p:nvSpPr>
          <p:cNvPr id="19" name="control domain 4-1"/>
          <p:cNvSpPr/>
          <p:nvPr/>
        </p:nvSpPr>
        <p:spPr>
          <a:xfrm>
            <a:off x="1691640" y="3737960"/>
            <a:ext cx="1371600" cy="502920"/>
          </a:xfrm>
          <a:prstGeom prst="roundRect">
            <a:avLst>
              <a:gd name="adj" fmla="val 1090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bg1"/>
                </a:solidFill>
              </a:rPr>
              <a:t>TE / BwE</a:t>
            </a:r>
            <a:endParaRPr lang="zh-CN" altLang="en-US" sz="1200" dirty="0"/>
          </a:p>
        </p:txBody>
      </p:sp>
      <p:sp>
        <p:nvSpPr>
          <p:cNvPr id="20" name="control domain 4-2"/>
          <p:cNvSpPr/>
          <p:nvPr/>
        </p:nvSpPr>
        <p:spPr>
          <a:xfrm>
            <a:off x="3154680" y="3737960"/>
            <a:ext cx="1371600" cy="502920"/>
          </a:xfrm>
          <a:prstGeom prst="roundRect">
            <a:avLst>
              <a:gd name="adj" fmla="val 1090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bg1"/>
                </a:solidFill>
              </a:rPr>
              <a:t>TE / BwE</a:t>
            </a:r>
            <a:endParaRPr lang="zh-CN" altLang="en-US" sz="1200" dirty="0"/>
          </a:p>
        </p:txBody>
      </p:sp>
      <p:sp>
        <p:nvSpPr>
          <p:cNvPr id="21" name="control domain 4-3"/>
          <p:cNvSpPr/>
          <p:nvPr/>
        </p:nvSpPr>
        <p:spPr>
          <a:xfrm>
            <a:off x="4617720" y="3737960"/>
            <a:ext cx="1371600" cy="502920"/>
          </a:xfrm>
          <a:prstGeom prst="roundRect">
            <a:avLst>
              <a:gd name="adj" fmla="val 1090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bg1"/>
                </a:solidFill>
              </a:rPr>
              <a:t>TE / BwE</a:t>
            </a:r>
            <a:endParaRPr lang="zh-CN" altLang="en-US" sz="1200" dirty="0"/>
          </a:p>
        </p:txBody>
      </p:sp>
      <p:sp>
        <p:nvSpPr>
          <p:cNvPr id="22" name="edge-core api band"/>
          <p:cNvSpPr/>
          <p:nvPr/>
        </p:nvSpPr>
        <p:spPr>
          <a:xfrm>
            <a:off x="548640" y="4423760"/>
            <a:ext cx="5440680" cy="41148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tx1"/>
                </a:solidFill>
              </a:rPr>
              <a:t>Edge-Core API（eBGP 路由 + BwE 带宽）· 每个 edge 接入全部 shard</a:t>
            </a:r>
            <a:endParaRPr lang="zh-CN" altLang="en-US" sz="1200" dirty="0"/>
          </a:p>
        </p:txBody>
      </p:sp>
      <p:sp>
        <p:nvSpPr>
          <p:cNvPr id="26" name="grid legend"/>
          <p:cNvSpPr txBox="1"/>
          <p:nvPr/>
        </p:nvSpPr>
        <p:spPr>
          <a:xfrm>
            <a:off x="548640" y="5109560"/>
            <a:ext cx="5440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00" dirty="0">
                <a:solidFill>
                  <a:schemeClr val="accent6"/>
                </a:solidFill>
              </a:rPr>
              <a:t>行 = shard：物理隔离的平行全球网（路由器及以上严格隔离）</a:t>
            </a:r>
            <a:endParaRPr lang="zh-CN" altLang="en-US" sz="1200" dirty="0"/>
          </a:p>
          <a:p>
            <a:pPr marL="0" indent="0">
              <a:buNone/>
            </a:pPr>
            <a:r>
              <a:rPr lang="zh-CN" altLang="en-US" sz="1200" dirty="0">
                <a:solidFill>
                  <a:schemeClr val="accent6"/>
                </a:solidFill>
              </a:rPr>
              <a:t>格 = 控制域：每格一套独立 TE/BwE，只读本域输入</a:t>
            </a:r>
            <a:endParaRPr lang="zh-CN" altLang="en-US" sz="1200" dirty="0"/>
          </a:p>
        </p:txBody>
      </p:sp>
      <p:sp>
        <p:nvSpPr>
          <p:cNvPr id="27" name="模块化分域 circle"/>
          <p:cNvSpPr/>
          <p:nvPr/>
        </p:nvSpPr>
        <p:spPr>
          <a:xfrm>
            <a:off x="6400800" y="12801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8" name="模块化分域 icon" descr="模块化分域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1442" y="1390802"/>
            <a:ext cx="281635" cy="281635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7086600" y="1261872"/>
            <a:ext cx="4556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800" b="1" dirty="0">
                <a:solidFill>
                  <a:schemeClr val="tx1"/>
                </a:solidFill>
              </a:rPr>
              <a:t>模块化分域</a:t>
            </a:r>
            <a:endParaRPr lang="zh-CN" alt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7086600" y="1664208"/>
            <a:ext cx="4556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</a:rPr>
              <a:t>Edge 负责收发（Compute / CSE / IE），Core 负责中转（Global / Regional）；两者只经 Edge-Core API 交互，故障互不传染</a:t>
            </a:r>
            <a:endParaRPr lang="zh-CN" altLang="en-US" sz="1400" dirty="0"/>
          </a:p>
        </p:txBody>
      </p:sp>
      <p:sp>
        <p:nvSpPr>
          <p:cNvPr id="31" name="分片 + 区域化 circle"/>
          <p:cNvSpPr/>
          <p:nvPr/>
        </p:nvSpPr>
        <p:spPr>
          <a:xfrm>
            <a:off x="6400800" y="2514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2" name="分片 + 区域化 icon" descr="分片 + 区域化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1442" y="2625242"/>
            <a:ext cx="281635" cy="281635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7086600" y="2496312"/>
            <a:ext cx="4556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800" b="1" dirty="0">
                <a:solidFill>
                  <a:schemeClr val="tx1"/>
                </a:solidFill>
              </a:rPr>
              <a:t>分片 + 区域化</a:t>
            </a:r>
            <a:endParaRPr lang="zh-CN" altLang="en-US" sz="1800" dirty="0"/>
          </a:p>
        </p:txBody>
      </p:sp>
      <p:sp>
        <p:nvSpPr>
          <p:cNvPr id="34" name="Text 30"/>
          <p:cNvSpPr txBox="1"/>
          <p:nvPr/>
        </p:nvSpPr>
        <p:spPr>
          <a:xfrm>
            <a:off x="7086600" y="2898648"/>
            <a:ext cx="4556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</a:rPr>
              <a:t>Core 复制为 4 个 shard（B4 即 Shard 1），路由器及以上严格隔离，Tier-0/1 按 N−1 规划；每个 region 独立 TE/BwE，只读本 region 输入</a:t>
            </a:r>
            <a:endParaRPr lang="zh-CN" altLang="en-US" sz="1400" dirty="0"/>
          </a:p>
        </p:txBody>
      </p:sp>
      <p:sp>
        <p:nvSpPr>
          <p:cNvPr id="35" name="WBB 多厂商硬件 circle"/>
          <p:cNvSpPr/>
          <p:nvPr/>
        </p:nvSpPr>
        <p:spPr>
          <a:xfrm>
            <a:off x="6400800" y="3749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WBB 多厂商硬件 icon" descr="WBB 多厂商硬件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1442" y="3859682"/>
            <a:ext cx="281635" cy="281635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7086600" y="3730752"/>
            <a:ext cx="4556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800" b="1" dirty="0">
                <a:solidFill>
                  <a:schemeClr val="tx1"/>
                </a:solidFill>
              </a:rPr>
              <a:t>WBB 多厂商硬件</a:t>
            </a:r>
            <a:endParaRPr lang="zh-CN" altLang="en-US" sz="1800" dirty="0"/>
          </a:p>
        </p:txBody>
      </p:sp>
      <p:sp>
        <p:nvSpPr>
          <p:cNvPr id="38" name="Text 33"/>
          <p:cNvSpPr txBox="1"/>
          <p:nvPr/>
        </p:nvSpPr>
        <p:spPr>
          <a:xfrm>
            <a:off x="7086600" y="4133088"/>
            <a:ext cx="4556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</a:rPr>
              <a:t>按抽象 SKU 采购商用路由器，统一 gNMI / gNOI / gRIBI 接口；任一厂商的 bug 都不会影响全部 shard</a:t>
            </a:r>
            <a:endParaRPr lang="zh-CN" altLang="en-US" sz="1400" dirty="0"/>
          </a:p>
        </p:txBody>
      </p:sp>
      <p:sp>
        <p:nvSpPr>
          <p:cNvPr id="39" name="failure response card"/>
          <p:cNvSpPr/>
          <p:nvPr/>
        </p:nvSpPr>
        <p:spPr>
          <a:xfrm>
            <a:off x="6400800" y="5074920"/>
            <a:ext cx="5242255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5"/>
          <p:cNvSpPr txBox="1"/>
          <p:nvPr/>
        </p:nvSpPr>
        <p:spPr>
          <a:xfrm>
            <a:off x="6629400" y="5166360"/>
            <a:ext cx="47850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b="1" dirty="0">
                <a:solidFill>
                  <a:schemeClr val="accent1"/>
                </a:solidFill>
              </a:rPr>
              <a:t>故障响应  </a:t>
            </a:r>
            <a:r>
              <a:rPr lang="zh-CN" altLang="en-US" sz="1400" dirty="0">
                <a:solidFill>
                  <a:srgbClr val="FF0000"/>
                </a:solidFill>
              </a:rPr>
              <a:t>亚秒级</a:t>
            </a:r>
            <a:r>
              <a:rPr lang="zh-CN" altLang="en-US" sz="1400" dirty="0">
                <a:solidFill>
                  <a:schemeClr val="tx1"/>
                </a:solidFill>
              </a:rPr>
              <a:t> PRR 换路 → </a:t>
            </a:r>
            <a:r>
              <a:rPr lang="zh-CN" altLang="en-US" sz="1400" dirty="0">
                <a:solidFill>
                  <a:srgbClr val="FF0000"/>
                </a:solidFill>
              </a:rPr>
              <a:t>秒级</a:t>
            </a:r>
            <a:r>
              <a:rPr lang="zh-CN" altLang="en-US" sz="1400" dirty="0">
                <a:solidFill>
                  <a:schemeClr val="tx1"/>
                </a:solidFill>
              </a:rPr>
              <a:t> BGP 撤路由 → </a:t>
            </a:r>
            <a:r>
              <a:rPr lang="zh-CN" altLang="en-US" sz="1400" dirty="0">
                <a:solidFill>
                  <a:srgbClr val="FF0000"/>
                </a:solidFill>
              </a:rPr>
              <a:t>分钟级</a:t>
            </a:r>
            <a:r>
              <a:rPr lang="zh-CN" altLang="en-US" sz="1400" dirty="0">
                <a:solidFill>
                  <a:schemeClr val="tx1"/>
                </a:solidFill>
              </a:rPr>
              <a:t> SE/TE 重新分配；TE 异常时自动回退到 BGP/IS-IS 底层路由</a:t>
            </a:r>
            <a:endParaRPr lang="zh-CN" altLang="en-US" sz="1400" dirty="0"/>
          </a:p>
        </p:txBody>
      </p:sp>
      <p:sp>
        <p:nvSpPr>
          <p:cNvPr id="4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5</a:t>
            </a:fld>
            <a:endParaRPr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600" b="1" dirty="0">
                <a:solidFill>
                  <a:schemeClr val="tx1"/>
                </a:solidFill>
              </a:rPr>
              <a:t>GGN 组网：一条流量经过哪些设备</a:t>
            </a:r>
            <a:endParaRPr lang="zh-CN" alt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accent6"/>
                </a:solidFill>
              </a:rPr>
              <a:t>截至 2026.07：43 个 region、200 多个国家和地区；站点数约为 2019 年的 10 倍，总容量约为 2019 年 B4 的 45 倍</a:t>
            </a:r>
            <a:endParaRPr lang="zh-CN" altLang="en-US" sz="1400" dirty="0"/>
          </a:p>
        </p:txBody>
      </p:sp>
      <p:sp>
        <p:nvSpPr>
          <p:cNvPr id="4" name="node 主机"/>
          <p:cNvSpPr/>
          <p:nvPr/>
        </p:nvSpPr>
        <p:spPr>
          <a:xfrm>
            <a:off x="548640" y="1906524"/>
            <a:ext cx="13258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548640" y="1906524"/>
            <a:ext cx="132588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zh-CN" altLang="en-US" sz="1500" b="1" dirty="0">
                <a:solidFill>
                  <a:schemeClr val="tx1"/>
                </a:solidFill>
              </a:rPr>
              <a:t>主机</a:t>
            </a:r>
            <a:endParaRPr lang="zh-CN" altLang="en-US" sz="1500" dirty="0"/>
          </a:p>
          <a:p>
            <a:pPr marL="0" indent="0" algn="ctr">
              <a:buNone/>
            </a:pPr>
            <a:r>
              <a:rPr lang="zh-CN" altLang="en-US" sz="1200" dirty="0">
                <a:solidFill>
                  <a:schemeClr val="accent6"/>
                </a:solidFill>
              </a:rPr>
              <a:t>BwE · 打标 · PRR</a:t>
            </a:r>
            <a:endParaRPr lang="zh-CN" altLang="en-US" sz="1500" dirty="0"/>
          </a:p>
        </p:txBody>
      </p:sp>
      <p:sp>
        <p:nvSpPr>
          <p:cNvPr id="6" name="badge 1"/>
          <p:cNvSpPr/>
          <p:nvPr/>
        </p:nvSpPr>
        <p:spPr>
          <a:xfrm>
            <a:off x="457200" y="1778508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457200" y="17785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bg1"/>
                </a:solidFill>
              </a:rPr>
              <a:t>1</a:t>
            </a:r>
            <a:endParaRPr lang="zh-CN" altLang="en-US" sz="1200" dirty="0"/>
          </a:p>
        </p:txBody>
      </p:sp>
      <p:sp>
        <p:nvSpPr>
          <p:cNvPr id="8" name="node Compute Edge"/>
          <p:cNvSpPr/>
          <p:nvPr/>
        </p:nvSpPr>
        <p:spPr>
          <a:xfrm>
            <a:off x="2148840" y="1906524"/>
            <a:ext cx="160020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2148840" y="1906524"/>
            <a:ext cx="16002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zh-CN" altLang="en-US" sz="1500" b="1" dirty="0">
                <a:solidFill>
                  <a:schemeClr val="tx1"/>
                </a:solidFill>
              </a:rPr>
              <a:t>Compute Edge</a:t>
            </a:r>
            <a:endParaRPr lang="zh-CN" altLang="en-US" sz="1500" dirty="0"/>
          </a:p>
          <a:p>
            <a:pPr marL="0" indent="0" algn="ctr">
              <a:buNone/>
            </a:pPr>
            <a:r>
              <a:rPr lang="zh-CN" altLang="en-US" sz="1200" dirty="0">
                <a:solidFill>
                  <a:schemeClr val="accent6"/>
                </a:solidFill>
              </a:rPr>
              <a:t>Jupiter 集群网络</a:t>
            </a:r>
            <a:endParaRPr lang="zh-CN" altLang="en-US" sz="1500" dirty="0"/>
          </a:p>
        </p:txBody>
      </p:sp>
      <p:sp>
        <p:nvSpPr>
          <p:cNvPr id="10" name="badge 2"/>
          <p:cNvSpPr/>
          <p:nvPr/>
        </p:nvSpPr>
        <p:spPr>
          <a:xfrm>
            <a:off x="2057400" y="1778508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2057400" y="17785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bg1"/>
                </a:solidFill>
              </a:rPr>
              <a:t>2</a:t>
            </a:r>
            <a:endParaRPr lang="zh-CN" altLang="en-US" sz="1200" dirty="0"/>
          </a:p>
        </p:txBody>
      </p:sp>
      <p:sp>
        <p:nvSpPr>
          <p:cNvPr id="12" name="node FBR"/>
          <p:cNvSpPr/>
          <p:nvPr/>
        </p:nvSpPr>
        <p:spPr>
          <a:xfrm>
            <a:off x="3977640" y="1906524"/>
            <a:ext cx="137160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3977640" y="1906524"/>
            <a:ext cx="13716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zh-CN" altLang="en-US" sz="1500" b="1" dirty="0">
                <a:solidFill>
                  <a:schemeClr val="tx1"/>
                </a:solidFill>
              </a:rPr>
              <a:t>FBR</a:t>
            </a:r>
            <a:endParaRPr lang="zh-CN" altLang="en-US" sz="1500" dirty="0"/>
          </a:p>
          <a:p>
            <a:pPr marL="0" indent="0" algn="ctr">
              <a:buNone/>
            </a:pPr>
            <a:r>
              <a:rPr lang="zh-CN" altLang="en-US" sz="1200" dirty="0">
                <a:solidFill>
                  <a:schemeClr val="accent6"/>
                </a:solidFill>
              </a:rPr>
              <a:t>集群边界路由器</a:t>
            </a:r>
            <a:endParaRPr lang="zh-CN" altLang="en-US" sz="1500" dirty="0"/>
          </a:p>
        </p:txBody>
      </p:sp>
      <p:sp>
        <p:nvSpPr>
          <p:cNvPr id="14" name="badge 3"/>
          <p:cNvSpPr/>
          <p:nvPr/>
        </p:nvSpPr>
        <p:spPr>
          <a:xfrm>
            <a:off x="3886200" y="1778508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3886200" y="17785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bg1"/>
                </a:solidFill>
              </a:rPr>
              <a:t>3</a:t>
            </a:r>
            <a:endParaRPr lang="zh-CN" altLang="en-US" sz="1200" dirty="0"/>
          </a:p>
        </p:txBody>
      </p:sp>
      <p:sp>
        <p:nvSpPr>
          <p:cNvPr id="16" name="host to edge"/>
          <p:cNvSpPr/>
          <p:nvPr/>
        </p:nvSpPr>
        <p:spPr>
          <a:xfrm>
            <a:off x="1874520" y="2340864"/>
            <a:ext cx="274320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7" name="edge to fbr"/>
          <p:cNvSpPr/>
          <p:nvPr/>
        </p:nvSpPr>
        <p:spPr>
          <a:xfrm>
            <a:off x="3749040" y="2340864"/>
            <a:ext cx="228600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lane Shard 1 · B4"/>
          <p:cNvSpPr/>
          <p:nvPr/>
        </p:nvSpPr>
        <p:spPr>
          <a:xfrm>
            <a:off x="6355080" y="1481328"/>
            <a:ext cx="3154680" cy="347472"/>
          </a:xfrm>
          <a:prstGeom prst="roundRect">
            <a:avLst>
              <a:gd name="adj" fmla="val 2105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6355080" y="1481328"/>
            <a:ext cx="3154680" cy="347472"/>
          </a:xfrm>
          <a:prstGeom prst="rect">
            <a:avLst/>
          </a:prstGeom>
          <a:noFill/>
          <a:ln/>
        </p:spPr>
        <p:txBody>
          <a:bodyPr wrap="square" lIns="304800" tIns="0" rIns="7620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chemeClr val="bg1"/>
                </a:solidFill>
              </a:rPr>
              <a:t>Shard 1 · B4  </a:t>
            </a:r>
            <a:r>
              <a:rPr lang="zh-CN" altLang="en-US" sz="1200" dirty="0">
                <a:solidFill>
                  <a:schemeClr val="bg1"/>
                </a:solidFill>
              </a:rPr>
              <a:t>存量，逐步区域化</a:t>
            </a:r>
            <a:endParaRPr lang="zh-CN" altLang="en-US" sz="1200" dirty="0"/>
          </a:p>
        </p:txBody>
      </p:sp>
      <p:sp>
        <p:nvSpPr>
          <p:cNvPr id="20" name="fbr to Shard 1 · B4"/>
          <p:cNvSpPr/>
          <p:nvPr/>
        </p:nvSpPr>
        <p:spPr>
          <a:xfrm flipV="1">
            <a:off x="5349240" y="1655064"/>
            <a:ext cx="1005840" cy="68580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rd 1 · B4 to remote"/>
          <p:cNvSpPr/>
          <p:nvPr/>
        </p:nvSpPr>
        <p:spPr>
          <a:xfrm>
            <a:off x="9509760" y="1655064"/>
            <a:ext cx="548640" cy="68580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2" name="lane Shard 2"/>
          <p:cNvSpPr/>
          <p:nvPr/>
        </p:nvSpPr>
        <p:spPr>
          <a:xfrm>
            <a:off x="6355080" y="1920240"/>
            <a:ext cx="3154680" cy="347472"/>
          </a:xfrm>
          <a:prstGeom prst="roundRect">
            <a:avLst>
              <a:gd name="adj" fmla="val 2105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6355080" y="1920240"/>
            <a:ext cx="3154680" cy="347472"/>
          </a:xfrm>
          <a:prstGeom prst="rect">
            <a:avLst/>
          </a:prstGeom>
          <a:noFill/>
          <a:ln/>
        </p:spPr>
        <p:txBody>
          <a:bodyPr wrap="square" lIns="304800" tIns="0" rIns="7620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chemeClr val="bg1"/>
                </a:solidFill>
              </a:rPr>
              <a:t>Shard 2  </a:t>
            </a:r>
            <a:r>
              <a:rPr lang="zh-CN" altLang="en-US" sz="1200" dirty="0">
                <a:solidFill>
                  <a:schemeClr val="bg1"/>
                </a:solidFill>
              </a:rPr>
              <a:t>新建，一开始就区域化</a:t>
            </a:r>
            <a:endParaRPr lang="zh-CN" altLang="en-US" sz="1200" dirty="0"/>
          </a:p>
        </p:txBody>
      </p:sp>
      <p:sp>
        <p:nvSpPr>
          <p:cNvPr id="24" name="fbr to Shard 2"/>
          <p:cNvSpPr/>
          <p:nvPr/>
        </p:nvSpPr>
        <p:spPr>
          <a:xfrm flipV="1">
            <a:off x="5349240" y="2093976"/>
            <a:ext cx="1005840" cy="246888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rd 2 to remote"/>
          <p:cNvSpPr/>
          <p:nvPr/>
        </p:nvSpPr>
        <p:spPr>
          <a:xfrm>
            <a:off x="9509760" y="2093976"/>
            <a:ext cx="548640" cy="246888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6" name="lane Shard 3"/>
          <p:cNvSpPr/>
          <p:nvPr/>
        </p:nvSpPr>
        <p:spPr>
          <a:xfrm>
            <a:off x="6355080" y="2359152"/>
            <a:ext cx="3154680" cy="347472"/>
          </a:xfrm>
          <a:prstGeom prst="roundRect">
            <a:avLst>
              <a:gd name="adj" fmla="val 2105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 txBox="1"/>
          <p:nvPr/>
        </p:nvSpPr>
        <p:spPr>
          <a:xfrm>
            <a:off x="6355080" y="2359152"/>
            <a:ext cx="3154680" cy="347472"/>
          </a:xfrm>
          <a:prstGeom prst="rect">
            <a:avLst/>
          </a:prstGeom>
          <a:noFill/>
          <a:ln/>
        </p:spPr>
        <p:txBody>
          <a:bodyPr wrap="square" lIns="304800" tIns="0" rIns="7620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chemeClr val="bg1"/>
                </a:solidFill>
              </a:rPr>
              <a:t>Shard 3  </a:t>
            </a:r>
            <a:r>
              <a:rPr lang="zh-CN" altLang="en-US" sz="1200" dirty="0">
                <a:solidFill>
                  <a:schemeClr val="bg1"/>
                </a:solidFill>
              </a:rPr>
              <a:t>新建，一开始就区域化</a:t>
            </a:r>
            <a:endParaRPr lang="zh-CN" altLang="en-US" sz="1200" dirty="0"/>
          </a:p>
        </p:txBody>
      </p:sp>
      <p:sp>
        <p:nvSpPr>
          <p:cNvPr id="28" name="fbr to Shard 3"/>
          <p:cNvSpPr/>
          <p:nvPr/>
        </p:nvSpPr>
        <p:spPr>
          <a:xfrm>
            <a:off x="5349240" y="2340864"/>
            <a:ext cx="1005840" cy="192024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rd 3 to remote"/>
          <p:cNvSpPr/>
          <p:nvPr/>
        </p:nvSpPr>
        <p:spPr>
          <a:xfrm flipV="1">
            <a:off x="9509760" y="2340864"/>
            <a:ext cx="548640" cy="192024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0" name="lane Shard 4"/>
          <p:cNvSpPr/>
          <p:nvPr/>
        </p:nvSpPr>
        <p:spPr>
          <a:xfrm>
            <a:off x="6355080" y="2798064"/>
            <a:ext cx="3154680" cy="347472"/>
          </a:xfrm>
          <a:prstGeom prst="roundRect">
            <a:avLst>
              <a:gd name="adj" fmla="val 2105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 txBox="1"/>
          <p:nvPr/>
        </p:nvSpPr>
        <p:spPr>
          <a:xfrm>
            <a:off x="6355080" y="2798064"/>
            <a:ext cx="3154680" cy="347472"/>
          </a:xfrm>
          <a:prstGeom prst="rect">
            <a:avLst/>
          </a:prstGeom>
          <a:noFill/>
          <a:ln/>
        </p:spPr>
        <p:txBody>
          <a:bodyPr wrap="square" lIns="304800" tIns="0" rIns="7620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chemeClr val="bg1"/>
                </a:solidFill>
              </a:rPr>
              <a:t>Shard 4  </a:t>
            </a:r>
            <a:r>
              <a:rPr lang="zh-CN" altLang="en-US" sz="1200" dirty="0">
                <a:solidFill>
                  <a:schemeClr val="bg1"/>
                </a:solidFill>
              </a:rPr>
              <a:t>新建，一开始就区域化</a:t>
            </a:r>
            <a:endParaRPr lang="zh-CN" altLang="en-US" sz="1200" dirty="0"/>
          </a:p>
        </p:txBody>
      </p:sp>
      <p:sp>
        <p:nvSpPr>
          <p:cNvPr id="32" name="fbr to Shard 4"/>
          <p:cNvSpPr/>
          <p:nvPr/>
        </p:nvSpPr>
        <p:spPr>
          <a:xfrm>
            <a:off x="5349240" y="2340864"/>
            <a:ext cx="1005840" cy="630936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rd 4 to remote"/>
          <p:cNvSpPr/>
          <p:nvPr/>
        </p:nvSpPr>
        <p:spPr>
          <a:xfrm flipV="1">
            <a:off x="9509760" y="2340864"/>
            <a:ext cx="548640" cy="630936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4" name="badge 4"/>
          <p:cNvSpPr/>
          <p:nvPr/>
        </p:nvSpPr>
        <p:spPr>
          <a:xfrm>
            <a:off x="6263640" y="1353312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 txBox="1"/>
          <p:nvPr/>
        </p:nvSpPr>
        <p:spPr>
          <a:xfrm>
            <a:off x="6263640" y="1353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bg1"/>
                </a:solidFill>
              </a:rPr>
              <a:t>4</a:t>
            </a:r>
            <a:endParaRPr lang="zh-CN" alt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349240" y="3200400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100" dirty="0">
                <a:solidFill>
                  <a:schemeClr val="accent6"/>
                </a:solidFill>
              </a:rPr>
              <a:t>FBR 经独立 L1 链路接入每个 shard；每个 shard 由区域核心、边界节点、全局核心组成，自有路由器、链路和 TE/BwE</a:t>
            </a:r>
            <a:endParaRPr lang="zh-CN" altLang="en-US" sz="1100" dirty="0"/>
          </a:p>
        </p:txBody>
      </p:sp>
      <p:sp>
        <p:nvSpPr>
          <p:cNvPr id="37" name="node remote"/>
          <p:cNvSpPr/>
          <p:nvPr/>
        </p:nvSpPr>
        <p:spPr>
          <a:xfrm>
            <a:off x="10058400" y="1906524"/>
            <a:ext cx="1584655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 txBox="1"/>
          <p:nvPr/>
        </p:nvSpPr>
        <p:spPr>
          <a:xfrm>
            <a:off x="10058400" y="1906524"/>
            <a:ext cx="1584655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zh-CN" altLang="en-US" sz="1500" b="1" dirty="0">
                <a:solidFill>
                  <a:schemeClr val="tx1"/>
                </a:solidFill>
              </a:rPr>
              <a:t>远端 edge</a:t>
            </a:r>
            <a:endParaRPr lang="zh-CN" altLang="en-US" sz="1500" dirty="0"/>
          </a:p>
          <a:p>
            <a:pPr marL="0" indent="0" algn="ctr">
              <a:buNone/>
            </a:pPr>
            <a:r>
              <a:rPr lang="zh-CN" altLang="en-US" sz="1200" dirty="0">
                <a:solidFill>
                  <a:schemeClr val="accent6"/>
                </a:solidFill>
              </a:rPr>
              <a:t>target prefix A～D</a:t>
            </a:r>
            <a:endParaRPr lang="zh-CN" altLang="en-US" sz="1500" dirty="0"/>
          </a:p>
        </p:txBody>
      </p:sp>
      <p:sp>
        <p:nvSpPr>
          <p:cNvPr id="39" name="badge 5"/>
          <p:cNvSpPr/>
          <p:nvPr/>
        </p:nvSpPr>
        <p:spPr>
          <a:xfrm>
            <a:off x="9966960" y="1778508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 txBox="1"/>
          <p:nvPr/>
        </p:nvSpPr>
        <p:spPr>
          <a:xfrm>
            <a:off x="9966960" y="17785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bg1"/>
                </a:solidFill>
              </a:rPr>
              <a:t>5</a:t>
            </a:r>
            <a:endParaRPr lang="zh-CN" alt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3703320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各节点做什么</a:t>
            </a:r>
            <a:endParaRPr lang="zh-CN" altLang="en-US" sz="1600" dirty="0"/>
          </a:p>
        </p:txBody>
      </p:sp>
      <p:sp>
        <p:nvSpPr>
          <p:cNvPr id="42" name="badge 1"/>
          <p:cNvSpPr/>
          <p:nvPr/>
        </p:nvSpPr>
        <p:spPr>
          <a:xfrm>
            <a:off x="548640" y="4105656"/>
            <a:ext cx="237744" cy="23774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 txBox="1"/>
          <p:nvPr/>
        </p:nvSpPr>
        <p:spPr>
          <a:xfrm>
            <a:off x="548640" y="410565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bg1"/>
                </a:solidFill>
              </a:rPr>
              <a:t>1</a:t>
            </a:r>
            <a:endParaRPr lang="zh-CN" alt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896112" y="4087368"/>
            <a:ext cx="5897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00" b="1" dirty="0">
                <a:solidFill>
                  <a:schemeClr val="tx1"/>
                </a:solidFill>
              </a:rPr>
              <a:t>主机：</a:t>
            </a:r>
            <a:r>
              <a:rPr lang="zh-CN" altLang="en-US" sz="1200" dirty="0">
                <a:solidFill>
                  <a:schemeClr val="tx1"/>
                </a:solidFill>
              </a:rPr>
              <a:t>BwE 在源端按配额限速；包头保留位打标，决定是否走分片；PRR 发现丢包就改 FlowLabel 换路</a:t>
            </a:r>
            <a:endParaRPr lang="zh-CN" altLang="en-US" sz="1200" dirty="0"/>
          </a:p>
        </p:txBody>
      </p:sp>
      <p:sp>
        <p:nvSpPr>
          <p:cNvPr id="45" name="badge 2"/>
          <p:cNvSpPr/>
          <p:nvPr/>
        </p:nvSpPr>
        <p:spPr>
          <a:xfrm>
            <a:off x="548640" y="4535424"/>
            <a:ext cx="237744" cy="23774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 txBox="1"/>
          <p:nvPr/>
        </p:nvSpPr>
        <p:spPr>
          <a:xfrm>
            <a:off x="548640" y="45354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bg1"/>
                </a:solidFill>
              </a:rPr>
              <a:t>2</a:t>
            </a:r>
            <a:endParaRPr lang="zh-CN" alt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896112" y="4517136"/>
            <a:ext cx="5897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00" b="1" dirty="0">
                <a:solidFill>
                  <a:schemeClr val="tx1"/>
                </a:solidFill>
              </a:rPr>
              <a:t>Compute Edge：</a:t>
            </a:r>
            <a:r>
              <a:rPr lang="zh-CN" altLang="en-US" sz="1200" dirty="0">
                <a:solidFill>
                  <a:schemeClr val="tx1"/>
                </a:solidFill>
              </a:rPr>
              <a:t>Jupiter 集群网络，流量起止点；与 Core 只经 Edge-Core API（eBGP + BwE）交互</a:t>
            </a:r>
            <a:endParaRPr lang="zh-CN" altLang="en-US" sz="1200" dirty="0"/>
          </a:p>
        </p:txBody>
      </p:sp>
      <p:sp>
        <p:nvSpPr>
          <p:cNvPr id="48" name="badge 3"/>
          <p:cNvSpPr/>
          <p:nvPr/>
        </p:nvSpPr>
        <p:spPr>
          <a:xfrm>
            <a:off x="548640" y="4965192"/>
            <a:ext cx="237744" cy="23774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 txBox="1"/>
          <p:nvPr/>
        </p:nvSpPr>
        <p:spPr>
          <a:xfrm>
            <a:off x="548640" y="49651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bg1"/>
                </a:solidFill>
              </a:rPr>
              <a:t>3</a:t>
            </a:r>
            <a:endParaRPr lang="zh-CN" alt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896112" y="4946904"/>
            <a:ext cx="5897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00" b="1" dirty="0">
                <a:solidFill>
                  <a:schemeClr val="tx1"/>
                </a:solidFill>
              </a:rPr>
              <a:t>FBR：</a:t>
            </a:r>
            <a:r>
              <a:rPr lang="zh-CN" altLang="en-US" sz="1200" dirty="0">
                <a:solidFill>
                  <a:schemeClr val="tx1"/>
                </a:solidFill>
              </a:rPr>
              <a:t>两个 VRF：未打标流量只走 Shard 1，打标流量在 Shard 2～4 间 ECMP；SE 经 iBGP 调权重或停用 shard</a:t>
            </a:r>
            <a:endParaRPr lang="zh-CN" altLang="en-US" sz="1200" dirty="0"/>
          </a:p>
        </p:txBody>
      </p:sp>
      <p:sp>
        <p:nvSpPr>
          <p:cNvPr id="51" name="badge 4"/>
          <p:cNvSpPr/>
          <p:nvPr/>
        </p:nvSpPr>
        <p:spPr>
          <a:xfrm>
            <a:off x="548640" y="5394960"/>
            <a:ext cx="237744" cy="23774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 txBox="1"/>
          <p:nvPr/>
        </p:nvSpPr>
        <p:spPr>
          <a:xfrm>
            <a:off x="548640" y="53949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bg1"/>
                </a:solidFill>
              </a:rPr>
              <a:t>4</a:t>
            </a:r>
            <a:endParaRPr lang="zh-CN" alt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896112" y="5376672"/>
            <a:ext cx="5897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00" b="1" dirty="0">
                <a:solidFill>
                  <a:schemeClr val="tx1"/>
                </a:solidFill>
              </a:rPr>
              <a:t>Shard：</a:t>
            </a:r>
            <a:r>
              <a:rPr lang="zh-CN" altLang="en-US" sz="1200" dirty="0">
                <a:solidFill>
                  <a:schemeClr val="tx1"/>
                </a:solidFill>
              </a:rPr>
              <a:t>region 内流量由区域 TE/BwE 管；跨 region 在边界节点交接，边界链路按月逻辑切分</a:t>
            </a:r>
            <a:endParaRPr lang="zh-CN" altLang="en-US" sz="1200" dirty="0"/>
          </a:p>
        </p:txBody>
      </p:sp>
      <p:sp>
        <p:nvSpPr>
          <p:cNvPr id="54" name="badge 5"/>
          <p:cNvSpPr/>
          <p:nvPr/>
        </p:nvSpPr>
        <p:spPr>
          <a:xfrm>
            <a:off x="548640" y="5824728"/>
            <a:ext cx="237744" cy="23774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 txBox="1"/>
          <p:nvPr/>
        </p:nvSpPr>
        <p:spPr>
          <a:xfrm>
            <a:off x="548640" y="58247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bg1"/>
                </a:solidFill>
              </a:rPr>
              <a:t>5</a:t>
            </a:r>
            <a:endParaRPr lang="zh-CN" alt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896112" y="5806440"/>
            <a:ext cx="5897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00" b="1" dirty="0">
                <a:solidFill>
                  <a:schemeClr val="tx1"/>
                </a:solidFill>
              </a:rPr>
              <a:t>远端 edge：</a:t>
            </a:r>
            <a:r>
              <a:rPr lang="zh-CN" altLang="en-US" sz="1200" dirty="0">
                <a:solidFill>
                  <a:schemeClr val="tx1"/>
                </a:solidFill>
              </a:rPr>
              <a:t>在每个 shard 上各通告一个 target prefix（“经该 shard 可达”），SE 据此选 shard</a:t>
            </a:r>
            <a:endParaRPr lang="zh-CN" alt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7086600" y="3703320"/>
            <a:ext cx="4553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分片隔离到哪一层</a:t>
            </a:r>
            <a:endParaRPr lang="zh-CN" altLang="en-US" sz="1600" dirty="0"/>
          </a:p>
        </p:txBody>
      </p:sp>
      <p:graphicFrame>
        <p:nvGraphicFramePr>
          <p:cNvPr id="58" name="isolati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4087368"/>
          <a:ext cx="4556455" cy="192024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105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b="1" dirty="0">
                          <a:solidFill>
                            <a:schemeClr val="bg1"/>
                          </a:solidFill>
                        </a:rPr>
                        <a:t>层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b="1" dirty="0">
                          <a:solidFill>
                            <a:schemeClr val="bg1"/>
                          </a:solidFill>
                        </a:rPr>
                        <a:t>隔离方式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b="1" dirty="0">
                          <a:solidFill>
                            <a:schemeClr val="tx1"/>
                          </a:solidFill>
                        </a:rPr>
                        <a:t>SDN 控制面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每个 shard 一套 TE / BwE / 路由，shard 内再按 region 切开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b="1" dirty="0">
                          <a:solidFill>
                            <a:schemeClr val="tx1"/>
                          </a:solidFill>
                        </a:rPr>
                        <a:t>路由器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严格隔离：软件发布、维护只影响一个 shard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b="1" dirty="0">
                          <a:solidFill>
                            <a:schemeClr val="tx1"/>
                          </a:solidFill>
                        </a:rPr>
                        <a:t>L2 链路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严格隔离；否决共用链路逻辑切分，防止一个 BwE 超额拖累所有 shard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b="1" dirty="0">
                          <a:solidFill>
                            <a:schemeClr val="tx1"/>
                          </a:solidFill>
                        </a:rPr>
                        <a:t>L0/L1 光纤、光传输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尽量隔离；海缆等成本过高的部分共用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6</a:t>
            </a:fld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600" b="1" dirty="0">
                <a:solidFill>
                  <a:schemeClr val="tx1"/>
                </a:solidFill>
              </a:rPr>
              <a:t>GGN 承载的业务与流量分级</a:t>
            </a:r>
            <a:endParaRPr lang="zh-CN" alt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三类 edge 对应三类业务</a:t>
            </a:r>
            <a:endParaRPr lang="zh-CN" altLang="en-US" sz="1600" dirty="0"/>
          </a:p>
        </p:txBody>
      </p:sp>
      <p:sp>
        <p:nvSpPr>
          <p:cNvPr id="4" name="business card 1"/>
          <p:cNvSpPr/>
          <p:nvPr/>
        </p:nvSpPr>
        <p:spPr>
          <a:xfrm>
            <a:off x="548640" y="160020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Compute Edge · 数据中心 circle"/>
          <p:cNvSpPr/>
          <p:nvPr/>
        </p:nvSpPr>
        <p:spPr>
          <a:xfrm>
            <a:off x="731520" y="175564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Compute Edge · 数据中心 icon" descr="Compute Edge · 数据中心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185623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7556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500" b="1" dirty="0">
                <a:solidFill>
                  <a:schemeClr val="tx1"/>
                </a:solidFill>
              </a:rPr>
              <a:t>Compute Edge · 数据中心</a:t>
            </a:r>
            <a:endParaRPr lang="zh-CN" alt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304288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集群之间的流量：Google 内部服务、Cloud 的计算和存储、ML/AI 训练园区（分片优先部署在这里）</a:t>
            </a:r>
            <a:endParaRPr lang="zh-CN" altLang="en-US" sz="1200" dirty="0"/>
          </a:p>
        </p:txBody>
      </p:sp>
      <p:sp>
        <p:nvSpPr>
          <p:cNvPr id="9" name="business card 2"/>
          <p:cNvSpPr/>
          <p:nvPr/>
        </p:nvSpPr>
        <p:spPr>
          <a:xfrm>
            <a:off x="548640" y="3145536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CSE · Cloud Interconnect circle"/>
          <p:cNvSpPr/>
          <p:nvPr/>
        </p:nvSpPr>
        <p:spPr>
          <a:xfrm>
            <a:off x="731520" y="330098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CSE · Cloud Interconnect icon" descr="CSE · Cloud Interconnec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" y="3401568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325880" y="33009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500" b="1" dirty="0">
                <a:solidFill>
                  <a:schemeClr val="tx1"/>
                </a:solidFill>
              </a:rPr>
              <a:t>CSE · Cloud Interconnect</a:t>
            </a:r>
            <a:endParaRPr lang="zh-CN" alt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31520" y="3849624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企业专线接入 Google Cloud；客户要求像 MPLS 专线一样明确的 SLO，以及路径可控（数据主权）、按需带宽、线速加密</a:t>
            </a:r>
            <a:endParaRPr lang="zh-CN" altLang="en-US" sz="1200" dirty="0"/>
          </a:p>
        </p:txBody>
      </p:sp>
      <p:sp>
        <p:nvSpPr>
          <p:cNvPr id="14" name="business card 3"/>
          <p:cNvSpPr/>
          <p:nvPr/>
        </p:nvSpPr>
        <p:spPr>
          <a:xfrm>
            <a:off x="548640" y="4690872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Internet Edge · 对外互联 circle"/>
          <p:cNvSpPr/>
          <p:nvPr/>
        </p:nvSpPr>
        <p:spPr>
          <a:xfrm>
            <a:off x="731520" y="48463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nternet Edge · 对外互联 icon" descr="Internet Edge · 对外互联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" y="494690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25880" y="4846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500" b="1" dirty="0">
                <a:solidFill>
                  <a:schemeClr val="tx1"/>
                </a:solidFill>
              </a:rPr>
              <a:t>Internet Edge · 对外互联</a:t>
            </a:r>
            <a:endParaRPr lang="zh-CN" alt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731520" y="539496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和外部网络 peering；原来由 B2 承担的对外互联，迁到 GGN 后接入同一张分片核心</a:t>
            </a:r>
            <a:endParaRPr lang="zh-CN" alt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4894783" y="1188720"/>
            <a:ext cx="6748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流量分级与保护</a:t>
            </a:r>
            <a:endParaRPr lang="zh-CN" altLang="en-US" sz="1600" dirty="0"/>
          </a:p>
        </p:txBody>
      </p:sp>
      <p:graphicFrame>
        <p:nvGraphicFramePr>
          <p:cNvPr id="20" name="tier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189350"/>
              </p:ext>
            </p:extLst>
          </p:nvPr>
        </p:nvGraphicFramePr>
        <p:xfrm>
          <a:off x="4894783" y="1600200"/>
          <a:ext cx="6751015" cy="2103120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3893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b="1" dirty="0">
                          <a:solidFill>
                            <a:schemeClr val="bg1"/>
                          </a:solidFill>
                        </a:rPr>
                        <a:t>等级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b="1" dirty="0">
                          <a:solidFill>
                            <a:schemeClr val="bg1"/>
                          </a:solidFill>
                        </a:rPr>
                        <a:t>流量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b="1" dirty="0">
                          <a:solidFill>
                            <a:schemeClr val="bg1"/>
                          </a:solidFill>
                        </a:rPr>
                        <a:t>可用性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b="1" dirty="0">
                          <a:solidFill>
                            <a:schemeClr val="bg1"/>
                          </a:solidFill>
                        </a:rPr>
                        <a:t>每月预算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b="1" dirty="0">
                          <a:solidFill>
                            <a:schemeClr val="bg1"/>
                          </a:solidFill>
                        </a:rPr>
                        <a:t>某个 shard 故障时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b="1" dirty="0">
                          <a:solidFill>
                            <a:schemeClr val="tx1"/>
                          </a:solidFill>
                        </a:rPr>
                        <a:t>Tier-0 / UF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最高优先级、时延敏感；关键的用户和基础设施流量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99.99%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约 4 分钟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N−1 保护；部分故障约 3 分钟切走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b="1" dirty="0">
                          <a:solidFill>
                            <a:schemeClr val="tx1"/>
                          </a:solidFill>
                        </a:rPr>
                        <a:t>Tier-1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只容忍少量丢包的内部流量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99.9%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约 40 分钟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N−1 保护；5～15 分钟分批切走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b="1" dirty="0">
                          <a:solidFill>
                            <a:schemeClr val="tx1"/>
                          </a:solidFill>
                        </a:rPr>
                        <a:t>Tier-2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高带宽、时延不敏感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99%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数小时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不保护；故障时被 BwE 限速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b="1" dirty="0">
                          <a:solidFill>
                            <a:schemeClr val="tx1"/>
                          </a:solidFill>
                        </a:rPr>
                        <a:t>Tier-3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批量传输、复制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不保护；部分故障时只限速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7</a:t>
            </a:fld>
            <a:endParaRPr lang="zh-CN" altLang="en-US"/>
          </a:p>
        </p:txBody>
      </p:sp>
      <p:graphicFrame>
        <p:nvGraphicFramePr>
          <p:cNvPr id="28" name="ai fit table">
            <a:extLst>
              <a:ext uri="{FF2B5EF4-FFF2-40B4-BE49-F238E27FC236}">
                <a16:creationId xmlns:a16="http://schemas.microsoft.com/office/drawing/2014/main" id="{CCD74234-FA41-9FE6-E775-DA6264581F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0639818"/>
              </p:ext>
            </p:extLst>
          </p:nvPr>
        </p:nvGraphicFramePr>
        <p:xfrm>
          <a:off x="4894784" y="4281163"/>
          <a:ext cx="6748272" cy="1280160"/>
        </p:xfrm>
        <a:graphic>
          <a:graphicData uri="http://schemas.openxmlformats.org/drawingml/2006/table">
            <a:tbl>
              <a:tblPr/>
              <a:tblGrid>
                <a:gridCol w="23760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722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场景</a:t>
                      </a:r>
                      <a:endParaRPr 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适不适合</a:t>
                      </a:r>
                      <a:endParaRPr 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同步预训练：DP / PP 每步跨站</a:t>
                      </a:r>
                      <a:endParaRPr 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不是它的设计目标；更适合同城专用光纤加专门的跨站网络</a:t>
                      </a:r>
                      <a:endParaRPr 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DiLoCo 类低频同步</a:t>
                      </a:r>
                      <a:endParaRPr 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适合：几十到几百步才同步一次，属于大块传输</a:t>
                      </a:r>
                      <a:endParaRPr 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RL 权重同步、checkpoint、权重和数据分发</a:t>
                      </a:r>
                      <a:endParaRPr 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很适合：可限速、可排队、丢了能重传的批量流量</a:t>
                      </a:r>
                      <a:endParaRPr 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9" name="rdma card">
            <a:extLst>
              <a:ext uri="{FF2B5EF4-FFF2-40B4-BE49-F238E27FC236}">
                <a16:creationId xmlns:a16="http://schemas.microsoft.com/office/drawing/2014/main" id="{B5221BDF-CECC-AF92-CDB8-611CAB9320AD}"/>
              </a:ext>
            </a:extLst>
          </p:cNvPr>
          <p:cNvSpPr/>
          <p:nvPr/>
        </p:nvSpPr>
        <p:spPr>
          <a:xfrm>
            <a:off x="4894783" y="5687430"/>
            <a:ext cx="6263668" cy="679844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10">
            <a:extLst>
              <a:ext uri="{FF2B5EF4-FFF2-40B4-BE49-F238E27FC236}">
                <a16:creationId xmlns:a16="http://schemas.microsoft.com/office/drawing/2014/main" id="{7F84E1B9-2854-DBCD-5D93-1ADAA7D3354A}"/>
              </a:ext>
            </a:extLst>
          </p:cNvPr>
          <p:cNvSpPr txBox="1"/>
          <p:nvPr/>
        </p:nvSpPr>
        <p:spPr>
          <a:xfrm>
            <a:off x="5095767" y="5800340"/>
            <a:ext cx="5861700" cy="442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 err="1"/>
              <a:t>注</a:t>
            </a:r>
            <a:r>
              <a:rPr lang="zh-CN" altLang="en-US" sz="1400" b="1" dirty="0"/>
              <a:t>：</a:t>
            </a:r>
            <a:r>
              <a:rPr lang="en-US" sz="1400" b="1" dirty="0"/>
              <a:t>GGN 不跑 RDMA，但跨站训练不一定要 RDMA（谷歌 TPU pod </a:t>
            </a:r>
            <a:r>
              <a:rPr lang="en-US" sz="1400" b="1" dirty="0" err="1"/>
              <a:t>之间用自研传输</a:t>
            </a:r>
            <a:r>
              <a:rPr lang="en-US" sz="1400" b="1" dirty="0"/>
              <a:t>）</a:t>
            </a:r>
          </a:p>
        </p:txBody>
      </p:sp>
      <p:sp>
        <p:nvSpPr>
          <p:cNvPr id="32" name="Text 14">
            <a:extLst>
              <a:ext uri="{FF2B5EF4-FFF2-40B4-BE49-F238E27FC236}">
                <a16:creationId xmlns:a16="http://schemas.microsoft.com/office/drawing/2014/main" id="{888DFE67-0387-49ED-2D8F-480243AAFA4A}"/>
              </a:ext>
            </a:extLst>
          </p:cNvPr>
          <p:cNvSpPr txBox="1"/>
          <p:nvPr/>
        </p:nvSpPr>
        <p:spPr>
          <a:xfrm>
            <a:off x="4894783" y="3958213"/>
            <a:ext cx="6748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1600" b="1" dirty="0">
                <a:solidFill>
                  <a:schemeClr val="tx1"/>
                </a:solidFill>
              </a:rPr>
              <a:t>AI</a:t>
            </a:r>
            <a:r>
              <a:rPr lang="zh-CN" altLang="en-US" sz="1600" b="1" dirty="0">
                <a:solidFill>
                  <a:schemeClr val="tx1"/>
                </a:solidFill>
              </a:rPr>
              <a:t> 业务</a:t>
            </a:r>
            <a:endParaRPr lang="zh-CN" alt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600" b="1" dirty="0">
                <a:solidFill>
                  <a:schemeClr val="tx1"/>
                </a:solidFill>
              </a:rPr>
              <a:t>控制方式：从 OpenFlow 交换机到开放接口路由器</a:t>
            </a:r>
            <a:endParaRPr lang="zh-CN" alt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accent6"/>
                </a:solidFill>
              </a:rPr>
              <a:t>Shard 1（原 B4）保留自研交换机 + OpenFlow；新 shard 换成多厂商路由器 + gNMI / gNOI / gRIBI；全文没有用到 P4</a:t>
            </a:r>
            <a:endParaRPr lang="zh-CN" alt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46370"/>
            <a:ext cx="6675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两类 shard 的控制方式</a:t>
            </a:r>
            <a:endParaRPr lang="zh-CN" altLang="en-US" sz="1600" dirty="0"/>
          </a:p>
        </p:txBody>
      </p:sp>
      <p:graphicFrame>
        <p:nvGraphicFramePr>
          <p:cNvPr id="5" name="control 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363678"/>
              </p:ext>
            </p:extLst>
          </p:nvPr>
        </p:nvGraphicFramePr>
        <p:xfrm>
          <a:off x="548640" y="2412130"/>
          <a:ext cx="6675120" cy="237744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b="1" dirty="0">
                          <a:solidFill>
                            <a:schemeClr val="bg1"/>
                          </a:solidFill>
                        </a:rPr>
                        <a:t>Shard 1（原 B4）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b="1" dirty="0">
                          <a:solidFill>
                            <a:schemeClr val="bg1"/>
                          </a:solidFill>
                        </a:rPr>
                        <a:t>Shard 2～4（GGN 新建）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b="1" dirty="0">
                          <a:solidFill>
                            <a:schemeClr val="tx1"/>
                          </a:solidFill>
                        </a:rPr>
                        <a:t>设备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Saturn / Stargate 自研交换机，用商用交换芯片搭建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WBB lean router：WBB-XL 16 槽机框 / WBB-S 盒式，多厂商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b="1" dirty="0">
                          <a:solidFill>
                            <a:schemeClr val="tx1"/>
                          </a:solidFill>
                        </a:rPr>
                        <a:t>控制器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Orion（SDN 控制面）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区域 / 全局的 TE、BwE 控制器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b="1" dirty="0">
                          <a:solidFill>
                            <a:schemeClr val="tx1"/>
                          </a:solidFill>
                        </a:rPr>
                        <a:t>怎么下发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OpenFlow：转发表由控制器下发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gRIBI 往路由表写 TE 路径；gNMI 管配置和遥测，gNOI 管重启、升级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b="1" dirty="0">
                          <a:solidFill>
                            <a:schemeClr val="tx1"/>
                          </a:solidFill>
                        </a:rPr>
                        <a:t>设备自己跑路由协议吗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基本不跑，依赖控制器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照常跑 BGP / IS-IS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b="1" dirty="0">
                          <a:solidFill>
                            <a:schemeClr val="tx1"/>
                          </a:solidFill>
                        </a:rPr>
                        <a:t>控制器出问题时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交换机不知道该怎么转发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路由器靠自己的协议继续转发；论文强调 TE 与路由互不依赖</a:t>
                      </a:r>
                      <a:endParaRPr lang="zh-CN" alt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8" name="P4：GGN 论文没有用到 icon" descr="P4：GGN 论文没有用到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7536" y="2293258"/>
            <a:ext cx="256032" cy="256032"/>
          </a:xfrm>
          <a:prstGeom prst="rect">
            <a:avLst/>
          </a:prstGeom>
        </p:spPr>
      </p:pic>
      <p:sp>
        <p:nvSpPr>
          <p:cNvPr id="11" name="路由器和交换机都有 card"/>
          <p:cNvSpPr/>
          <p:nvPr/>
        </p:nvSpPr>
        <p:spPr>
          <a:xfrm>
            <a:off x="7388352" y="2563006"/>
            <a:ext cx="4190695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路由器和交换机都有 circle"/>
          <p:cNvSpPr/>
          <p:nvPr/>
        </p:nvSpPr>
        <p:spPr>
          <a:xfrm>
            <a:off x="7552944" y="270931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路由器和交换机都有 icon" descr="路由器和交换机都有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3528" y="280989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138160" y="2672734"/>
            <a:ext cx="3276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500" b="1" dirty="0">
                <a:solidFill>
                  <a:schemeClr val="tx1"/>
                </a:solidFill>
              </a:rPr>
              <a:t>路由器和交换机都有</a:t>
            </a:r>
            <a:endParaRPr lang="zh-CN" alt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8138160" y="3038494"/>
            <a:ext cx="327629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Shard 1 是交换机，Shard 2～4 是路由器；集群出口 FBR 是路由器，数据中心内部 Jupiter 是交换机。谷歌这样叫，区分的是靠控制器还是自己跑路由协议，以及路由表、隧道表项等 WAN 功能；lean 指用商用芯片、砍掉传统运营商路由器的昂贵功能</a:t>
            </a:r>
            <a:endParaRPr lang="zh-CN" altLang="en-US" sz="1200" dirty="0"/>
          </a:p>
        </p:txBody>
      </p:sp>
      <p:sp>
        <p:nvSpPr>
          <p:cNvPr id="16" name="control takeaway"/>
          <p:cNvSpPr/>
          <p:nvPr/>
        </p:nvSpPr>
        <p:spPr>
          <a:xfrm>
            <a:off x="548640" y="5623560"/>
            <a:ext cx="11094415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2"/>
          <p:cNvSpPr txBox="1"/>
          <p:nvPr/>
        </p:nvSpPr>
        <p:spPr>
          <a:xfrm>
            <a:off x="777240" y="5623560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350" b="1" dirty="0">
                <a:solidFill>
                  <a:schemeClr val="accent1"/>
                </a:solidFill>
              </a:rPr>
              <a:t>一句话  </a:t>
            </a:r>
            <a:r>
              <a:rPr lang="zh-CN" altLang="en-US" sz="1350" dirty="0">
                <a:solidFill>
                  <a:schemeClr val="tx1"/>
                </a:solidFill>
              </a:rPr>
              <a:t>GGN 从“自研交换机 + OpenFlow”转向“商用路由器 + 开放接口”，B4 作为旧 shard 暂时保留</a:t>
            </a:r>
            <a:endParaRPr lang="zh-CN" alt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8</a:t>
            </a:fld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 err="1">
                <a:solidFill>
                  <a:schemeClr val="tx1"/>
                </a:solidFill>
              </a:rPr>
              <a:t>区域化与故障响应：故障不出</a:t>
            </a:r>
            <a:r>
              <a:rPr lang="en-US" b="1" dirty="0">
                <a:solidFill>
                  <a:schemeClr val="tx1"/>
                </a:solidFill>
              </a:rPr>
              <a:t> region</a:t>
            </a:r>
            <a:endParaRPr lang="en-US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区域化怎么做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72768"/>
            <a:ext cx="7680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每个 region 一套 TE / BwE 控制器，只读本 region </a:t>
            </a:r>
            <a:r>
              <a:rPr lang="en-US" sz="1250" dirty="0" err="1">
                <a:solidFill>
                  <a:schemeClr val="tx1"/>
                </a:solidFill>
              </a:rPr>
              <a:t>的拓扑和流量，也只配置本</a:t>
            </a:r>
            <a:r>
              <a:rPr lang="en-US" sz="1250" dirty="0">
                <a:solidFill>
                  <a:schemeClr val="tx1"/>
                </a:solidFill>
              </a:rPr>
              <a:t> region</a:t>
            </a:r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跨 region </a:t>
            </a:r>
            <a:r>
              <a:rPr lang="en-US" sz="1250" dirty="0" err="1">
                <a:solidFill>
                  <a:schemeClr val="tx1"/>
                </a:solidFill>
              </a:rPr>
              <a:t>流量由区域和全局控制器各管一段，两边的带宽配额在主机侧合并</a:t>
            </a:r>
            <a:endParaRPr lang="en-US" sz="1250" dirty="0">
              <a:solidFill>
                <a:schemeClr val="tx1"/>
              </a:solidFill>
            </a:endParaRPr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 err="1">
                <a:solidFill>
                  <a:schemeClr val="tx1"/>
                </a:solidFill>
              </a:rPr>
              <a:t>边界节点由两边共用；意图冲突时以区域为准；两边控制器之间禁止在线通信</a:t>
            </a:r>
            <a:endParaRPr lang="en-US" sz="1250" dirty="0">
              <a:solidFill>
                <a:schemeClr val="tx1"/>
              </a:solidFill>
            </a:endParaRPr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 err="1">
                <a:solidFill>
                  <a:schemeClr val="tx1"/>
                </a:solidFill>
              </a:rPr>
              <a:t>边界链路逻辑切分：一部分给区域、其余给全局，按预测需求每月调整</a:t>
            </a:r>
            <a:endParaRPr lang="en-US" sz="1250" dirty="0">
              <a:solidFill>
                <a:schemeClr val="tx1"/>
              </a:solidFill>
            </a:endParaRPr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区域控制器跑在本 region 的计算集群里，跨至少 3 个容灾域；和全局 WAN 断开后仍能独立运转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069080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故障响应：三层 + 兜底</a:t>
            </a:r>
            <a:endParaRPr lang="en-US" sz="1500" dirty="0"/>
          </a:p>
        </p:txBody>
      </p:sp>
      <p:graphicFrame>
        <p:nvGraphicFramePr>
          <p:cNvPr id="13" name="failure table"/>
          <p:cNvGraphicFramePr>
            <a:graphicFrameLocks noGrp="1"/>
          </p:cNvGraphicFramePr>
          <p:nvPr/>
        </p:nvGraphicFramePr>
        <p:xfrm>
          <a:off x="548640" y="4434840"/>
          <a:ext cx="11094415" cy="137160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20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时间尺度</a:t>
                      </a:r>
                      <a:endParaRPr 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机制</a:t>
                      </a:r>
                      <a:endParaRPr 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处理什么</a:t>
                      </a:r>
                      <a:endParaRPr 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亚秒级</a:t>
                      </a:r>
                      <a:endParaRPr 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主机侧 PRR：改 IPv6 FlowLabel，让交换机重新哈希换路</a:t>
                      </a:r>
                      <a:endParaRPr 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某条路径变成黑洞</a:t>
                      </a:r>
                      <a:endParaRPr 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秒级</a:t>
                      </a:r>
                      <a:endParaRPr 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BGP 撤回该 shard 上的 target prefix，edge 路由器自动避开</a:t>
                      </a:r>
                      <a:endParaRPr 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某个 shard 不可达</a:t>
                      </a:r>
                      <a:endParaRPr 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分钟级</a:t>
                      </a:r>
                      <a:endParaRPr 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 通知其余 shard 的 TE / BwE 重新分配带宽</a:t>
                      </a:r>
                      <a:endParaRPr 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带宽下降这类部分故障</a:t>
                      </a:r>
                      <a:endParaRPr 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兜底</a:t>
                      </a:r>
                      <a:endParaRPr 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 路径持续丢包时，入口路由器退回 BGP / IS-IS 底层路由；TE 与路由互不依赖</a:t>
                      </a:r>
                      <a:endParaRPr 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 自身出错</a:t>
                      </a:r>
                      <a:endParaRPr 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600" b="1" dirty="0">
                <a:solidFill>
                  <a:schemeClr val="tx1"/>
                </a:solidFill>
              </a:rPr>
              <a:t>关键组件与产品一览</a:t>
            </a:r>
            <a:endParaRPr lang="zh-CN" alt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accent6"/>
                </a:solidFill>
              </a:rPr>
              <a:t>【自研】Google 自研　【标准】开放标准或开源　【商用】多厂商设备</a:t>
            </a:r>
            <a:endParaRPr lang="zh-CN" altLang="en-US" sz="1400" dirty="0"/>
          </a:p>
        </p:txBody>
      </p:sp>
      <p:sp>
        <p:nvSpPr>
          <p:cNvPr id="4" name="group 主机侧"/>
          <p:cNvSpPr/>
          <p:nvPr/>
        </p:nvSpPr>
        <p:spPr>
          <a:xfrm>
            <a:off x="548640" y="1463040"/>
            <a:ext cx="2622728" cy="4754880"/>
          </a:xfrm>
          <a:prstGeom prst="roundRect">
            <a:avLst>
              <a:gd name="adj" fmla="val 27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主机侧 circle"/>
          <p:cNvSpPr/>
          <p:nvPr/>
        </p:nvSpPr>
        <p:spPr>
          <a:xfrm>
            <a:off x="713232" y="1609344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主机侧 icon" descr="主机侧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793" y="1705905"/>
            <a:ext cx="245791" cy="24579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61872" y="1609344"/>
            <a:ext cx="1799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主机侧</a:t>
            </a:r>
            <a:endParaRPr lang="zh-CN" alt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13232" y="2194560"/>
            <a:ext cx="229354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300" b="1" dirty="0">
                <a:solidFill>
                  <a:schemeClr val="tx1"/>
                </a:solidFill>
              </a:rPr>
              <a:t>BwE 主机执行【自研】</a:t>
            </a:r>
            <a:endParaRPr lang="zh-CN" alt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按〈源, 目的, 等级〉在源端限速；区域和全局配额在主机合并</a:t>
            </a:r>
            <a:endParaRPr lang="zh-CN" altLang="en-US" sz="1300" dirty="0"/>
          </a:p>
          <a:p>
            <a:pPr marL="0" indent="0">
              <a:buNone/>
            </a:pPr>
            <a:r>
              <a:rPr lang="zh-CN" altLang="en-US" sz="1300" b="1" dirty="0">
                <a:solidFill>
                  <a:schemeClr val="tx1"/>
                </a:solidFill>
              </a:rPr>
              <a:t>PRR【自研】</a:t>
            </a:r>
            <a:endParaRPr lang="zh-CN" alt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丢包时改 IPv6 FlowLabel，交换机重新哈希换路，几个 RTT 内生效</a:t>
            </a:r>
            <a:endParaRPr lang="zh-CN" altLang="en-US" sz="1300" dirty="0"/>
          </a:p>
          <a:p>
            <a:pPr marL="0" indent="0">
              <a:buNone/>
            </a:pPr>
            <a:r>
              <a:rPr lang="zh-CN" altLang="en-US" sz="1300" b="1" dirty="0">
                <a:solidFill>
                  <a:schemeClr val="tx1"/>
                </a:solidFill>
              </a:rPr>
              <a:t>分片打标</a:t>
            </a:r>
            <a:endParaRPr lang="zh-CN" alt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包头保留位；可按应用、目的地或单条流决定是否分片</a:t>
            </a:r>
            <a:endParaRPr lang="zh-CN" altLang="en-US" sz="1300" dirty="0"/>
          </a:p>
          <a:p>
            <a:pPr marL="0" indent="0">
              <a:buNone/>
            </a:pPr>
            <a:r>
              <a:rPr lang="zh-CN" altLang="en-US" sz="1300" b="1" dirty="0">
                <a:solidFill>
                  <a:schemeClr val="tx1"/>
                </a:solidFill>
              </a:rPr>
              <a:t>探测</a:t>
            </a:r>
            <a:endParaRPr lang="zh-CN" alt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L3 UDP + L7 RPC 测 SLO；target prefix 可定向探测单个 shard</a:t>
            </a:r>
            <a:endParaRPr lang="zh-CN" altLang="en-US" sz="1300" dirty="0"/>
          </a:p>
        </p:txBody>
      </p:sp>
      <p:sp>
        <p:nvSpPr>
          <p:cNvPr id="9" name="group SDN 控制面"/>
          <p:cNvSpPr/>
          <p:nvPr/>
        </p:nvSpPr>
        <p:spPr>
          <a:xfrm>
            <a:off x="3372536" y="1463040"/>
            <a:ext cx="2622728" cy="4754880"/>
          </a:xfrm>
          <a:prstGeom prst="roundRect">
            <a:avLst>
              <a:gd name="adj" fmla="val 27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DN 控制面 circle"/>
          <p:cNvSpPr/>
          <p:nvPr/>
        </p:nvSpPr>
        <p:spPr>
          <a:xfrm>
            <a:off x="3537128" y="1609344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SDN 控制面 icon" descr="SDN 控制面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3688" y="1705905"/>
            <a:ext cx="245791" cy="24579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085768" y="1609344"/>
            <a:ext cx="1799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SDN 控制面</a:t>
            </a:r>
            <a:endParaRPr lang="zh-CN" alt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3537128" y="2194560"/>
            <a:ext cx="229354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300" b="1" dirty="0">
                <a:solidFill>
                  <a:schemeClr val="tx1"/>
                </a:solidFill>
              </a:rPr>
              <a:t>TE 控制器【自研】</a:t>
            </a:r>
            <a:endParaRPr lang="zh-CN" alt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每个 shard × region 一套，另有全局核心；Tree Tunnels、多路径</a:t>
            </a:r>
            <a:endParaRPr lang="zh-CN" altLang="en-US" sz="1300" dirty="0"/>
          </a:p>
          <a:p>
            <a:pPr marL="0" indent="0">
              <a:buNone/>
            </a:pPr>
            <a:r>
              <a:rPr lang="zh-CN" altLang="en-US" sz="1300" b="1" dirty="0">
                <a:solidFill>
                  <a:schemeClr val="tx1"/>
                </a:solidFill>
              </a:rPr>
              <a:t>BwE 控制器【自研】</a:t>
            </a:r>
            <a:endParaRPr lang="zh-CN" alt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同样按 shard × region 部署；NU-BwE 有条件限速</a:t>
            </a:r>
            <a:endParaRPr lang="zh-CN" altLang="en-US" sz="1300" dirty="0"/>
          </a:p>
          <a:p>
            <a:pPr marL="0" indent="0">
              <a:buNone/>
            </a:pPr>
            <a:r>
              <a:rPr lang="zh-CN" altLang="en-US" sz="1300" b="1" dirty="0">
                <a:solidFill>
                  <a:schemeClr val="tx1"/>
                </a:solidFill>
              </a:rPr>
              <a:t>SE【自研，GGN 新增】</a:t>
            </a:r>
            <a:endParaRPr lang="zh-CN" alt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在每个 edge 的 BwE 控制面里，经 iBGP 选择或停用 shard</a:t>
            </a:r>
            <a:endParaRPr lang="zh-CN" altLang="en-US" sz="1300" dirty="0"/>
          </a:p>
          <a:p>
            <a:pPr marL="0" indent="0">
              <a:buNone/>
            </a:pPr>
            <a:r>
              <a:rPr lang="zh-CN" altLang="en-US" sz="1300" b="1" dirty="0">
                <a:solidFill>
                  <a:schemeClr val="tx1"/>
                </a:solidFill>
              </a:rPr>
              <a:t>Edge 路由控制器【自研】</a:t>
            </a:r>
            <a:endParaRPr lang="zh-CN" alt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校验 SE 的通告，拒绝不安全的路由（论文引 Orion）</a:t>
            </a:r>
            <a:endParaRPr lang="zh-CN" altLang="en-US" sz="1300" dirty="0"/>
          </a:p>
          <a:p>
            <a:pPr marL="0" indent="0">
              <a:buNone/>
            </a:pPr>
            <a:r>
              <a:rPr lang="zh-CN" altLang="en-US" sz="1300" b="1" dirty="0">
                <a:solidFill>
                  <a:schemeClr val="tx1"/>
                </a:solidFill>
              </a:rPr>
              <a:t>Borg【自研】</a:t>
            </a:r>
            <a:endParaRPr lang="zh-CN" alt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控制器运行平台（NCS-free）；区域控制器跨 ≥3 个容灾域</a:t>
            </a:r>
            <a:endParaRPr lang="zh-CN" altLang="en-US" sz="1300" dirty="0"/>
          </a:p>
        </p:txBody>
      </p:sp>
      <p:sp>
        <p:nvSpPr>
          <p:cNvPr id="14" name="group 设备与接口"/>
          <p:cNvSpPr/>
          <p:nvPr/>
        </p:nvSpPr>
        <p:spPr>
          <a:xfrm>
            <a:off x="6196432" y="1463040"/>
            <a:ext cx="2622728" cy="4754880"/>
          </a:xfrm>
          <a:prstGeom prst="roundRect">
            <a:avLst>
              <a:gd name="adj" fmla="val 27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设备与接口 circle"/>
          <p:cNvSpPr/>
          <p:nvPr/>
        </p:nvSpPr>
        <p:spPr>
          <a:xfrm>
            <a:off x="6361024" y="1609344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设备与接口 icon" descr="设备与接口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7584" y="1705905"/>
            <a:ext cx="245791" cy="245791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909664" y="1609344"/>
            <a:ext cx="1799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设备与接口</a:t>
            </a:r>
            <a:endParaRPr lang="zh-CN" alt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6361024" y="2194560"/>
            <a:ext cx="229354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300" b="1" dirty="0">
                <a:solidFill>
                  <a:schemeClr val="tx1"/>
                </a:solidFill>
              </a:rPr>
              <a:t>WBB lean router【商用】</a:t>
            </a:r>
            <a:endParaRPr lang="zh-CN" alt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抽象 SKU 采购（WBB-XL 机框 / WBB-S 盒式），可跑容器化应用</a:t>
            </a:r>
            <a:endParaRPr lang="zh-CN" altLang="en-US" sz="1300" dirty="0"/>
          </a:p>
          <a:p>
            <a:pPr marL="0" indent="0">
              <a:buNone/>
            </a:pPr>
            <a:r>
              <a:rPr lang="zh-CN" altLang="en-US" sz="1300" b="1" dirty="0">
                <a:solidFill>
                  <a:schemeClr val="tx1"/>
                </a:solidFill>
              </a:rPr>
              <a:t>Saturn / Stargate【自研】</a:t>
            </a:r>
            <a:endParaRPr lang="zh-CN" alt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B4 时代自研交换设备，Shard 1 存量</a:t>
            </a:r>
            <a:endParaRPr lang="zh-CN" altLang="en-US" sz="1300" dirty="0"/>
          </a:p>
          <a:p>
            <a:pPr marL="0" indent="0">
              <a:buNone/>
            </a:pPr>
            <a:r>
              <a:rPr lang="zh-CN" altLang="en-US" sz="1300" b="1" dirty="0">
                <a:solidFill>
                  <a:schemeClr val="tx1"/>
                </a:solidFill>
              </a:rPr>
              <a:t>FBR</a:t>
            </a:r>
            <a:endParaRPr lang="zh-CN" alt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Compute Edge 出口；VRF 区分是否分片，ECMP / 分层 WCMP</a:t>
            </a:r>
            <a:endParaRPr lang="zh-CN" altLang="en-US" sz="1300" dirty="0"/>
          </a:p>
          <a:p>
            <a:pPr marL="0" indent="0">
              <a:buNone/>
            </a:pPr>
            <a:r>
              <a:rPr lang="zh-CN" altLang="en-US" sz="1300" b="1" dirty="0">
                <a:solidFill>
                  <a:schemeClr val="tx1"/>
                </a:solidFill>
              </a:rPr>
              <a:t>边界节点</a:t>
            </a:r>
            <a:endParaRPr lang="zh-CN" alt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区域、全局控制器共用；意图冲突以区域为准</a:t>
            </a:r>
            <a:endParaRPr lang="zh-CN" altLang="en-US" sz="1300" dirty="0"/>
          </a:p>
          <a:p>
            <a:pPr marL="0" indent="0">
              <a:buNone/>
            </a:pPr>
            <a:r>
              <a:rPr lang="zh-CN" altLang="en-US" sz="1300" b="1" dirty="0">
                <a:solidFill>
                  <a:schemeClr val="tx1"/>
                </a:solidFill>
              </a:rPr>
              <a:t>gNMI / gNOI / gRIBI【标准】</a:t>
            </a:r>
            <a:endParaRPr lang="zh-CN" alt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OpenConfig / gRPC：配置遥测、运维操作、编程转发面</a:t>
            </a:r>
            <a:endParaRPr lang="zh-CN" altLang="en-US" sz="1300" dirty="0"/>
          </a:p>
        </p:txBody>
      </p:sp>
      <p:sp>
        <p:nvSpPr>
          <p:cNvPr id="19" name="group 协议、运维与测试"/>
          <p:cNvSpPr/>
          <p:nvPr/>
        </p:nvSpPr>
        <p:spPr>
          <a:xfrm>
            <a:off x="9020327" y="1463040"/>
            <a:ext cx="2622728" cy="4754880"/>
          </a:xfrm>
          <a:prstGeom prst="roundRect">
            <a:avLst>
              <a:gd name="adj" fmla="val 27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协议、运维与测试 circle"/>
          <p:cNvSpPr/>
          <p:nvPr/>
        </p:nvSpPr>
        <p:spPr>
          <a:xfrm>
            <a:off x="9184919" y="1609344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协议、运维与测试 icon" descr="协议、运维与测试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81480" y="1705905"/>
            <a:ext cx="245791" cy="245791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733559" y="1609344"/>
            <a:ext cx="1799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协议、运维与测试</a:t>
            </a:r>
            <a:endParaRPr lang="zh-CN" alt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9184919" y="2194560"/>
            <a:ext cx="229354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300" b="1" dirty="0">
                <a:solidFill>
                  <a:schemeClr val="tx1"/>
                </a:solidFill>
              </a:rPr>
              <a:t>BGP / IS-IS【标准】</a:t>
            </a:r>
            <a:endParaRPr lang="zh-CN" alt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eBGP 做 Edge-Core 路由；iBGP 承载 SE 意图；TE 失效时做底层路由</a:t>
            </a:r>
            <a:endParaRPr lang="zh-CN" altLang="en-US" sz="1300" dirty="0"/>
          </a:p>
          <a:p>
            <a:pPr marL="0" indent="0">
              <a:buNone/>
            </a:pPr>
            <a:r>
              <a:rPr lang="zh-CN" altLang="en-US" sz="1300" b="1" dirty="0">
                <a:solidFill>
                  <a:schemeClr val="tx1"/>
                </a:solidFill>
              </a:rPr>
              <a:t>CAPA【自研】</a:t>
            </a:r>
            <a:endParaRPr lang="zh-CN" alt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生产安全系统：变更一次只动一个 shard，强制观察期</a:t>
            </a:r>
            <a:endParaRPr lang="zh-CN" altLang="en-US" sz="1300" dirty="0"/>
          </a:p>
          <a:p>
            <a:pPr marL="0" indent="0">
              <a:buNone/>
            </a:pPr>
            <a:r>
              <a:rPr lang="zh-CN" altLang="en-US" sz="1300" b="1" dirty="0">
                <a:solidFill>
                  <a:schemeClr val="tx1"/>
                </a:solidFill>
              </a:rPr>
              <a:t>ONDATRA + Feature Profiles【开源】</a:t>
            </a:r>
            <a:endParaRPr lang="zh-CN" alt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用 Go 写的设备测试框架 + 厂商在自己实验室跑的用例集</a:t>
            </a:r>
            <a:endParaRPr lang="zh-CN" altLang="en-US" sz="1300" dirty="0"/>
          </a:p>
          <a:p>
            <a:pPr marL="0" indent="0">
              <a:buNone/>
            </a:pPr>
            <a:r>
              <a:rPr lang="zh-CN" altLang="en-US" sz="1300" b="1" dirty="0">
                <a:solidFill>
                  <a:schemeClr val="tx1"/>
                </a:solidFill>
              </a:rPr>
              <a:t>KNE【开源】</a:t>
            </a:r>
            <a:endParaRPr lang="zh-CN" alt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zh-CN" altLang="en-US" sz="1200" dirty="0">
                <a:solidFill>
                  <a:schemeClr val="tx1"/>
                </a:solidFill>
              </a:rPr>
              <a:t>基于 Kubernetes 的网络仿真，厂商提供容器化的设备软件</a:t>
            </a:r>
            <a:endParaRPr lang="zh-CN" alt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10</a:t>
            </a:fld>
            <a:endParaRPr lang="zh-CN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052DF2A-0A52-4B88-175E-0B44D895DD21}"/>
              </a:ext>
            </a:extLst>
          </p:cNvPr>
          <p:cNvSpPr txBox="1"/>
          <p:nvPr/>
        </p:nvSpPr>
        <p:spPr>
          <a:xfrm>
            <a:off x="3048000" y="3244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四、关键组件与产品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chemeClr val="tx1"/>
                </a:solidFill>
              </a:rPr>
              <a:t>硬件：公开的型号与规格</a:t>
            </a:r>
            <a:endParaRPr lang="en-US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chemeClr val="accent6"/>
                </a:solidFill>
              </a:rPr>
              <a:t>自研设备只有代号，商用路由器只公开抽象档位，光层设备未公开</a:t>
            </a:r>
            <a:endParaRPr lang="en-US" sz="1400" dirty="0"/>
          </a:p>
        </p:txBody>
      </p:sp>
      <p:graphicFrame>
        <p:nvGraphicFramePr>
          <p:cNvPr id="15" name="hardware model table"/>
          <p:cNvGraphicFramePr>
            <a:graphicFrameLocks noGrp="1"/>
          </p:cNvGraphicFramePr>
          <p:nvPr/>
        </p:nvGraphicFramePr>
        <p:xfrm>
          <a:off x="548640" y="1463040"/>
          <a:ext cx="11094415" cy="361188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7901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位置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名称 / 型号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类型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公开的规格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来源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B4 初期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自研 128 × 10GE 交换机（未命名）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自研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多颗商用交换芯片拼成；设备上只跑 OpenFlow agent，路由协议栈为 Quagga（BGP / IS-IS）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2012 年 ONS 演讲报道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B4 站点第一代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Saturn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自研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扁平拓扑；朝集群 5.12 Tbps，朝 WAN 5.12 / 6.4 Tbps；每套最多 8 个机框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B4 and After 幻灯片（2018）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B4 站点后两代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J-POP、Stargate（Jumpgate 两层拓扑）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自研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supernode 是 spine + edge 交换机组成的 Clos；站点朝 WAN / 集群 / sidelink 共 80 Tbps；交换芯片从 100GE 升到 400GE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同上；GGN §3.2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新 shard 2～4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WBB lean router：WBB-XL / WBB-S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商用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只公开档位：WBB-XL 为 16 槽机框（最大的数据中心），WBB-S 为盒式（peering 站点）；厂商和型号未公开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GGN §3.2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计算边缘出口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FBR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未说明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双 VRF；ECMP / 分层 WCMP；型号未公开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GGN §4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数据中心网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Jupiter：Centauri、Middle Block、Spine Block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自研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Centauri 为 4RU 机框，2 块线卡 × 2 颗 16 × 40G 芯片；Spine Block = 6 个 Centauri；二分带宽 1.3 Pbps（2015）→ &gt;6 Pb/s；端口 40G → 400G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Jupiter Rising（2015）；谷歌博客（2022）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数据中心光交换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Apollo OCS（Palomar）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自研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3D MEMS 微镜，136 × 136 端口，插损典型低于 2 dB，毫秒级切换；同款用于 TPU v4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Mission Apollo（2022）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光层 L0 / L1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光线路系统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未公开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各 shard 共用；出于成本考虑不打算完全隔离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GGN §4.3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旧骨干 B2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传统厂商路由器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商用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跑 IS-IS、RSVP-TE；厂商未公开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GGN §2；Espresso（2017）</a:t>
                      </a:r>
                      <a:endParaRPr lang="en-US" sz="1100" dirty="0"/>
                    </a:p>
                  </a:txBody>
                  <a:tcPr marL="64008" marR="64008" marT="54864" marB="54864" anchor="ctr">
                    <a:lnL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chemeClr val="tx1"/>
                </a:solidFill>
              </a:rPr>
              <a:t>总结：GGN 用分片和区域化换可用性</a:t>
            </a:r>
            <a:endParaRPr lang="en-US" dirty="0"/>
          </a:p>
        </p:txBody>
      </p:sp>
      <p:sp>
        <p:nvSpPr>
          <p:cNvPr id="4" name="sum tag 1"/>
          <p:cNvSpPr/>
          <p:nvPr/>
        </p:nvSpPr>
        <p:spPr>
          <a:xfrm>
            <a:off x="548640" y="1280160"/>
            <a:ext cx="1417320" cy="1051560"/>
          </a:xfrm>
          <a:prstGeom prst="roundRect">
            <a:avLst>
              <a:gd name="adj" fmla="val 69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417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一、组网</a:t>
            </a:r>
            <a:endParaRPr lang="en-US" sz="1400" dirty="0"/>
          </a:p>
        </p:txBody>
      </p:sp>
      <p:sp>
        <p:nvSpPr>
          <p:cNvPr id="6" name="sum body 1"/>
          <p:cNvSpPr/>
          <p:nvPr/>
        </p:nvSpPr>
        <p:spPr>
          <a:xfrm>
            <a:off x="2057399" y="1280160"/>
            <a:ext cx="9585655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2240280" y="1280160"/>
            <a:ext cx="896722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Edge 收发、Core 中转，只经 eBGP + BwE 两个窄接口交互；Core 复制成 4 个物理隔离的 shard，每个 shard 再按 region 切成独立控制域；Edge 接入全部 shard</a:t>
            </a:r>
            <a:endParaRPr lang="en-US" sz="1250" dirty="0"/>
          </a:p>
        </p:txBody>
      </p:sp>
      <p:sp>
        <p:nvSpPr>
          <p:cNvPr id="8" name="sum tag 2"/>
          <p:cNvSpPr/>
          <p:nvPr/>
        </p:nvSpPr>
        <p:spPr>
          <a:xfrm>
            <a:off x="548640" y="2468880"/>
            <a:ext cx="1417320" cy="1051560"/>
          </a:xfrm>
          <a:prstGeom prst="roundRect">
            <a:avLst>
              <a:gd name="adj" fmla="val 69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548640" y="2468880"/>
            <a:ext cx="1417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二、业务</a:t>
            </a:r>
            <a:endParaRPr lang="en-US" sz="1400" dirty="0"/>
          </a:p>
        </p:txBody>
      </p:sp>
      <p:sp>
        <p:nvSpPr>
          <p:cNvPr id="10" name="sum body 2"/>
          <p:cNvSpPr/>
          <p:nvPr/>
        </p:nvSpPr>
        <p:spPr>
          <a:xfrm>
            <a:off x="2057399" y="2468880"/>
            <a:ext cx="9585655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2240280" y="2468880"/>
            <a:ext cx="896722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数据中心间流量、云专线、对外互联三类业务走同一张骨干；按 Tier-0～3 分级，N−1 </a:t>
            </a:r>
            <a:r>
              <a:rPr lang="en-US" sz="1250" dirty="0" err="1">
                <a:solidFill>
                  <a:schemeClr val="tx1"/>
                </a:solidFill>
              </a:rPr>
              <a:t>只保护</a:t>
            </a:r>
            <a:r>
              <a:rPr lang="en-US" sz="1250" dirty="0">
                <a:solidFill>
                  <a:schemeClr val="tx1"/>
                </a:solidFill>
              </a:rPr>
              <a:t> Tier-0/1</a:t>
            </a:r>
            <a:endParaRPr lang="en-US" sz="1250" dirty="0"/>
          </a:p>
        </p:txBody>
      </p:sp>
      <p:sp>
        <p:nvSpPr>
          <p:cNvPr id="12" name="sum tag 3"/>
          <p:cNvSpPr/>
          <p:nvPr/>
        </p:nvSpPr>
        <p:spPr>
          <a:xfrm>
            <a:off x="548640" y="3657600"/>
            <a:ext cx="1417320" cy="1051560"/>
          </a:xfrm>
          <a:prstGeom prst="roundRect">
            <a:avLst>
              <a:gd name="adj" fmla="val 69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548640" y="3657600"/>
            <a:ext cx="1417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三、技术方案</a:t>
            </a:r>
            <a:endParaRPr lang="en-US" sz="1400" dirty="0"/>
          </a:p>
        </p:txBody>
      </p:sp>
      <p:sp>
        <p:nvSpPr>
          <p:cNvPr id="14" name="sum body 3"/>
          <p:cNvSpPr/>
          <p:nvPr/>
        </p:nvSpPr>
        <p:spPr>
          <a:xfrm>
            <a:off x="2057399" y="3657600"/>
            <a:ext cx="9585655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2240280" y="3657600"/>
            <a:ext cx="896722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SE 用 target prefix 秒级按目的地切 shard；区域化让错误输入和控制面 bug 不出 region；PRR → BGP → SE/TE 三层响应，TE 出错退回底层路由；从自研交换机 + OpenFlow 转向商用路由器 + 开放接口</a:t>
            </a:r>
            <a:endParaRPr lang="en-US" sz="1250" dirty="0"/>
          </a:p>
        </p:txBody>
      </p:sp>
      <p:sp>
        <p:nvSpPr>
          <p:cNvPr id="16" name="sum tag 4"/>
          <p:cNvSpPr/>
          <p:nvPr/>
        </p:nvSpPr>
        <p:spPr>
          <a:xfrm>
            <a:off x="548640" y="4846320"/>
            <a:ext cx="1417320" cy="1051560"/>
          </a:xfrm>
          <a:prstGeom prst="roundRect">
            <a:avLst>
              <a:gd name="adj" fmla="val 69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548640" y="4846320"/>
            <a:ext cx="1417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四、关键组件</a:t>
            </a:r>
            <a:endParaRPr lang="en-US" sz="1400" dirty="0"/>
          </a:p>
        </p:txBody>
      </p:sp>
      <p:sp>
        <p:nvSpPr>
          <p:cNvPr id="18" name="sum body 4"/>
          <p:cNvSpPr/>
          <p:nvPr/>
        </p:nvSpPr>
        <p:spPr>
          <a:xfrm>
            <a:off x="2057399" y="4846320"/>
            <a:ext cx="9585655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2240280" y="4846320"/>
            <a:ext cx="896722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控制面全部自研（Orion、TE、BwE、SE、PRR、CAPA，跑在 Borg 上）；设备转向多厂商 WBB 路由器，型号未公开；接口用 OpenConfig 的 gNMI / gNOI / gRIBI，测试用开源的 ONDATRA、KNE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600" b="1" dirty="0">
                <a:solidFill>
                  <a:schemeClr val="tx1"/>
                </a:solidFill>
              </a:rPr>
              <a:t>对 scale-across 硬件需求的启示</a:t>
            </a:r>
            <a:endParaRPr lang="zh-CN" altLang="en-US" sz="3600" dirty="0"/>
          </a:p>
        </p:txBody>
      </p:sp>
      <p:sp>
        <p:nvSpPr>
          <p:cNvPr id="3" name="inference note"/>
          <p:cNvSpPr txBox="1"/>
          <p:nvPr/>
        </p:nvSpPr>
        <p:spPr>
          <a:xfrm>
            <a:off x="548640" y="1005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accent6"/>
                </a:solidFill>
              </a:rPr>
              <a:t>【推断】左栏由 GGN 的设计推导；右栏是 GGN 未覆盖的设计</a:t>
            </a:r>
            <a:endParaRPr lang="zh-CN" altLang="en-US" sz="1400" dirty="0"/>
          </a:p>
        </p:txBody>
      </p:sp>
      <p:sp>
        <p:nvSpPr>
          <p:cNvPr id="4" name="column header 1"/>
          <p:cNvSpPr/>
          <p:nvPr/>
        </p:nvSpPr>
        <p:spPr>
          <a:xfrm>
            <a:off x="548640" y="1463040"/>
            <a:ext cx="5387188" cy="4572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777240" y="1463040"/>
            <a:ext cx="49299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bg1"/>
                </a:solidFill>
              </a:rPr>
              <a:t>GGN 已验证的设计 → 跨站互联要求</a:t>
            </a:r>
            <a:endParaRPr lang="zh-CN" altLang="en-US" sz="1600" dirty="0"/>
          </a:p>
        </p:txBody>
      </p:sp>
      <p:sp>
        <p:nvSpPr>
          <p:cNvPr id="6" name="column header 2"/>
          <p:cNvSpPr/>
          <p:nvPr/>
        </p:nvSpPr>
        <p:spPr>
          <a:xfrm>
            <a:off x="6255868" y="1463040"/>
            <a:ext cx="5387188" cy="4572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6484468" y="1463040"/>
            <a:ext cx="49299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GGN 未覆盖</a:t>
            </a:r>
            <a:endParaRPr lang="zh-CN" altLang="en-US" sz="1600" dirty="0"/>
          </a:p>
        </p:txBody>
      </p:sp>
      <p:sp>
        <p:nvSpPr>
          <p:cNvPr id="8" name="extra sources"/>
          <p:cNvSpPr txBox="1"/>
          <p:nvPr/>
        </p:nvSpPr>
        <p:spPr>
          <a:xfrm>
            <a:off x="45720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000" dirty="0">
                <a:solidFill>
                  <a:schemeClr val="accent6"/>
                </a:solidFill>
              </a:rPr>
              <a:t>右栏另据：Cisco（2026.10）、Broadcom、NVIDIA、MatchRDMA（arXiv 2604.23932）</a:t>
            </a:r>
            <a:endParaRPr lang="zh-CN" altLang="en-US" sz="1000" dirty="0"/>
          </a:p>
        </p:txBody>
      </p:sp>
      <p:sp>
        <p:nvSpPr>
          <p:cNvPr id="9" name="lesson row 1"/>
          <p:cNvSpPr/>
          <p:nvPr/>
        </p:nvSpPr>
        <p:spPr>
          <a:xfrm>
            <a:off x="548640" y="2057400"/>
            <a:ext cx="5387188" cy="96012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多平面 + N−1 冗余 circle"/>
          <p:cNvSpPr/>
          <p:nvPr/>
        </p:nvSpPr>
        <p:spPr>
          <a:xfrm>
            <a:off x="731520" y="225856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多平面 + N−1 冗余 icon" descr="多平面 + N−1 冗余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23591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325880" y="2130552"/>
            <a:ext cx="44270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多平面 + N−1 冗余</a:t>
            </a:r>
            <a:endParaRPr lang="zh-CN" alt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325880" y="2468880"/>
            <a:ext cx="44270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</a:rPr>
              <a:t>每个集群出口接入全部平面，容量按 N/(N−1) 超配；不受保护时坏一个平面，带宽少约 1/N</a:t>
            </a:r>
            <a:endParaRPr lang="zh-CN" altLang="en-US" sz="1400" dirty="0"/>
          </a:p>
        </p:txBody>
      </p:sp>
      <p:sp>
        <p:nvSpPr>
          <p:cNvPr id="14" name="lesson row 2"/>
          <p:cNvSpPr/>
          <p:nvPr/>
        </p:nvSpPr>
        <p:spPr>
          <a:xfrm>
            <a:off x="548640" y="3108960"/>
            <a:ext cx="5387188" cy="96012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光层路由多样性 circle"/>
          <p:cNvSpPr/>
          <p:nvPr/>
        </p:nvSpPr>
        <p:spPr>
          <a:xfrm>
            <a:off x="731520" y="33101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光层路由多样性 icon" descr="光层路由多样性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" y="3410712"/>
            <a:ext cx="256032" cy="25603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325880" y="3182112"/>
            <a:ext cx="44270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光层路由多样性</a:t>
            </a:r>
            <a:endParaRPr lang="zh-CN" alt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1325880" y="3520440"/>
            <a:ext cx="44270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</a:rPr>
              <a:t>隔离只做到路由器层，光纤与光传输系统仍共享；关键链路要走不同管道和路由，metro 距离上成本可控</a:t>
            </a:r>
            <a:endParaRPr lang="zh-CN" altLang="en-US" sz="1400" dirty="0"/>
          </a:p>
        </p:txBody>
      </p:sp>
      <p:sp>
        <p:nvSpPr>
          <p:cNvPr id="19" name="lesson row 3"/>
          <p:cNvSpPr/>
          <p:nvPr/>
        </p:nvSpPr>
        <p:spPr>
          <a:xfrm>
            <a:off x="548640" y="4160520"/>
            <a:ext cx="5387188" cy="96012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开放接口 + 多厂商 circle"/>
          <p:cNvSpPr/>
          <p:nvPr/>
        </p:nvSpPr>
        <p:spPr>
          <a:xfrm>
            <a:off x="731520" y="436168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开放接口 + 多厂商 icon" descr="开放接口 + 多厂商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" y="4462272"/>
            <a:ext cx="256032" cy="25603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25880" y="4233672"/>
            <a:ext cx="44270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开放接口 + 多厂商</a:t>
            </a:r>
            <a:endParaRPr lang="zh-CN" alt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1325880" y="4572000"/>
            <a:ext cx="44270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</a:rPr>
              <a:t>设备需支持 gNMI / gNOI / gRIBI 开放接口，厂商按平面分散；供货速度要跟上 AI 驱动的扩容</a:t>
            </a:r>
            <a:endParaRPr lang="zh-CN" altLang="en-US" sz="1400" dirty="0"/>
          </a:p>
        </p:txBody>
      </p:sp>
      <p:sp>
        <p:nvSpPr>
          <p:cNvPr id="24" name="lesson row 4"/>
          <p:cNvSpPr/>
          <p:nvPr/>
        </p:nvSpPr>
        <p:spPr>
          <a:xfrm>
            <a:off x="548640" y="5212080"/>
            <a:ext cx="5387188" cy="96012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表项与加权负载均衡 circle"/>
          <p:cNvSpPr/>
          <p:nvPr/>
        </p:nvSpPr>
        <p:spPr>
          <a:xfrm>
            <a:off x="731520" y="541324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表项与加权负载均衡 icon" descr="表项与加权负载均衡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104" y="5513832"/>
            <a:ext cx="256032" cy="256032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325880" y="5285232"/>
            <a:ext cx="44270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表项与加权负载均衡</a:t>
            </a:r>
            <a:endParaRPr lang="zh-CN" altLang="en-US" sz="1600" dirty="0"/>
          </a:p>
        </p:txBody>
      </p:sp>
      <p:sp>
        <p:nvSpPr>
          <p:cNvPr id="28" name="Text 22"/>
          <p:cNvSpPr txBox="1"/>
          <p:nvPr/>
        </p:nvSpPr>
        <p:spPr>
          <a:xfrm>
            <a:off x="1325880" y="5623560"/>
            <a:ext cx="44270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</a:rPr>
              <a:t>要有足够的 ECMP/WCMP 组和隧道表项：GGN 受其所限，ECMP 下有 6% 不均衡，一次只能停一个 shard</a:t>
            </a:r>
            <a:endParaRPr lang="zh-CN" altLang="en-US" sz="1400" dirty="0"/>
          </a:p>
        </p:txBody>
      </p:sp>
      <p:sp>
        <p:nvSpPr>
          <p:cNvPr id="29" name="gap row 1"/>
          <p:cNvSpPr/>
          <p:nvPr/>
        </p:nvSpPr>
        <p:spPr>
          <a:xfrm>
            <a:off x="6255868" y="2057400"/>
            <a:ext cx="5387188" cy="96012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深缓存（HBM 级） circle"/>
          <p:cNvSpPr/>
          <p:nvPr/>
        </p:nvSpPr>
        <p:spPr>
          <a:xfrm>
            <a:off x="6438748" y="225856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深缓存（HBM 级） icon" descr="深缓存（HBM 级）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9332" y="2359152"/>
            <a:ext cx="256032" cy="256032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7033108" y="2130552"/>
            <a:ext cx="44270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深缓存（HBM 级）</a:t>
            </a:r>
            <a:endParaRPr lang="zh-CN" altLang="en-US" sz="1600" dirty="0"/>
          </a:p>
        </p:txBody>
      </p:sp>
      <p:sp>
        <p:nvSpPr>
          <p:cNvPr id="33" name="Text 26"/>
          <p:cNvSpPr txBox="1"/>
          <p:nvPr/>
        </p:nvSpPr>
        <p:spPr>
          <a:xfrm>
            <a:off x="7033108" y="2468880"/>
            <a:ext cx="44270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</a:rPr>
              <a:t>800G 端口的在途数据：100 km（RTT 1 ms）≈ 100 MB；metro 上限 5 ms ≈ 500 MB</a:t>
            </a:r>
            <a:endParaRPr lang="zh-CN" altLang="en-US" sz="1400" dirty="0"/>
          </a:p>
        </p:txBody>
      </p:sp>
      <p:sp>
        <p:nvSpPr>
          <p:cNvPr id="34" name="gap row 2"/>
          <p:cNvSpPr/>
          <p:nvPr/>
        </p:nvSpPr>
        <p:spPr>
          <a:xfrm>
            <a:off x="6255868" y="3108960"/>
            <a:ext cx="5387188" cy="96012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长距 RDMA circle"/>
          <p:cNvSpPr/>
          <p:nvPr/>
        </p:nvSpPr>
        <p:spPr>
          <a:xfrm>
            <a:off x="6438748" y="331012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长距 RDMA icon" descr="长距 RDMA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39332" y="3410712"/>
            <a:ext cx="256032" cy="256032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7033108" y="3182112"/>
            <a:ext cx="44270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长距 RDMA</a:t>
            </a:r>
            <a:endParaRPr lang="zh-CN" altLang="en-US" sz="1600" dirty="0"/>
          </a:p>
        </p:txBody>
      </p:sp>
      <p:sp>
        <p:nvSpPr>
          <p:cNvPr id="38" name="Text 30"/>
          <p:cNvSpPr txBox="1"/>
          <p:nvPr/>
        </p:nvSpPr>
        <p:spPr>
          <a:xfrm>
            <a:off x="7033108" y="3520440"/>
            <a:ext cx="44270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</a:rPr>
              <a:t>无损 PFC 要按在途数据量留余量，浅缓存给不起；需要深缓存、分段流控或选择性重传网卡</a:t>
            </a:r>
            <a:endParaRPr lang="zh-CN" altLang="en-US" sz="1400" dirty="0"/>
          </a:p>
        </p:txBody>
      </p:sp>
      <p:sp>
        <p:nvSpPr>
          <p:cNvPr id="39" name="gap row 3"/>
          <p:cNvSpPr/>
          <p:nvPr/>
        </p:nvSpPr>
        <p:spPr>
          <a:xfrm>
            <a:off x="6255868" y="4160520"/>
            <a:ext cx="5387188" cy="96012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距离自适应 + 集合通信感知的拥塞控制 circle"/>
          <p:cNvSpPr/>
          <p:nvPr/>
        </p:nvSpPr>
        <p:spPr>
          <a:xfrm>
            <a:off x="6438748" y="436168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1" name="距离自适应 + 集合通信感知的拥塞控制 icon" descr="距离自适应 + 集合通信感知的拥塞控制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9332" y="4462272"/>
            <a:ext cx="256032" cy="256032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033108" y="4233672"/>
            <a:ext cx="44270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距离自适应 + 集合通信感知的拥塞控制</a:t>
            </a:r>
            <a:endParaRPr lang="zh-CN" altLang="en-US" sz="1600" dirty="0"/>
          </a:p>
        </p:txBody>
      </p:sp>
      <p:sp>
        <p:nvSpPr>
          <p:cNvPr id="43" name="Text 34"/>
          <p:cNvSpPr txBox="1"/>
          <p:nvPr/>
        </p:nvSpPr>
        <p:spPr>
          <a:xfrm>
            <a:off x="7033108" y="4572000"/>
            <a:ext cx="44270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</a:rPr>
              <a:t>反馈环从微秒变成毫秒，被动降速来不及；按集合通信提前错峰编排，让各流同时完成</a:t>
            </a:r>
            <a:endParaRPr lang="zh-CN" altLang="en-US" sz="1400" dirty="0"/>
          </a:p>
        </p:txBody>
      </p:sp>
      <p:sp>
        <p:nvSpPr>
          <p:cNvPr id="44" name="gap row 4"/>
          <p:cNvSpPr/>
          <p:nvPr/>
        </p:nvSpPr>
        <p:spPr>
          <a:xfrm>
            <a:off x="6255868" y="5212079"/>
            <a:ext cx="5387188" cy="1134433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38"/>
          <p:cNvSpPr txBox="1"/>
          <p:nvPr/>
        </p:nvSpPr>
        <p:spPr>
          <a:xfrm>
            <a:off x="6438748" y="5266366"/>
            <a:ext cx="5018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为什么 GGN 没覆盖这些</a:t>
            </a:r>
          </a:p>
          <a:p>
            <a:r>
              <a:rPr lang="zh-CN" altLang="en-US" sz="1300" dirty="0">
                <a:solidFill>
                  <a:schemeClr val="tx1"/>
                </a:solidFill>
              </a:rPr>
              <a:t>GGN 跑的是普通业务，</a:t>
            </a:r>
            <a:r>
              <a:rPr lang="zh-CN" altLang="en-US" sz="1300" dirty="0"/>
              <a:t>传输层是 </a:t>
            </a:r>
            <a:r>
              <a:rPr lang="en-SG" altLang="zh-CN" sz="1300" dirty="0"/>
              <a:t>TCP </a:t>
            </a:r>
            <a:r>
              <a:rPr lang="zh-CN" altLang="en-US" sz="1300" dirty="0"/>
              <a:t>这类协议</a:t>
            </a:r>
            <a:r>
              <a:rPr lang="zh-CN" altLang="en-US" sz="1300" dirty="0">
                <a:solidFill>
                  <a:schemeClr val="tx1"/>
                </a:solidFill>
              </a:rPr>
              <a:t>：允许丢包、两端重传，拥塞靠 BwE 限速和中央 TE</a:t>
            </a:r>
            <a:r>
              <a:rPr lang="zh-CN" altLang="en-US" sz="1300" dirty="0"/>
              <a:t>。</a:t>
            </a:r>
            <a:endParaRPr lang="en-SG" altLang="zh-CN" sz="13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zh-CN" altLang="en-US" sz="1300" dirty="0">
                <a:solidFill>
                  <a:schemeClr val="tx1"/>
                </a:solidFill>
              </a:rPr>
              <a:t>训练的集合通信用 RDMA，怕丢包，站内靠 PFC 暂停上游保证不丢。</a:t>
            </a:r>
            <a:endParaRPr lang="zh-CN" altLang="en-US" sz="1300" dirty="0"/>
          </a:p>
        </p:txBody>
      </p:sp>
      <p:sp>
        <p:nvSpPr>
          <p:cNvPr id="4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13</a:t>
            </a:fld>
            <a:endParaRPr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GN Fiber">
  <a:themeElements>
    <a:clrScheme name="GGN Fiber">
      <a:dk1>
        <a:srgbClr val="14232B"/>
      </a:dk1>
      <a:lt1>
        <a:srgbClr val="FFFFFF"/>
      </a:lt1>
      <a:dk2>
        <a:srgbClr val="0E3B43"/>
      </a:dk2>
      <a:lt2>
        <a:srgbClr val="EEF3F4"/>
      </a:lt2>
      <a:accent1>
        <a:srgbClr val="0F7C80"/>
      </a:accent1>
      <a:accent2>
        <a:srgbClr val="E3A43A"/>
      </a:accent2>
      <a:accent3>
        <a:srgbClr val="5B7A8C"/>
      </a:accent3>
      <a:accent4>
        <a:srgbClr val="A7D3D0"/>
      </a:accent4>
      <a:accent5>
        <a:srgbClr val="B5523B"/>
      </a:accent5>
      <a:accent6>
        <a:srgbClr val="5E6E76"/>
      </a:accent6>
      <a:hlink>
        <a:srgbClr val="0F7C80"/>
      </a:hlink>
      <a:folHlink>
        <a:srgbClr val="5B7A8C"/>
      </a:folHlink>
    </a:clrScheme>
    <a:fontScheme name="GGN Fiber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Microsoft YaHe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2266</TotalTime>
  <Words>5241</Words>
  <Application>Microsoft Macintosh PowerPoint</Application>
  <PresentationFormat>Widescreen</PresentationFormat>
  <Paragraphs>383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Microsoft YaHei</vt:lpstr>
      <vt:lpstr>Arial</vt:lpstr>
      <vt:lpstr>GGN Fiber</vt:lpstr>
      <vt:lpstr>Google GGN ：组网、业务、技术方案与关键组件</vt:lpstr>
      <vt:lpstr>为什么要把 B2/B4 升级为 GGN</vt:lpstr>
      <vt:lpstr>GGN 架构</vt:lpstr>
      <vt:lpstr>GGN 分片</vt:lpstr>
      <vt:lpstr>GGN： 4 个 shard × 按 region 切控制域</vt:lpstr>
      <vt:lpstr>GGN 组网：一条流量经过哪些设备</vt:lpstr>
      <vt:lpstr>GGN 承载的业务与流量分级</vt:lpstr>
      <vt:lpstr>控制方式：从 OpenFlow 交换机到开放接口路由器</vt:lpstr>
      <vt:lpstr>区域化与故障响应：故障不出 region</vt:lpstr>
      <vt:lpstr>关键组件与产品一览</vt:lpstr>
      <vt:lpstr>硬件：公开的型号与规格</vt:lpstr>
      <vt:lpstr>总结：GGN 用分片和区域化换可用性</vt:lpstr>
      <vt:lpstr>对 scale-across 硬件需求的启示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从 B2/B4 到 GGN</dc:title>
  <dc:subject>Google GGN 解读与 scale-across 启示</dc:subject>
  <dc:creator>Xin Ye</dc:creator>
  <cp:lastModifiedBy>ab21003</cp:lastModifiedBy>
  <cp:revision>16</cp:revision>
  <dcterms:created xsi:type="dcterms:W3CDTF">2026-10-20T13:21:21Z</dcterms:created>
  <dcterms:modified xsi:type="dcterms:W3CDTF">2026-10-28T00:59:58Z</dcterms:modified>
</cp:coreProperties>
</file>