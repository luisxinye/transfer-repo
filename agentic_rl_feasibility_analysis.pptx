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Agentic RL 后训练可行性分析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lang="zh-CN">
                <a:solidFill>
                  <a:srgbClr val="D8DDE4"/>
                </a:solidFill>
                <a:latin typeface="PingFang SC"/>
                <a:ea typeface="PingFang SC"/>
                <a:cs typeface="PingFang SC"/>
              </a:rPr>
              <a:t>内存峰值诉求  ·  带宽瓶颈判定（相对判据）</a:t>
            </a:r>
          </a:p>
          <a:p>
            <a:pPr algn="l">
              <a:spcAft>
                <a:spcPts val="400"/>
              </a:spcAft>
            </a:pPr>
            <a:r>
              <a:rPr sz="13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Qwen3-235B-A22B (MoE) · 华为 A2 / A3 / 950DT · 文本 / 图片 / 视频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lang="zh-CN">
                <a:solidFill>
                  <a:srgbClr val="B8C0CC"/>
                </a:solidFill>
                <a:latin typeface="PingFang SC"/>
                <a:ea typeface="PingFang SC"/>
                <a:cs typeface="PingFang SC"/>
              </a:rPr>
              <a:t>内存看峰值（HBM + CPU DRAM，含沙箱细致建模）</a:t>
            </a:r>
          </a:p>
          <a:p>
            <a:pPr algn="l">
              <a:spcAft>
                <a:spcPts val="400"/>
              </a:spcAft>
            </a:pPr>
            <a:r>
              <a:rPr sz="12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带宽看相对：τ=通信/计算（能否掩盖）· ρ=通信/端到端（含序列化/Ray 开销，是否可忽略）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 · 方法总览：峰值内存 + 相对带宽判据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15568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59280"/>
                <a:gridCol w="3253740"/>
                <a:gridCol w="604266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维度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口径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判定方式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单 die 峰值 = max(训练相, 推理相)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峰值 vs per-die 64 / 64 / 72 GB（A2=A3）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CPU DRAM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单节点峰值 = Σ 同时驻留来源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峰值 vs ~1.5 TB/节点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带宽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相对判据，不看绝对传输时间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τ = 通信/计算（掩盖）；ρ = 未掩盖通信/端到端（占比）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840480"/>
            <a:ext cx="11155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带宽判定的两条原则</a:t>
            </a:r>
          </a:p>
          <a:p>
            <a:pPr algn="l">
              <a:spcAft>
                <a:spcPts val="400"/>
              </a:spcAft>
            </a:pPr>
            <a:r>
              <a:rPr sz="130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① 通信时间长 ≠ 瓶颈：若同阶段计算更长且可重叠，通信被掩盖 → 加带宽无收益（判据 τ）</a:t>
            </a:r>
          </a:p>
          <a:p>
            <a:pPr algn="l">
              <a:spcAft>
                <a:spcPts val="400"/>
              </a:spcAft>
            </a:pPr>
            <a:r>
              <a:rPr sz="130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② 即便某段通信无法掩盖，若相对端到端可忽略，也无必要加带宽（判据 ρ）</a:t>
            </a:r>
          </a:p>
          <a:p>
            <a:pPr algn="l">
              <a:spcAft>
                <a:spcPts val="400"/>
              </a:spcAft>
            </a:pPr>
            <a:r>
              <a:rPr sz="1200" b="1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    端到端时间必须含：D2H/H2D 传输 + 序列化/反序列化 + Ray 静态开销（对经验数据面，这些软件开销 &gt;&gt; 线上传输）</a:t>
            </a:r>
          </a:p>
          <a:p>
            <a:pPr algn="l">
              <a:spcAft>
                <a:spcPts val="400"/>
              </a:spcAft>
            </a:pPr>
            <a:r>
              <a:rPr sz="1100" b="1" lang="zh-CN">
                <a:solidFill>
                  <a:srgbClr val="1F5F8B"/>
                </a:solidFill>
                <a:latin typeface="PingFang SC"/>
                <a:ea typeface="PingFang SC"/>
                <a:cs typeface="PingFang SC"/>
              </a:rPr>
              <a:t>单位口径：128 = die（=rank）；物理卡 A2 128 / A3 64 / 950DT 64。per-die 规格 A2=A3（64GB / 1.6TB/s / 392GB/s bidi=196 uni；A3 封装 2 die=784 bidi），950DT die 72GB / 2.0TB/s。τ 为比值，对 die/封装口径不变。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 · HBM 诉求（NPU 单卡峰值，训练相/推理相取 max）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训练相 = 静态40GB + 激活(∝S)   ·   推理相 = 权重底座9GB + KV(∝b×S)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17320"/>
          <a:ext cx="11155680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73352"/>
                <a:gridCol w="2231136"/>
                <a:gridCol w="2417064"/>
                <a:gridCol w="1487424"/>
                <a:gridCol w="1487424"/>
                <a:gridCol w="18592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场景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训练相峰值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推理相峰值(b=32)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A2(64)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A3(64)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950DT(72)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文本 16k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~53 GB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~34 GB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 紧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 紧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图片 32k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~65 GB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~60 GB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❌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❌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 紧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视频 128k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~141 GB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~211 GB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33832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per-die 64/64/72（A2=A3，两列一致）；本表为基线 P0，图片/视频超限在 §1.5 由 memory-first 修复。</a:t>
            </a:r>
          </a:p>
          <a:p>
            <a:pPr algn="l">
              <a:spcAft>
                <a:spcPts val="400"/>
              </a:spcAft>
            </a:pPr>
            <a:r>
              <a:rPr sz="125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• 文本：训练相主导（53 vs 34），三代可行（A2/A3 均紧）</a:t>
            </a:r>
          </a:p>
          <a:p>
            <a:pPr algn="l">
              <a:spcAft>
                <a:spcPts val="400"/>
              </a:spcAft>
            </a:pPr>
            <a:r>
              <a:rPr sz="125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• 图片：基线训练 65GB &gt; 64 → A2、A3 均 ❌（per-die 相同）；开 SP（P1）降到 ~46GB → 三代 ✅</a:t>
            </a:r>
          </a:p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• 视频：两相都破，基线三代（含 950DT，211&gt;72）都放不下 → 必须 memory-first（P2：53/59，三代 ✅紧）</a:t>
            </a:r>
          </a:p>
          <a:p>
            <a:pPr algn="l">
              <a:spcAft>
                <a:spcPts val="400"/>
              </a:spcAft>
            </a:pPr>
            <a:r>
              <a:rPr sz="115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  per-die 下 HBM 已非区分代际的维度：A2=A3；代际差在 scale-up（§4）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1.5 · 并行配置（memory-first：先放下，再看带宽趋势）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8755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视频 128k 两相破 HBM（激活 101GB、KV 211GB@b32）；基线靠降 b + offload 勉强塞下，压力转到 CPU DRAM。先用并行度放下，再看带宽变化。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737360"/>
          <a:ext cx="11155678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89283"/>
                <a:gridCol w="2673675"/>
                <a:gridCol w="2304892"/>
                <a:gridCol w="3687828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维度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切分对象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内存效果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新增 fabric 通信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EP=32（基线）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专家 MLP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专家权重/底座 /EP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all-to-all 12.3MB/token（基线）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TP=t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 维（注意力+dense）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激活、KV、底座 /t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all-reduce（尽量压节点内）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SP（= TP，0 额外占卡）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层边界残差/LN/dropout 激活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残差激活 /TP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RS+AG 替换 all-reduce，量≈不变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CP=c（额外占卡）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序列 S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激活、KV /c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序列 all-to-all（跨节点则↑）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PP=p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每 stage /p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边界 P2P（廉价）+ bubble↓MFU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617720"/>
            <a:ext cx="11155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为什么要开 SP</a:t>
            </a:r>
          </a:p>
          <a:p>
            <a:pPr algn="l">
              <a:spcAft>
                <a:spcPts val="400"/>
              </a:spcAft>
            </a:pPr>
            <a:r>
              <a:rPr sz="120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标准 TP 单独切时，层边界残差激活跨 TP rank 复制 → §1 的 101GB 在 TP4 下并没有 /4；Megatron SP 专切这部分，且 RS+AG 替换 all-reduce → 通信量≈不变。</a:t>
            </a:r>
          </a:p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1B7F3B"/>
                </a:solidFill>
                <a:latin typeface="PingFang SC"/>
                <a:ea typeface="PingFang SC"/>
                <a:cs typeface="PingFang SC"/>
              </a:rPr>
              <a:t>开 SP 几乎不增通信、不额外占卡（SP 度数 = TP），应最先开。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1.5 · 五套配置 × 视频 128k 的 HBM 判定（N=128, EP=32）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8755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lang="zh-CN">
                <a:solidFill>
                  <a:srgbClr val="1F5F8B"/>
                </a:solidFill>
                <a:latin typeface="PingFang SC"/>
                <a:ea typeface="PingFang SC"/>
                <a:cs typeface="PingFang SC"/>
              </a:rPr>
              <a:t>128 卡 = TP×CP×PP×DP；SP=TP 不占卡；EP=32 骑在 DP 轴上（EP 与 DP 同数、指同一批卡）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08760"/>
          <a:ext cx="11155677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45300"/>
                <a:gridCol w="2264686"/>
                <a:gridCol w="3019582"/>
                <a:gridCol w="2516318"/>
                <a:gridCol w="1509791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配置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度数元组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训练相 静态+激活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推理相 底座+KV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免 offload?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P0 基线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TP4·SP✗·DP32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40+101 = 141 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9+6.3b：b32=211 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否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P1 开 SP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TP4·SP4·DP32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40+25 = 65：A2/A3❌ 950DT✅紧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同 P0 = 211 ❌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否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P2 ★ TP↑+SP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TP8·SP8·DP16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40+13 = 53 ✅（三代）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9+3.15b：b16=59 ✅紧（三代）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是（b≤16）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P3 +CP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TP4·SP4·CP4·DP8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40+6 = 46 ✅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KV/16：b32≈30 ✅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是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P4 +PP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TP2·SP2·PP4·DP16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每 stage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（推理不用 PP）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是（训练相）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43484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判定容量 per-die：A2 64 / A3 64 / 950DT 72（A2=A3）。训练激活 ∝ 101/(TP×CP)、推理 KV ∝ 6.3b/(TP×CP)</a:t>
            </a:r>
          </a:p>
          <a:p>
            <a:pPr algn="l">
              <a:spcAft>
                <a:spcPts val="400"/>
              </a:spcAft>
            </a:pPr>
            <a:r>
              <a:rPr sz="120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• P1：SP 只修训练激活（65&gt;64 → A2/A3 仍 ❌，仅 950DT 过）；推理 KV 未动仍超</a:t>
            </a:r>
          </a:p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1B7F3B"/>
                </a:solidFill>
                <a:latin typeface="PingFang SC"/>
                <a:ea typeface="PingFang SC"/>
                <a:cs typeface="PingFang SC"/>
              </a:rPr>
              <a:t>• P2：TP8 同时切激活(/8)与 KV(/2)，59GB 三代 ✅紧、免 offload；训练/推理共用 TP8，切换不重排</a:t>
            </a:r>
          </a:p>
          <a:p>
            <a:pPr algn="l">
              <a:spcAft>
                <a:spcPts val="400"/>
              </a:spcAft>
            </a:pPr>
            <a:r>
              <a:rPr sz="11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• EP 卡账：per-die 64GB 下若 EP 落成 16（+14GB→67&gt;64）A2/A3 均 ❌ → 必须 ETP 保 EP=32（专家/32→53✅）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1.5 · P0 基线汇总矩阵　TP4·SP✗·DP32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875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格式 A2 / A3 / 950DT（per-die 64/64/72，A2=A3）　·　基线 = §7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17320"/>
          <a:ext cx="11155678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66608"/>
                <a:gridCol w="2320381"/>
                <a:gridCol w="2320381"/>
                <a:gridCol w="3748308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维度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文本 16k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图片 32k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视频 128k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HBM 峰值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勉强 / 勉强 / 达标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不可行 / 不可行 / 勉强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不可行 / 不可行 / 不可行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CPU DRAM（含沙箱）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达标 / 达标 / 达标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达标 / 达标 / 达标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达标~临界（最坏堆叠 1.4TB 破）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scale-up（τ）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不可行 / 达标 / 充裕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不可行 / 达标 / 充裕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不可行 / 达标 / 充裕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decode 延迟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临界 / 达标 / 充裕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同左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KV offload→PCIe 不可行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scale-out（ρ）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达标 ρ&lt;1%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临界 ρ≈7%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临界 ρ≈5–6%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074920"/>
            <a:ext cx="11155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格式 A2 / A3 / 950DT。per-die：A2=A3 的 HBM 列一致。图片训练 65&gt;64 → A3 也不达标；视频基线三代破，均需 memory-first。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1.5 · P1 汇总矩阵　TP4·SP4·DP32（开 SP）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875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格式 A2 / A3 / 950DT（per-die，A2=A3）　·　SP 只修训练激活，推理 KV 未动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17320"/>
          <a:ext cx="11155678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66608"/>
                <a:gridCol w="2320381"/>
                <a:gridCol w="2320381"/>
                <a:gridCol w="3748308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维度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文本 16k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图片 32k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视频 128k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HBM 峰值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达标 / 达标 / 达标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勉强 / 勉强 / 达标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不可行 / 不可行 / 不可行（推理 KV 211 仍破）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CPU DRAM（含沙箱）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达标 / 达标 / 达标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达标 / 达标 / 达标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达标~临界（同 P0，1.4TB）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scale-up（τ）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不可行 / 达标 / 充裕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不可行 / 达标 / 充裕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不可行 / 达标 / 充裕（SP 不加跨节点）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decode 延迟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临界 / 达标 / 充裕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同左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同 P0（offload→PCIe 不可行）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scale-out（ρ）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达标 ρ&lt;1%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临界 ρ≈7%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临界 ρ≈5–6%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074920"/>
            <a:ext cx="11155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格式 A2 / A3 / 950DT。相对 P0：图片训练 /4 → 46GB，三代达标（推理 60 仅勉强）；视频仍卡在推理 KV（211&gt;72）。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1.5 · P2 ★ 汇总矩阵　TP8·SP8·DP16（TP↑，免 offload）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875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格式 A2 / A3 / 950DT（per-die，A2=A3）　·　训练激活 /8、推理 KV /2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17320"/>
          <a:ext cx="11155678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66608"/>
                <a:gridCol w="2320381"/>
                <a:gridCol w="2320381"/>
                <a:gridCol w="3748308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维度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文本 16k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图片 32k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视频 128k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HBM 峰值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达标 / 达标 / 达标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达标 / 达标 / 达标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勉强¹ / 勉强¹ / 达标（59GB，放下）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CPU DRAM（含沙箱）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达标 / 达标 / 达标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达标 / 达标 / 达标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达标（免 offload，~0.6TB）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scale-up（τ）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不可行 / 达标 / 充裕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不可行 / 达标 / 充裕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不可行 / 达标 / 充裕（TP8 落 UB 域内）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decode 延迟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临界 / 达标 / 充裕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同左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达标（KV/die 减半，免 PCIe）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scale-out（ρ）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达标 ρ&lt;1%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临界 ρ≈7%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临界 ρ≈5–6%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074920"/>
            <a:ext cx="11155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1B7F3B"/>
                </a:solidFill>
                <a:latin typeface="PingFang SC"/>
                <a:ea typeface="PingFang SC"/>
                <a:cs typeface="PingFang SC"/>
              </a:rPr>
              <a:t>格式 A2 / A3 / 950DT。¹ per-die 64GB 下 59GB 仅勉强，且需 ETP 保 EP=32（EP16→67&gt;64 A2/A3 均不可行）。A2 的 scale-up 本就不可行 → A2 综合仍不可行，HBM 勉强 仅指显存账。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1.5 · P3 汇总矩阵　TP4·SP4·CP4·DP8（加 CP）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875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格式 A2 / A3 / 950DT　·　内存最松，但 CP 加跨节点通信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17320"/>
          <a:ext cx="11155678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66608"/>
                <a:gridCol w="2320381"/>
                <a:gridCol w="2320381"/>
                <a:gridCol w="3748308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维度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文本 16k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图片 32k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视频 128k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HBM 峰值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达标 / 达标 / 达标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达标 / 达标 / 达标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达标 / 达标 / 达标（~50GB，最松）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CPU DRAM（含沙箱）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达标 / 达标 / 达标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达标 / 达标 / 达标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达标（免 offload）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scale-up（τ）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不可行 / 临界² / 充裕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不可行 / 临界² / 充裕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不可行 / 临界² / 充裕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decode 延迟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临界 / 达标 / 充裕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同左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达标（KV/16，免 PCIe）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scale-out（ρ）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达标 ρ&lt;1%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临界 ρ≈7%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临界 ρ≈5–6%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074920"/>
            <a:ext cx="11155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B87A00"/>
                </a:solidFill>
                <a:latin typeface="PingFang SC"/>
                <a:ea typeface="PingFang SC"/>
                <a:cs typeface="PingFang SC"/>
              </a:rPr>
              <a:t>格式 A2 / A3 / 950DT。² CP 新增跨节点序列 all-to-all → 吃掉 A3 的 scale-up τ 富余（达标→临界），三列同降。仅当 S 超出 TP-SP 能切时才用。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1.5 · P4 汇总矩阵　TP2·SP2·PP4·DP16（PP，训练相专用）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875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格式 A2 / A3 / 950DT　·　PP 不进 rollout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17320"/>
          <a:ext cx="11155678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66608"/>
                <a:gridCol w="2320381"/>
                <a:gridCol w="2320381"/>
                <a:gridCol w="3748308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维度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文本 16k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图片 32k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视频 128k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HBM（训练相）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达标 / 达标 / 达标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达标 / 达标 / 达标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达标 / 达标 / 达标（每 stage 切层）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HBM（推理相）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回退非 PP（同 P2/P3）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同左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须配 TP/CP ³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scale-up（τ）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不可行 / 达标但 MFU↓ / 充裕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同左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同左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decode 延迟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rollout 不用 PP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达标 取决于回退布局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scale-out（ρ）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达标 ρ&lt;1%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临界 ρ≈7%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临界 ρ≈5–6%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074920"/>
            <a:ext cx="11155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B87A00"/>
                </a:solidFill>
                <a:latin typeface="PingFang SC"/>
                <a:ea typeface="PingFang SC"/>
                <a:cs typeface="PingFang SC"/>
              </a:rPr>
              <a:t>格式 A2 / A3 / 950DT。³ PP 不适配共卡多轮 rollout → 推理相须回退 P2/P3 布局、两相不一致须重排；PP 仅作训练相辅助，不能单独构成完整共卡配置。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1.5 · 五套配置横评 + 带宽趋势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15568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463040"/>
                <a:gridCol w="1463040"/>
                <a:gridCol w="1645920"/>
                <a:gridCol w="1645920"/>
                <a:gridCol w="2194560"/>
              </a:tblGrid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维度（视频 128k）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P0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P1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P2 ★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P3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P4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HBM 峰值（A2=A3）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✅紧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✅（训练相）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免 KV offload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✗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✗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✓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✓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✓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scale-up τ（A3）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⚠️ CP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 MFU↓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decode / PCIe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❌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❌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两相切换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免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免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免 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免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须重排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977639"/>
            <a:ext cx="11155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带宽趋势：落地顺序与代价</a:t>
            </a:r>
          </a:p>
          <a:p>
            <a:pPr algn="l">
              <a:spcAft>
                <a:spcPts val="400"/>
              </a:spcAft>
            </a:pPr>
            <a:r>
              <a:rPr sz="125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① 开 SP（免费降内存、通信持平）→ ② 抬 TP 到节点内 8（修推理 KV、免 offload，流量落 UB、EP τ 不变）</a:t>
            </a:r>
          </a:p>
          <a:p>
            <a:pPr algn="l">
              <a:spcAft>
                <a:spcPts val="400"/>
              </a:spcAft>
            </a:pPr>
            <a:r>
              <a:rPr sz="125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③ CP 是唯一真正抬高跨节点 scale-up 诉求的杠杆（✅→⚠️）→ ④ PP 用 MFU 换内存、仅训练相</a:t>
            </a:r>
          </a:p>
          <a:p>
            <a:pPr algn="l">
              <a:spcAft>
                <a:spcPts val="400"/>
              </a:spcAft>
            </a:pPr>
            <a:r>
              <a:rPr sz="1200" b="1" lang="zh-CN">
                <a:solidFill>
                  <a:srgbClr val="C02828"/>
                </a:solidFill>
                <a:latin typeface="PingFang SC"/>
                <a:ea typeface="PingFang SC"/>
                <a:cs typeface="PingFang SC"/>
              </a:rPr>
              <a:t>A2：任何配置都救不活（EP=32 跨 8 卡岛、~75% 借道 RoCE，comm-bound 恒定）→ 只能上超节点 fabric</a:t>
            </a:r>
          </a:p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1B7F3B"/>
                </a:solidFill>
                <a:latin typeface="PingFang SC"/>
                <a:ea typeface="PingFang SC"/>
                <a:cs typeface="PingFang SC"/>
              </a:rPr>
              <a:t>P2（TP8·SP8）：视频四项达标、免 offload、scale-up 不受损。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 · CPU DRAM 诉求 —— 沙箱细致建模（单节点峰值）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1F5F8B"/>
                </a:solidFill>
                <a:latin typeface="PingFang SC"/>
                <a:ea typeface="PingFang SC"/>
                <a:cs typeface="PingFang SC"/>
              </a:rPr>
              <a:t>峰值公式：DRAM_沙箱 = C_traj × f_sb × [ M_base + κ·(M_spike − M_base) ] + M_shared</a:t>
            </a:r>
          </a:p>
          <a:p>
            <a:pPr algn="l">
              <a:spcAft>
                <a:spcPts val="400"/>
              </a:spcAft>
            </a:pPr>
            <a:r>
              <a:rPr sz="115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RL 波同步：同波轨迹尖峰对齐、相关叠加（κ=0.5~0.8），按峰值记账、不能按平均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148840"/>
          <a:ext cx="11155677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2994"/>
                <a:gridCol w="1052422"/>
                <a:gridCol w="1262907"/>
                <a:gridCol w="1262907"/>
                <a:gridCol w="947180"/>
                <a:gridCol w="3157267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Agent 类型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f_sb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M_base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M_spike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κ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每节点峰值(64 并发)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轻工具（搜索/计算）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0.3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0.2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0.2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~4 GB（可忽略）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Coding 中等（解释器+科学库）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1.0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0.8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2.5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0.5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~106 GB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SWE 重型（仓库+依赖+pytest）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1.0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1.5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4.0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0.8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~280 GB（含页缓存）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GUI（headless 浏览器）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1.0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0.5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0.8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0.5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~42 GB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89204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沙箱是 CPU DRAM 的主要不确定项：轻工具 GB 级可忽略，SWE 重型 ~280GB/节点（与视频 KV offload 同量级）</a:t>
            </a:r>
          </a:p>
          <a:p>
            <a:pPr algn="l">
              <a:spcAft>
                <a:spcPts val="400"/>
              </a:spcAft>
            </a:pPr>
            <a:r>
              <a:rPr sz="12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不可解析、需压测；降峰开关：降 rollout 并发 · 异步 rollout 打散 κ · 轻量沙箱(WASM/进程池) · 检索索引放独立节点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 · CPU DRAM 峰值叠加与判定（vs 1.5 TB/节点）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155679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46704"/>
                <a:gridCol w="1115568"/>
                <a:gridCol w="1301495"/>
                <a:gridCol w="1487424"/>
                <a:gridCol w="1022604"/>
                <a:gridCol w="1394460"/>
                <a:gridCol w="1487424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场景组合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缓冲区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KV offload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优化器 offload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沙箱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合计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vs 1.5TB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文本 + coding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0.2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106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~156 GB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 10%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图片 + GUI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3.4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42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~95 GB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 6%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视频 + 轻工具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400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~465 GB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 31%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视频 + SWE 重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400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280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~741 GB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 49%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视频 + SWE 重 + 优化器offload(紧配置)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400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176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280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~917 GB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⚠️ 61%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最坏堆叠 (b=16 + SWE + 索引100G + 优化器offload)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800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176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380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~1.42 TB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❌ 95%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02920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常规组合 1.5TB ✅ 够用（占 10%–50%）。危险 = 视频高并发 KV offload × 重型沙箱 × 优化器 offload 同时堆叠 → 逼近 1.5TB。</a:t>
            </a:r>
          </a:p>
          <a:p>
            <a:pPr algn="l">
              <a:spcAft>
                <a:spcPts val="400"/>
              </a:spcAft>
            </a:pPr>
            <a:r>
              <a:rPr sz="11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per-die 修正：A2 die = A3 die 同 64GB → DRAM 画像不再随芯片区分（原“A2 叠优化器 offload”已取消）；优化器 offload 由紧配置触发，A2/A3 同判（P2 训练 53&lt;64 可留 HBM → 不触发）。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1–2 小结 · 内存两维度：HBM（单卡）+ CPU DRAM（单节点）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15568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4572000"/>
                <a:gridCol w="466344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/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HBM —— 单卡峰值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CPU DRAM —— 单节点峰值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口径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max(训练相, 推理相)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Σ 同一时刻驻留来源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容量线（per-die）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A2 64 / A3 64 / 950DT 72 GB（A2=A3）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~1.5 TB / 节点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主导项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训练激活 (∝S) · 推理 KV (∝b×S)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沙箱 + KV offload + 优化器 offload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卡脖子场景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视频 128k：激活 141 / KV 211 GB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视频 + SWE 重沙箱 + offload 堆叠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头号变量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序列长 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沙箱类型（轻 ~4GB → SWE ~280GB）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解法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memory-first 并行 P2（TP8·SP8，免 offload）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降并发 / 异步 κ / 轻量沙箱；P2 消 KV offload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02920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lang="zh-CN">
                <a:solidFill>
                  <a:srgbClr val="1F5F8B"/>
                </a:solidFill>
                <a:latin typeface="PingFang SC"/>
                <a:ea typeface="PingFang SC"/>
                <a:cs typeface="PingFang SC"/>
              </a:rPr>
              <a:t>两维通过 b 耦合：b 同时是推理 KV（HBM 旋钮）与沙箱并发 C_traj（DRAM 旋钮）→ P2 把视频 KV 塞回 HBM，HBM/DRAM 两侧同时受益（最坏堆叠 1.4TB → ~0.6TB）</a:t>
            </a:r>
          </a:p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1B7F3B"/>
                </a:solidFill>
                <a:latin typeface="PingFang SC"/>
                <a:ea typeface="PingFang SC"/>
                <a:cs typeface="PingFang SC"/>
              </a:rPr>
              <a:t>常规场景两维都 ✅；唯一真难点是「视频 128k × 重型沙箱」，且已有解（P2 + 轻量沙箱 + A3），非结构性死结。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 · 带宽判据框架：τ（计算掩盖）与 ρ（端到端占比）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155680" cy="2331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743200"/>
                <a:gridCol w="2926080"/>
                <a:gridCol w="3108960"/>
              </a:tblGrid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判据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定义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&lt; 阈值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&gt; 阈值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τ = T_comm / T_compute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通信能否被同阶段计算掩盖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τ&lt;0.5 ✅ 掩盖，加带宽无收益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τ&gt;1 ❌ comm-bound，需加带宽/换 fabric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ρ = T_未掩盖 / T_e2e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未掩盖通信相对端到端占比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ρ&lt;5% ✅ 可忽略，无必要加带宽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ρ&gt;15% ❌ 显著拖慢（多为软件开销）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3832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lang="zh-CN">
                <a:solidFill>
                  <a:srgbClr val="1F5F8B"/>
                </a:solidFill>
                <a:latin typeface="PingFang SC"/>
                <a:ea typeface="PingFang SC"/>
                <a:cs typeface="PingFang SC"/>
              </a:rPr>
              <a:t>T_e2e = 计算 + 未掩盖通信 + 数据面（D2H/H2D + 序列化/反序列化 + Ray 静态开销）</a:t>
            </a:r>
          </a:p>
          <a:p>
            <a:pPr algn="l">
              <a:spcAft>
                <a:spcPts val="400"/>
              </a:spcAft>
            </a:pPr>
            <a:r>
              <a:rPr sz="13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分两类阶段：</a:t>
            </a:r>
          </a:p>
          <a:p>
            <a:pPr algn="l">
              <a:spcAft>
                <a:spcPts val="400"/>
              </a:spcAft>
            </a:pPr>
            <a:r>
              <a:rPr sz="125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• 带宽型（prefill / logprob / 训练 fwd+bwd，大消息批量）→ 用 τ 判</a:t>
            </a:r>
          </a:p>
          <a:p>
            <a:pPr algn="l">
              <a:spcAft>
                <a:spcPts val="400"/>
              </a:spcAft>
            </a:pPr>
            <a:r>
              <a:rPr sz="125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• 延迟型（decode，逐 token 串行 94 层×2 次小 all-to-all）→ 看每步通信能否藏进 KV 读窗口</a:t>
            </a:r>
          </a:p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τ 与场景近似无关（通信、计算同 ∝ tokens）；视频注意力 ∝S² 计算更重，τ 反而更小、更好藏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4 · scale-up 带宽：EP all-to-all τ 判定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文本口径 · 单卡·每迭代 · 格式 T_comm / T_compute → 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1115568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463040"/>
                <a:gridCol w="2560320"/>
                <a:gridCol w="2377440"/>
                <a:gridCol w="2377440"/>
              </a:tblGrid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阶段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单卡通信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A2 (32.5GB/s)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A3 (392GB/s)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950DT (2TB/s)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Rollout prefill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12.9 TB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398/308 → τ=1.29 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33/144 → τ=0.23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6/115 → τ=0.06 ✅✅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logprob 前向 (old+ref)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51.7 TB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1590/1230 → 1.29 ❌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132/577 → 0.23 ✅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26/461 → 0.06 ✅✅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训练 fwd+bwd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51.7 TB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1590/1845 → 0.86 ⚠️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132/865 → 0.15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26/692 → 0.04 ✅✅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decode（延迟型）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99 MB/步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7.7ms vs 15.8ms ⚠️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0.8ms vs 7.9ms ✅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0.43ms vs 6.3ms ✅✅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023360"/>
            <a:ext cx="11155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C02828"/>
                </a:solidFill>
                <a:latin typeface="PingFang SC"/>
                <a:ea typeface="PingFang SC"/>
                <a:cs typeface="PingFang SC"/>
              </a:rPr>
              <a:t>• A2 ❌：纯前向 τ≈1.3（comm-bound）+ 训练 0.86 + 延迟长尾 → 瓶颈；解法是换超节点 fabric（结构），非渐进加带宽</a:t>
            </a:r>
          </a:p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1B7F3B"/>
                </a:solidFill>
                <a:latin typeface="PingFang SC"/>
                <a:ea typeface="PingFang SC"/>
                <a:cs typeface="PingFang SC"/>
              </a:rPr>
              <a:t>• A3 ✅：全阶段 τ=0.15–0.23，富余 4–6 倍 → 互联带宽不是瓶颈，加带宽无收益</a:t>
            </a:r>
          </a:p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1B7F3B"/>
                </a:solidFill>
                <a:latin typeface="PingFang SC"/>
                <a:ea typeface="PingFang SC"/>
                <a:cs typeface="PingFang SC"/>
              </a:rPr>
              <a:t>• 950DT ✅✅：τ=0.04–0.06，富余 ~20 倍</a:t>
            </a:r>
          </a:p>
          <a:p>
            <a:pPr algn="l">
              <a:spcAft>
                <a:spcPts val="400"/>
              </a:spcAft>
            </a:pPr>
            <a:r>
              <a:rPr sz="1100" b="1" lang="zh-CN">
                <a:solidFill>
                  <a:srgbClr val="1F5F8B"/>
                </a:solidFill>
                <a:latin typeface="PingFang SC"/>
                <a:ea typeface="PingFang SC"/>
                <a:cs typeface="PingFang SC"/>
              </a:rPr>
              <a:t>• per-die：A2 die = A3 die 带宽相同（392GB/s bidi=196 uni；A3 封装 784 bidi=2 die）；差异在 fabric——A2 的 8-die 岛装不下 EP=32 → 借 RoCE ❌，A3 超节点 UB 装得下 → ✅。τ 是比值，口径不变。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5 · scale-out 带宽：经验数据面（ρ 判据）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经验数据（边 C/E/F 含压缩帧）原始字节：任何代际都是零头（视频 170GB/16节点/25GB/s ≈ 0.4s）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17320"/>
          <a:ext cx="11155677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4064"/>
                <a:gridCol w="1494064"/>
                <a:gridCol w="2589711"/>
                <a:gridCol w="1992085"/>
                <a:gridCol w="1294855"/>
                <a:gridCol w="2290898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场景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V_batch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T_dataplane(基线)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T_e2e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ρ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判定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文本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2.5 GB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~20 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~2620 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0.8%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 可忽略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图片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55 GB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~370 s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~5240 s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~7%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⚠️ 可感知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视频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170 GB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~1130 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~2万 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~5–6%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⚠️ 可感知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任意 + TQ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同上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降 &gt;10×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&lt;1%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3794760"/>
            <a:ext cx="11155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真实开销在软件路径，不是网卡：</a:t>
            </a:r>
          </a:p>
          <a:p>
            <a:pPr algn="l">
              <a:spcAft>
                <a:spcPts val="400"/>
              </a:spcAft>
            </a:pPr>
            <a:r>
              <a:rPr sz="1200" b="0" lang="zh-CN">
                <a:solidFill>
                  <a:srgbClr val="1F5F8B"/>
                </a:solidFill>
                <a:latin typeface="PingFang SC"/>
                <a:ea typeface="PingFang SC"/>
                <a:cs typeface="PingFang SC"/>
              </a:rPr>
              <a:t>T_dataplane = n_transits(基线≈10) × V/BW_serdes(driver单进程 pickle ~1.5GB/s) + Ray RPC 静态开销</a:t>
            </a:r>
          </a:p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• 图片/视频 ρ≈5–7% 的构成是 driver 序列化 + Ray 往返 —— 加网络带宽解决不了（线上传输占其中&lt;5%）</a:t>
            </a:r>
          </a:p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1B7F3B"/>
                </a:solidFill>
                <a:latin typeface="PingFang SC"/>
                <a:ea typeface="PingFang SC"/>
                <a:cs typeface="PingFang SC"/>
              </a:rPr>
              <a:t>• 正解：TQ 控制面/数据面分离 + worker 直读写（n_transits 10→~0，serdes 并行）→ ρ&lt;1%，并消除 driver 单点汇聚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6 · （下一步）显存带宽：decode 实为 KV-read bound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155676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1076"/>
                <a:gridCol w="2522153"/>
                <a:gridCol w="1746106"/>
                <a:gridCol w="1746106"/>
                <a:gridCol w="1552094"/>
                <a:gridCol w="2328141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/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KV/die(文本 b=32)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HBM BW/die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KV 读/步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计算/步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互联通信/步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25.3 GB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1.6 TB/s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15.8 ms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2.4 ms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7.7 ms（RoCE）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A3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25.3 GB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1.6 TB/s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15.8 ms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2.4 ms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~1.6 ms（UB）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950DT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25.3 GB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2.0 TB/s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12.65 ms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1.8 ms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~0.9 ms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429000"/>
            <a:ext cx="11155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per-die：A3 HBM BW = 1.6TB/s（= A2，封装 3.2÷2 die）→ KV 读 7.9→15.8ms。decode 仍 KV-read bound（判定不变）</a:t>
            </a:r>
          </a:p>
          <a:p>
            <a:pPr algn="l">
              <a:spcAft>
                <a:spcPts val="400"/>
              </a:spcAft>
            </a:pPr>
            <a:r>
              <a:rPr sz="125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A2=A3 的 KV 读相同（15.8ms），差异只在互联（7.7 RoCE vs 1.6 UB）；950DT 靠更高 die BW（2.0）领先</a:t>
            </a:r>
          </a:p>
          <a:p>
            <a:pPr algn="l">
              <a:spcAft>
                <a:spcPts val="400"/>
              </a:spcAft>
            </a:pPr>
            <a:r>
              <a:rPr sz="125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杠杆按序：FP8/INT8 KV（读量减半） &gt; 提高 HBM BW（代际） &gt; GQA（已用） &gt; 降并发（牺牲吞吐）</a:t>
            </a:r>
          </a:p>
          <a:p>
            <a:pPr algn="l">
              <a:spcAft>
                <a:spcPts val="400"/>
              </a:spcAft>
            </a:pPr>
            <a:r>
              <a:rPr sz="115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视频 KV offload 后每步还叠 PCIe 读 → 进一步恶化；互联通信仍藏进 KV 读窗口（1.6 ≪ 15.8）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7 · 汇总矩阵（A2 / A3 / 950DT）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19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155677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58815"/>
                <a:gridCol w="2159163"/>
                <a:gridCol w="2159163"/>
                <a:gridCol w="3778536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维度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文本 16k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图片 32k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视频 128k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HBM 峰值（per-die，A2=A3）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✅紧 / ✅紧 /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❌ / ❌ / ✅紧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❌ / ❌ / ❌ → P2 三代 ✅紧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CPU DRAM 峰值（含沙箱）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 ~156GB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 ~95GB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✅~⚠️ 465–917GB（最坏 1.4TB ❌）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scale-up（τ 判据）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❌ / ✅ / ✅✅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❌ / ✅ / ✅✅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❌ / ✅ / ✅✅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decode 延迟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⚠️ / ✅ / ✅✅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同左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KV offload 后转 PCIe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scale-out（ρ 判据）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 ρ&lt;1%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⚠️ ρ≈7%（软件）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⚠️ ρ≈5–6%（软件）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0749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per-die 下 HBM 已非区分代际的维度（A2=A3，都靠 memory-first）· 代际唯一实质差异是 scale-up fabric（A2 需换超节点）· scale-out 看软件路径（TQ 而非带宽）· 卡数 A2 128/A3 64/950DT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8 · 对带宽的诉求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① scale-up（差异在 fabric 域，非 per-die 带宽）</a:t>
            </a:r>
          </a:p>
          <a:p>
            <a:pPr algn="l">
              <a:spcAft>
                <a:spcPts val="1000"/>
              </a:spcAft>
            </a:pPr>
            <a:r>
              <a:rPr sz="120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per-die 三代同链路（A2 die = A3 die = 392 bidi）。A2 comm-bound 不是链路慢，而是 8-die UB 岛装不下 EP=32 的 32-die 域 → 77% 借 RoCE（τ≈1.3）；A3/950DT 超节点 UB 装得下 → τ 被计算掩盖（A3 0.15–0.23、950DT 0.05），加带宽无收益。要救 A2 只能换更大 fabric（结构），非加带宽。</a:t>
            </a:r>
          </a:p>
          <a:p>
            <a:pPr algn="l">
              <a:spcAft>
                <a:spcPts val="400"/>
              </a:spcAft>
            </a:pPr>
            <a:r>
              <a:rPr sz="16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② scale-out 网络</a:t>
            </a:r>
          </a:p>
          <a:p>
            <a:pPr algn="l">
              <a:spcAft>
                <a:spcPts val="1200"/>
              </a:spcAft>
            </a:pPr>
            <a:r>
              <a:rPr sz="125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经验数据原始字节秒级搬完，任何场景都无必要为数据面加网卡带宽；图片/视频 ρ≈5–7% 的开销是 driver 序列化 + Ray（软件）→ 解药是 TQ 直通，不是带宽。</a:t>
            </a:r>
          </a:p>
          <a:p>
            <a:pPr algn="l">
              <a:spcAft>
                <a:spcPts val="400"/>
              </a:spcAft>
            </a:pPr>
            <a:r>
              <a:rPr sz="16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③ HBM 带宽</a:t>
            </a:r>
          </a:p>
          <a:p>
            <a:pPr algn="l">
              <a:spcAft>
                <a:spcPts val="600"/>
              </a:spcAft>
            </a:pPr>
            <a:r>
              <a:rPr sz="125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decode 每步 ~6.6:1 被 KV 读支配（per-die A3：KV 读 15.8ms vs 计算 2.4ms；A2=A3）→ FP8 KV、更高 HBM BW 代际（950DT die 2.0）、避免 KV 落 PCIe，才是 rollout 侧的带宽杠杆。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577840"/>
            <a:ext cx="11064240" cy="82296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28016"/>
          <a:lstStyle/>
          <a:p>
            <a:pPr algn="ctr"/>
            <a:r>
              <a:rPr sz="125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per-die 三代同规格（HBM 64 / BW 1.6 / 链路 392 bidi）——唯一代际差异是 scale-up fabric 域能否装下 EP=32；scale-out 是软件问题，带宽杠杆在 HBM。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附录 · 符号定义（公式所用全部符号）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11247120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并行度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N = 总 die 数 = world_size = 128（= TP×CP×PP×DP）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TP / CP / PP / DP = 张量 / 上下文 / 流水线 / 数据 并行度（单位：die）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EP = 专家并行度（= CP×DP）；  SP = 序列并行（= TP，不额外占卡）；  ETP = 专家张量并行</a:t>
            </a:r>
          </a:p>
          <a:p>
            <a:pPr algn="l">
              <a:spcAft>
                <a:spcPts val="300"/>
              </a:spcAft>
            </a:pPr>
            <a:r>
              <a:rPr sz="13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模型结构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S = 序列长；  P = prompt 长；  R = response = S − P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h = 隐藏维 = 4096；  L = 层数 = 94；  top_k = 每 token 激活专家数 = 8；  h_kv = KV 头总维 = 512（GQA）</a:t>
            </a:r>
          </a:p>
          <a:p>
            <a:pPr algn="l">
              <a:spcAft>
                <a:spcPts val="300"/>
              </a:spcAft>
            </a:pPr>
            <a:r>
              <a:rPr sz="13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批次与采样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B = 全批轨迹数 = N_p×G = 16384；  N_p = prompt 数 = 1024；  G = 每 prompt 采样数 = 16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b = 推理批（每组并发序列数）；  n = 节点数</a:t>
            </a:r>
          </a:p>
          <a:p>
            <a:pPr algn="l">
              <a:spcAft>
                <a:spcPts val="300"/>
              </a:spcAft>
            </a:pPr>
            <a:r>
              <a:rPr sz="13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CPU DRAM / 沙箱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C_traj = 每节点并发轨迹（= 每节点沙箱数）；  f_sb = 触发沙箱的轨迹比例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M_base / M_spike = 单沙箱 稳态 / 峰值 内存；  κ = 波同步相关系数；  M_shared = 节点常驻共享（检索索引等）</a:t>
            </a:r>
          </a:p>
          <a:p>
            <a:pPr algn="l">
              <a:spcAft>
                <a:spcPts val="300"/>
              </a:spcAft>
            </a:pPr>
            <a:r>
              <a:rPr sz="13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带宽与时间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τ = 通信/可重叠计算；  ρ = 未掩盖通信/端到端；  MFU = 算力利用率 ≈ 40%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T_comm / T_compute / T_exposed / T_e2e / T_dataplane = 阶段通信 / 可重叠计算 / 未掩盖通信 / 端到端 / 数据面 时间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BW = scale-up 带宽（per-die 196 GB/s uni）；  BW_serdes = 序列化吞吐；  HBM_BW = 显存带宽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n_transits = 样本过 driver 中转次数；  V_batch = 数据面批量字节；  N_rpc / t_rpc = Ray 调用次数 / 单次开销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附录 · 公式汇总 (1/2)：内存与并行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① HBM（per-die 峰值，判定 ≤ A2 64 / A3 64 / 950DT 72 GB）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HBM峰值 = max(训练相, 推理相)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训练相 = 静态40 + 激活 ；  激活 = L×S×h×2B / (TP×CP)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推理相 = 底座9 + KV ；  KV/序列/die = 2×h_kv×L×2B×S / (TP×CP)（×b 得总量）</a:t>
            </a:r>
          </a:p>
          <a:p>
            <a:pPr algn="l">
              <a:spcAft>
                <a:spcPts val="300"/>
              </a:spcAft>
            </a:pPr>
            <a:r>
              <a:rPr sz="13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② CPU DRAM（单节点峰值）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节点峰值 = 缓冲区 + KV_offload + 优化器_offload + 沙箱 + OS(~50)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B = N_p×G ；  并发容量 = DP_infer×b ；  波数 = B/(DP_infer×b) ；  C_traj = DP_infer×b / n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沙箱 = C_traj × f_sb × [ M_base + κ·(M_spike − M_base) ] + M_shared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缓冲区(节点) = B × S × (8B/token + 帧字节) / n</a:t>
            </a:r>
          </a:p>
          <a:p>
            <a:pPr algn="l">
              <a:spcAft>
                <a:spcPts val="300"/>
              </a:spcAft>
            </a:pPr>
            <a:r>
              <a:rPr sz="13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③ 并行度关系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N = TP×CP×PP×DP = 128 die ；  EP = CP×DP ；  SP = TP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专家权重/die = 专家参数 × 精度 / (EP×ETP)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训练激活 ∝ 101/(TP×CP) ；  推理 KV ∝ 6.3·b/(TP×CP)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物理卡(封装) = N / 每封装die数  →  A2 128 / A3 64 / 950DT 64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附录 · 公式汇总 (2/2)：带宽判据与 scaling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④ 带宽判据（相对值；τ 对 die/封装口径不变）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τ = T_comm / T_compute(独立可重叠计算)      阈值  &lt;0.5 ✅ / 0.5–1 ⚠️ / &gt;1 ❌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ρ = T_exposed(未掩盖) / T_e2e               阈值  &lt;5% ✅ / 5–15% ⚠️ / &gt;15% ❌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T_e2e = T_rollout + T_logprob + T_train + T_dataplane (+ T_reward)</a:t>
            </a:r>
          </a:p>
          <a:p>
            <a:pPr algn="l">
              <a:spcAft>
                <a:spcPts val="300"/>
              </a:spcAft>
            </a:pPr>
            <a:r>
              <a:rPr sz="13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⑤ scale-up：EP all-to-all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a2a单元 = 2×top_k×h×2B = 128KB/token/层 ；  单卡通信/前向 = 12.3 MB/token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T_comm = 通信量 / BW(per-die 196 GB/s uni) ；  A2 有效 = 32.5GB/s（EP32跨4岛,77%借RoCE）</a:t>
            </a:r>
          </a:p>
          <a:p>
            <a:pPr algn="l">
              <a:spcAft>
                <a:spcPts val="300"/>
              </a:spcAft>
            </a:pPr>
            <a:r>
              <a:rPr sz="13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⑥ scale-out：经验数据面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T_dataplane = n_transits × V_batch/BW_serdes + N_rpc × t_rpc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（基线 n_transits≈10、serdes 1.5GB/s单核；TQ 后 n_transits→0、serdes ×8–16）</a:t>
            </a:r>
          </a:p>
          <a:p>
            <a:pPr algn="l">
              <a:spcAft>
                <a:spcPts val="300"/>
              </a:spcAft>
            </a:pPr>
            <a:r>
              <a:rPr sz="13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⑦ HBM 带宽：decode（KV-read bound）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KV读/步 = KV/die / HBM_BW(per-die 1.6 / 1.6 / 2.0 TB/s)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每步墙钟 ≈ max(计算, KV读, 未掩盖互联)  ← KV 读主导 ~6.6:1</a:t>
            </a:r>
          </a:p>
          <a:p>
            <a:pPr algn="l">
              <a:spcAft>
                <a:spcPts val="300"/>
              </a:spcAft>
            </a:pPr>
            <a:r>
              <a:rPr sz="13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⑧ 长上下文 scaling（拉长 S）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激活 ∝ S ；  KV ∝ b·S ；  注意力 ∝ S² ；  MLP ∝ S ；  R = S − P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需 TP×CP ≳ 激活(S)/(die容量−静态)  →  S↑ 逼 CP↑ → 跨节点带宽↑</a:t>
            </a:r>
          </a:p>
          <a:p>
            <a:pPr algn="l">
              <a:spcAft>
                <a:spcPts val="100"/>
              </a:spcAft>
            </a:pPr>
            <a:r>
              <a:rPr sz="110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全注意力适用 S ≲ 1–2M ；  S ≳ 5M → S² 计算墙 + CP 超卡预算 → 需稀疏注意力 + KV 压缩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PingFang SC"/>
        <a:cs typeface=""/>
        <a:font script="Jpan" typeface="ＭＳ Ｐゴシック"/>
        <a:font script="Hang" typeface="맑은 고딕"/>
        <a:font script="Hans" typeface="PingFang SC"/>
        <a:font script="Hant" typeface="PingFang SC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PingFang SC"/>
        <a:cs typeface=""/>
        <a:font script="Jpan" typeface="ＭＳ Ｐゴシック"/>
        <a:font script="Hang" typeface="맑은 고딕"/>
        <a:font script="Hans" typeface="PingFang SC"/>
        <a:font script="Hant" typeface="PingFang SC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