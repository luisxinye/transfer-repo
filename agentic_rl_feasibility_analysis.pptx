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774"/>
  </p:normalViewPr>
  <p:slideViewPr>
    <p:cSldViewPr snapToGrid="0" snapToObjects="1">
      <p:cViewPr varScale="1">
        <p:scale>
          <a:sx n="90" d="100"/>
          <a:sy n="90" d="100"/>
        </p:scale>
        <p:origin x="4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D4A80-0955-CB41-887C-1363F8DBCAD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45B47D-8CCF-F649-BEF1-97A7F27126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4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spcAft>
                <a:spcPts val="400"/>
              </a:spcAft>
            </a:pPr>
            <a:r>
              <a:rPr lang="zh-CN" sz="1400" b="1" dirty="0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带宽判定的两条原则</a:t>
            </a:r>
          </a:p>
          <a:p>
            <a:pPr algn="l">
              <a:spcAft>
                <a:spcPts val="400"/>
              </a:spcAft>
            </a:pPr>
            <a:r>
              <a:rPr lang="en-US" altLang="zh-CN" sz="120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</a:t>
            </a:r>
            <a:r>
              <a:rPr lang="zh-CN" altLang="en-US" sz="120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通信时间长 ≠ 瓶颈：若同阶段计算更长且可重叠，通信被掩盖 → 加带宽无收益（判据 </a:t>
            </a:r>
            <a:r>
              <a:rPr lang="en-US" altLang="zh-CN" sz="1200" b="0" dirty="0" err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τ</a:t>
            </a:r>
            <a:r>
              <a:rPr lang="zh-CN" altLang="en-US" sz="120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）</a:t>
            </a:r>
          </a:p>
          <a:p>
            <a:pPr algn="l">
              <a:spcAft>
                <a:spcPts val="400"/>
              </a:spcAft>
            </a:pPr>
            <a:r>
              <a:rPr lang="en-US" altLang="zh-CN" sz="120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② </a:t>
            </a:r>
            <a:r>
              <a:rPr lang="zh-CN" altLang="en-US" sz="120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即便某段通信无法掩盖，若相对端到端可忽略，也无必要加带宽（判据 </a:t>
            </a:r>
            <a:r>
              <a:rPr lang="en-US" altLang="zh-CN" sz="1200" b="0" dirty="0" err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ρ</a:t>
            </a:r>
            <a:r>
              <a:rPr lang="zh-CN" altLang="en-US" sz="120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45B47D-8CCF-F649-BEF1-97A7F27126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52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Agentic RL 后训练可行性分析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2000" b="1">
                <a:solidFill>
                  <a:srgbClr val="D8DDE4"/>
                </a:solidFill>
                <a:latin typeface="PingFang SC"/>
                <a:ea typeface="PingFang SC"/>
                <a:cs typeface="PingFang SC"/>
              </a:rPr>
              <a:t>内存峰值诉求  ·  带宽瓶颈判定（相对判据）</a:t>
            </a:r>
          </a:p>
          <a:p>
            <a:pPr algn="l">
              <a:spcAft>
                <a:spcPts val="400"/>
              </a:spcAft>
            </a:pPr>
            <a:r>
              <a:rPr lang="zh-CN" sz="13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Qwen3-235B-A22B (MoE) · 华为 A2 / A3 / 950DT · 文本 / 图片 / 视频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r>
              <a:rPr lang="zh-CN" sz="2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峰值内存 + 相对带宽判据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030245"/>
              </p:ext>
            </p:extLst>
          </p:nvPr>
        </p:nvGraphicFramePr>
        <p:xfrm>
          <a:off x="518007" y="2148840"/>
          <a:ext cx="11155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2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判断依据</a:t>
                      </a:r>
                      <a:endParaRPr lang="zh-CN" sz="1200" b="1" dirty="0">
                        <a:solidFill>
                          <a:srgbClr val="FFFFFF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判定方式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50" b="1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GPU</a:t>
                      </a:r>
                      <a:r>
                        <a:rPr lang="zh-CN" altLang="en-US" sz="1250" b="1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</a:t>
                      </a:r>
                      <a:r>
                        <a:rPr lang="zh-CN" sz="1250" b="1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单卡</a:t>
                      </a:r>
                      <a:r>
                        <a:rPr lang="zh-CN" altLang="en-US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显存</a:t>
                      </a:r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 vs 64 / 128 / 144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zh-CN" sz="12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单节点</a:t>
                      </a:r>
                      <a:r>
                        <a:rPr lang="zh-CN" altLang="en-US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</a:t>
                      </a:r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峰值 vs ~1.5 TB/节点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zh-CN" sz="1250" b="1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相对判据，不看绝对传输时间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 = 通信</a:t>
                      </a:r>
                      <a:r>
                        <a:rPr lang="zh-CN" altLang="en-US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/计算</a:t>
                      </a:r>
                      <a:r>
                        <a:rPr lang="zh-CN" altLang="en-US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；ρ = 未掩盖通信</a:t>
                      </a:r>
                      <a:r>
                        <a:rPr lang="zh-CN" altLang="en-US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  <a:r>
                        <a:rPr lang="zh-CN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/端到端</a:t>
                      </a:r>
                      <a:r>
                        <a:rPr lang="zh-CN" altLang="en-US" sz="1250" b="0" dirty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  <a:endParaRPr lang="zh-CN" sz="1250" b="0" dirty="0">
                        <a:solidFill>
                          <a:srgbClr val="222B38"/>
                        </a:solidFill>
                        <a:latin typeface="PingFang SC"/>
                        <a:ea typeface="PingFang SC"/>
                        <a:cs typeface="PingFang SC"/>
                      </a:endParaRP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r>
              <a:rPr lang="en-US" altLang="zh-CN" sz="2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NPU</a:t>
            </a:r>
            <a:r>
              <a:rPr lang="zh-CN" altLang="en-US" sz="2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</a:t>
            </a:r>
            <a:r>
              <a:rPr lang="zh-CN" sz="2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HBM 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0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训练相 = 静态40GB + 激活(∝S)   ·   推理相 = 权重底座9GB + KV(∝b×S)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3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7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训练相峰值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推理相峰值(b=32)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A2(64)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A3(128)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950DT(144)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~53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~34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~65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~60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~141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~211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38328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峰值随序列长 S 走（激活 ∝ S、KV ∝ b×S）；静态 40GB 三代都放得下。</a:t>
            </a:r>
          </a:p>
          <a:p>
            <a:pPr algn="l">
              <a:spcAft>
                <a:spcPts val="400"/>
              </a:spcAft>
            </a:pPr>
            <a:r>
              <a:rPr lang="zh-CN" sz="12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文本：峰值由训练相主导（53 vs 34），三代可行（A2 紧）</a:t>
            </a:r>
          </a:p>
          <a:p>
            <a:pPr algn="l">
              <a:spcAft>
                <a:spcPts val="400"/>
              </a:spcAft>
            </a:pPr>
            <a:r>
              <a:rPr lang="zh-CN" sz="12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图片：训练相 65GB 超 A2；A3/950DT ✅</a:t>
            </a:r>
          </a:p>
          <a:p>
            <a:pPr algn="l">
              <a:spcAft>
                <a:spcPts val="400"/>
              </a:spcAft>
            </a:pPr>
            <a:r>
              <a:rPr lang="zh-CN" sz="1250" b="1" dirty="0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• 视频：两相都破 → 训练激活 101GB 需序列并行/PP 切激活；推理 KV 需降并发+offload</a:t>
            </a:r>
          </a:p>
          <a:p>
            <a:pPr algn="l">
              <a:spcAft>
                <a:spcPts val="400"/>
              </a:spcAft>
            </a:pPr>
            <a:r>
              <a:rPr lang="zh-CN" sz="1150" b="0" dirty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  三代都要动并行/offload：A2 不可行、A3 勉力（b≈16 不 offload 或 b=32 offload）、950DT 余量最大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并行配置（memory-first：先放下，再看带宽趋势）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视频 128k 两相破 HBM（激活 101GB、KV 211GB@b32）；基线靠降 b + offload 勉强塞下，压力转到 CPU DRAM。先用并行度放下，再看带宽变化。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78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9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78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切分对象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内存效果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 fabric 通信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EP=32（基线）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 MLP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专家权重/底座 /EP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all-to-all 12.3MB/token（基线）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TP=t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 维（注意力+dense）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激活、KV、底座 /t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all-reduce（尽量压节点内）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SP（= TP，0 额外占卡）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层边界残差/LN/dropout 激活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残差激活 /TP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RS+AG 替换 all-reduce，量≈不变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CP=c（额外占卡）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 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激活、KV /c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序列 all-to-all（跨节点则↑）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PP=p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stage /p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 P2P（廉价）+ bubble↓MFU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1772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为什么要开 SP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标准 TP 单独切时，层边界残差激活跨 TP rank 复制 → §1 的 101GB 在 TP4 下并没有 /4；Megatron SP 专切这部分，且 RS+AG 替换 all-reduce → 通信量≈不变。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开 SP 几乎不增通信、不额外占卡（SP 度数 = TP），应最先开。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五套配置 × 视频 128k 的 HBM 判定（N=128, EP=32）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128 卡 = TP×CP×PP×DP；SP=TP 不占卡；EP=32 骑在 DP 轴上（EP 与 DP 同数、指同一批卡）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78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9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7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7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8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度数元组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训练相 静态+激活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推理相 底座+KV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offload?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 基线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TP4·SP✗·DP32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40+101 = 141 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9+6.3b：b32=211 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 开 SP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TP4·SP4·DP32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40+25 = 65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P0 = 211 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★ TP↑+SP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TP8·SP8·DP16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40+13 = 53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9+3.15b：b16=59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 +CP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TP4·SP4·CP4·DP8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40+6 = 46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KV/16：b32≈50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 +PP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TP2·SP2·PP4·DP16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stage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（推理不用 PP）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是（训练相）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43484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训练激活 ∝ 101/(TP×CP)；推理 KV ∝ 6.3·b/(TP×CP)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P1：SP 只修训练激活；推理无 SP，KV 仍超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P2：TP8 同时切激活(/8)与 KV(/2)，免 offload；训练/推理共用 TP8，切换不重排</a:t>
            </a:r>
          </a:p>
          <a:p>
            <a:pPr algn="l">
              <a:spcAft>
                <a:spcPts val="400"/>
              </a:spcAft>
            </a:pPr>
            <a:r>
              <a:rPr lang="zh-CN" sz="11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• EP 卡账：TP8 下若不做专家 ETP，EP 落成 16、专家底座 +14GB（训练 ~67GB 仍 ✅A3）——需按框架校验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P0 基线汇总矩阵　TP4·SP✗·DP32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基线 = §7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⚠️（需 offload）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✅~⚠️（最坏堆叠 1.4TB ❌）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offload→PCIe 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基线：视频两相破 HBM、最坏 DRAM 堆叠逼近 1.5TB；文本/图片可行（A2 紧）。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P1 汇总矩阵　TP4·SP4·DP32（开 SP）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SP 只修训练激活，推理 KV 未动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⚠️（推理仍需 offload）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✅~⚠️（同 P0，1.4TB）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✅✅（SP 不加跨节点）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 P0（offload→PCIe ❌）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相对 P0：文本 A2 由“紧”转 ✅、图片 A2 由 ❌ 转 ✅（训练激活 /4）；视频仍卡在推理 KV。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P2 ★ 汇总矩阵　TP8·SP8·DP16（TP↑，免 offload）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训练激活 /8、推理 KV /2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⚠️¹ / ✅ / ✅（59GB，放下）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✅（免 offload，~0.6TB）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✅✅（TP8 落节点内 UB）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✅（KV/卡减半，免 PCIe）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¹ A2 视频 HBM 取决于 EP（EP32→59✅ / EP16→67❌）；A2 的 scale-up 本就 ❌，仍不可行，此格 ⚠️ 仅指 HBM。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P3 汇总矩阵　TP4·SP4·CP4·DP8（加 CP）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内存最松，但 CP 加跨节点通信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✅（~50GB，最松）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DRAM（含沙箱）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✅（免 offload）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⚠️²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⚠️²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⚠️²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✅（KV/16，免 PCIe）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² CP 新增跨节点序列 all-to-all → 吃掉 A3 的 scale-up τ 富余（✅→⚠️），三列同降。仅当 S 超出 TP-SP 能切时才用。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P4 汇总矩阵　TP2·SP2·PP4·DP16（PP，训练相专用）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875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格式 A2 / A3 / 950DT　·　PP 不进 rollout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66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0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83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HBM（训练相）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/ ✅ / ✅（每 stage 切层）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HBM（推理相）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回退非 PP（同 P2/P3）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须配 TP/CP ³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但 MFU↓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rollout 不用 PP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取决于回退布局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07492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B87A00"/>
                </a:solidFill>
                <a:latin typeface="PingFang SC"/>
                <a:ea typeface="PingFang SC"/>
                <a:cs typeface="PingFang SC"/>
              </a:rPr>
              <a:t>³ PP 不适配共卡多轮 rollout → 推理相须回退 P2/P3 布局、两相不一致须重排；PP 仅作训练相辅助，不能单独构成完整共卡配置。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1.5 · 五套配置横评 + 带宽趋势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维度（视频 128k）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P0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P1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P2 ★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P3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P4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峰值（A3）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✅（训练相）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KV offload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 τ（A3）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CP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MFU↓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/ PCIe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两相切换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 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须重排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7200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 dirty="0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带宽趋势：落地顺序与代价</a:t>
            </a:r>
          </a:p>
          <a:p>
            <a:pPr algn="l">
              <a:spcAft>
                <a:spcPts val="400"/>
              </a:spcAft>
            </a:pPr>
            <a:r>
              <a:rPr lang="zh-CN" sz="12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① 开 SP（免费降内存、通信持平）→ ② 抬 TP 到节点内 8（修推理 KV、免 offload，流量落 UB、EP τ 不变）</a:t>
            </a:r>
          </a:p>
          <a:p>
            <a:pPr algn="l">
              <a:spcAft>
                <a:spcPts val="400"/>
              </a:spcAft>
            </a:pPr>
            <a:r>
              <a:rPr lang="zh-CN" sz="12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③ CP 是唯一真正抬高跨节点 scale-up 诉求的杠杆（✅→⚠️）→ ④ PP 用 MFU 换内存、仅训练相</a:t>
            </a:r>
          </a:p>
          <a:p>
            <a:pPr algn="l">
              <a:spcAft>
                <a:spcPts val="400"/>
              </a:spcAft>
            </a:pPr>
            <a:r>
              <a:rPr lang="zh-CN" sz="1200" b="1" dirty="0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A2：任何配置都救不活（EP=32 跨 8 卡岛、~75% 借道 RoCE，comm-bound 恒定）→ 只能上超节点 fabric</a:t>
            </a:r>
          </a:p>
          <a:p>
            <a:pPr algn="l">
              <a:spcAft>
                <a:spcPts val="400"/>
              </a:spcAft>
            </a:pPr>
            <a:r>
              <a:rPr lang="zh-CN" sz="1250" b="1" dirty="0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P2（TP8·SP8）：视频四项达标、免 offload、scale-up 不受损。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CPU DRAM 诉求 —— 沙箱细致建模（单节点峰值）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峰值公式：DRAM_沙箱 = C_traj × f_sb × [ M_base + κ·(M_spike − M_base) ] + M_shared</a:t>
            </a:r>
          </a:p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RL 波同步：同波轨迹尖峰对齐、相关叠加（κ=0.5~0.8），按峰值记账、不能按平均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148840"/>
          <a:ext cx="1115567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2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9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9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71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57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类型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f_sb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M_base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M_spike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κ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每节点峰值(64 并发)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轻工具（搜索/计算）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 GB（可忽略）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Coding 中等（解释器+科学库）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~106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SWE 重型（仓库+依赖+pytest）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~280 GB（含页缓存）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GUI（headless 浏览器）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0.5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~42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89204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沙箱是 CPU DRAM 的主要不确定项：轻工具 GB 级可忽略，SWE 重型 ~280GB/节点（与视频 KV offload 同量级）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不可解析、需压测；降峰开关：降 rollout 并发 · 异步 rollout 打散 κ · 轻量沙箱(WASM/进程池) · 检索索引放独立节点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· CPU DRAM 峰值叠加与判定（vs 1.5 TB/节点）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79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46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场景组合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缓冲区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offload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沙箱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合计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vs 1.5TB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+ coding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~156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10%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+ GUI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3.4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42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~95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6%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轻工具 (A3)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~465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31%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 (A3)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~741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49%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+ SWE 重 (A2, +优化器offload)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~917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61%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最坏堆叠 (b=16 + SWE + 索引100G)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800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176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380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~1.42 TB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95%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292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常规组合 1.5TB ✅ 够用（占 10%–50%）。危险 = 视频高并发 KV offload × 重型沙箱 × A2 优化器 offload 同时堆叠 → 逼近 1.5TB。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 · 带宽判据框架：τ（计算掩盖）与 ρ（端到端占比）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331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判据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定义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 阈值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&gt; 阈值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 = T_comm / T_compute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通信能否被同阶段计算掩盖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τ&lt;0.5 ✅ 掩盖，加带宽无收益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τ&gt;1 ❌ comm-bound，需加带宽/换 fabric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 = T_未掩盖 / T_e2e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未掩盖通信相对端到端占比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ρ&lt;5% ✅ 可忽略，无必要加带宽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ρ&gt;15% ❌ 显著拖慢（多为软件开销）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05384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 dirty="0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T_e2e = 计算 + 未掩盖通信 + 数据面（D2H/H2D + 序列化/反序列化 + Ray 静态开销）</a:t>
            </a:r>
          </a:p>
          <a:p>
            <a:pPr algn="l">
              <a:spcAft>
                <a:spcPts val="400"/>
              </a:spcAft>
            </a:pPr>
            <a:r>
              <a:rPr lang="zh-CN" sz="1300" b="1" dirty="0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分两类阶段：</a:t>
            </a:r>
          </a:p>
          <a:p>
            <a:pPr algn="l">
              <a:spcAft>
                <a:spcPts val="400"/>
              </a:spcAft>
            </a:pPr>
            <a:r>
              <a:rPr lang="zh-CN" sz="12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带宽型（prefill / logprob / 训练 fwd+bwd，大消息批量）→ 用 τ 判</a:t>
            </a:r>
          </a:p>
          <a:p>
            <a:pPr algn="l">
              <a:spcAft>
                <a:spcPts val="400"/>
              </a:spcAft>
            </a:pPr>
            <a:r>
              <a:rPr lang="zh-CN" sz="1250" b="0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延迟型（decode，逐 token 串行 94 层×2 次小 all-to-all）→ 看每步通信能否藏进 KV 读窗口</a:t>
            </a:r>
          </a:p>
          <a:p>
            <a:pPr algn="l">
              <a:spcAft>
                <a:spcPts val="400"/>
              </a:spcAft>
            </a:pPr>
            <a:r>
              <a:rPr lang="zh-CN" sz="1250" b="1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τ 与场景近似无关（通信、计算同 ∝ tokens）；视频注意力 ∝S² 计算更重，τ 反而更小、更好藏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 dirty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 · scale-up 带宽：EP all-to-all τ 判定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00" b="1" dirty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文本口径 · 单卡·每迭代 · 格式 T_comm / T_compute → 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71600"/>
          <a:ext cx="1115568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单卡通信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 (32.5GB/s)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 (392GB/s)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 (2TB/s)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Rollout prefill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12.9 TB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398/308 → τ=1.29 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33/144 → τ=0.23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6/115 → τ=0.06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logprob 前向 (old+ref)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51.7 TB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1590/1230 → 1.29 ❌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132/577 → 0.23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26/461 → 0.06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训练 fwd+bwd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51.7 TB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1590/1845 → 0.86 ⚠️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132/865 → 0.15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26/692 → 0.04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decode（延迟型）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99 MB/步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7.7ms vs 15.8ms ⚠️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0.8ms vs 7.9ms 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0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0.43ms vs 6.3ms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02336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C02828"/>
                </a:solidFill>
                <a:latin typeface="PingFang SC"/>
                <a:ea typeface="PingFang SC"/>
                <a:cs typeface="PingFang SC"/>
              </a:rPr>
              <a:t>• A2 ❌：纯前向 τ≈1.3（comm-bound）+ 训练 0.86 + 延迟长尾 → 瓶颈；解法是换超节点 fabric（结构），非渐进加带宽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A3 ✅：全阶段 τ=0.15–0.23，富余 4–6 倍 → 互联带宽不是瓶颈，加带宽无收益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950DT ✅✅：τ=0.04–0.06，富余 ~20 倍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• τ 与场景近似无关 → 视频更宽松，三场景同判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5 · scale-out 带宽：经验数据面（ρ 判据）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1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经验数据（边 C/E/F 含压缩帧）原始字节：任何代际都是零头（视频 170GB/16节点/25GB/s ≈ 0.4s）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7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9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8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908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V_batch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T_dataplane(基线)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T_e2e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ρ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判定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2.5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~20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~2620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可忽略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55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~370 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~5240 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~7%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可感知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170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~1130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~2万 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~5–6%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可感知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任意 + TQ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同上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 &gt;10×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&lt;1%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5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79476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真实开销在软件路径，不是网卡：</a:t>
            </a:r>
          </a:p>
          <a:p>
            <a:pPr algn="l">
              <a:spcAft>
                <a:spcPts val="400"/>
              </a:spcAft>
            </a:pPr>
            <a:r>
              <a:rPr lang="zh-CN" sz="1200" b="0">
                <a:solidFill>
                  <a:srgbClr val="1F5F8B"/>
                </a:solidFill>
                <a:latin typeface="PingFang SC"/>
                <a:ea typeface="PingFang SC"/>
                <a:cs typeface="PingFang SC"/>
              </a:rPr>
              <a:t>T_dataplane = n_transits(基线≈10) × V/BW_serdes(driver单进程 pickle ~1.5GB/s) + Ray RPC 静态开销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• 图片/视频 ρ≈5–7% 的构成是 driver 序列化 + Ray 往返 —— 加网络带宽解决不了（线上传输占其中&lt;5%）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1B7F3B"/>
                </a:solidFill>
                <a:latin typeface="PingFang SC"/>
                <a:ea typeface="PingFang SC"/>
                <a:cs typeface="PingFang SC"/>
              </a:rPr>
              <a:t>• 正解：TQ 控制面/数据面分离 + worker 直读写（n_transits 10→~0，serdes 并行）→ ρ&lt;1%，并消除 driver 单点汇聚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6 · （下一步）显存带宽：decode 实为 KV-read bound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76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3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6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7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70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9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719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KV/卡(文本 b=32)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带宽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读/步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计算/步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互联通信/步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1.6 TB/s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15.8 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2.4 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7.7 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A3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3.2 TB/s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7.9 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1.1 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0.8 ms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lang="zh-CN" sz="12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950DT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25.3 GB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TB/s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6.3 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0.9 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0.43 ms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429000"/>
            <a:ext cx="11155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3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decode 每步墙钟 ≈ KV 读 ×7（对比计算）；rollout 的带宽杠杆在 HBM，不在 scale-up</a:t>
            </a:r>
          </a:p>
          <a:p>
            <a:pPr algn="l">
              <a:spcAft>
                <a:spcPts val="400"/>
              </a:spcAft>
            </a:pPr>
            <a:r>
              <a:rPr lang="zh-CN" sz="12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杠杆按序：FP8/INT8 KV（读量减半） &gt; 提高 HBM BW（代际） &gt; GQA（已用） &gt; 降并发（牺牲吞吐）</a:t>
            </a:r>
          </a:p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视频 KV offload 后每步还叠 PCIe 读 → 进一步恶化，是下一步分析重点</a:t>
            </a:r>
          </a:p>
          <a:p>
            <a:pPr algn="l">
              <a:spcAft>
                <a:spcPts val="400"/>
              </a:spcAft>
            </a:pPr>
            <a:r>
              <a:rPr lang="zh-CN" sz="115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呼应 §4：A3/950DT 上互联通信可藏进 KV 读窗口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7 · 汇总矩阵（A2 / A3 / 950DT）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34015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7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8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维度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 16k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图片 32k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视频 128k</a:t>
                      </a:r>
                    </a:p>
                  </a:txBody>
                  <a:tcPr marL="45720" marR="45720" marT="18288" marB="18288" anchor="ctr">
                    <a:solidFill>
                      <a:srgbClr val="222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HBM 峰值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✅紧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❌ / ⚠️（需序列并行+offload）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CPU DRAM 峰值（含沙箱）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~156GB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~95GB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✅~⚠️ 465–917GB（最坏 1.4TB ❌）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scale-up（τ 判据）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C0282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❌ / ✅ / ✅✅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decode 延迟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/ ✅ / ✅✅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同左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KV offload 后转 PCIe</a:t>
                      </a:r>
                    </a:p>
                  </a:txBody>
                  <a:tcPr marL="45720" marR="45720" marT="18288" marB="18288" anchor="ctr">
                    <a:solidFill>
                      <a:srgbClr val="F3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222B3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scale-out（ρ 判据）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1B7F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✅ ρ&lt;1%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ρ≈7%（软件）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100" b="1">
                          <a:solidFill>
                            <a:srgbClr val="B87A0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⚠️ ρ≈5–6%（软件）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250" b="1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HBM 看场景（S）· CPU DRAM 看沙箱 · scale-up 看代际（A2 需换 fabric）· scale-out 看软件路径（TQ 而非带宽）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2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155448" rtlCol="0" anchor="ctr"/>
          <a:lstStyle/>
          <a:p>
            <a:pPr algn="ctr"/>
            <a:r>
              <a:rPr lang="zh-CN" sz="2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· 对带宽的诉求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201168" cy="82296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sz="900" b="0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Agentic RL 后训练可行性 · 内存峰值与带宽瓶颈判定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sz="1000" b="1">
                <a:solidFill>
                  <a:srgbClr val="6B748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sz="16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① scale-up</a:t>
            </a:r>
          </a:p>
          <a:p>
            <a:pPr algn="l">
              <a:spcAft>
                <a:spcPts val="1200"/>
              </a:spcAft>
            </a:pPr>
            <a:r>
              <a:rPr lang="zh-CN" sz="12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A2 comm-bound（纯前向 τ≈1.3）—— 要的是超节点 fabric（结构），非渐进加带宽；A3 τ≈0.15–0.23、950DT τ≈0.05，全部被计算掩盖 → 加互联带宽无收益。</a:t>
            </a:r>
          </a:p>
          <a:p>
            <a:pPr algn="l">
              <a:spcAft>
                <a:spcPts val="400"/>
              </a:spcAft>
            </a:pPr>
            <a:r>
              <a:rPr lang="zh-CN" sz="16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② scale-out 网络</a:t>
            </a:r>
          </a:p>
          <a:p>
            <a:pPr algn="l">
              <a:spcAft>
                <a:spcPts val="1200"/>
              </a:spcAft>
            </a:pPr>
            <a:r>
              <a:rPr lang="zh-CN" sz="12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经验数据原始字节秒级搬完，任何场景都无必要为数据面加网卡带宽；图片/视频 ρ≈5–7% 的开销是 driver 序列化 + Ray（软件）→ 解药是 TQ 直通，不是带宽。</a:t>
            </a:r>
          </a:p>
          <a:p>
            <a:pPr algn="l">
              <a:spcAft>
                <a:spcPts val="400"/>
              </a:spcAft>
            </a:pPr>
            <a:r>
              <a:rPr lang="zh-CN" sz="1600" b="1">
                <a:solidFill>
                  <a:srgbClr val="C7000B"/>
                </a:solidFill>
                <a:latin typeface="PingFang SC"/>
                <a:ea typeface="PingFang SC"/>
                <a:cs typeface="PingFang SC"/>
              </a:rPr>
              <a:t>③ HBM 带宽</a:t>
            </a:r>
          </a:p>
          <a:p>
            <a:pPr algn="l">
              <a:spcAft>
                <a:spcPts val="600"/>
              </a:spcAft>
            </a:pPr>
            <a:r>
              <a:rPr lang="zh-CN" sz="1250" b="0">
                <a:solidFill>
                  <a:srgbClr val="222B38"/>
                </a:solidFill>
                <a:latin typeface="PingFang SC"/>
                <a:ea typeface="PingFang SC"/>
                <a:cs typeface="PingFang SC"/>
              </a:rPr>
              <a:t>decode 每步 7:1 被 KV 读支配（A3：7.9ms vs 计算 1.1ms）→ FP8 KV、更高 HBM BW 代际、避免 KV 落 PCIe，才是 rollout 侧的带宽杠杆。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28016" rtlCol="0" anchor="ctr"/>
          <a:lstStyle/>
          <a:p>
            <a:pPr algn="ctr"/>
            <a:r>
              <a:rPr lang="zh-CN" sz="1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内存看峰值、带宽看相对：scale-up 看代际，scale-out 是软件问题，带宽杠杆在 HBM。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PingFang SC"/>
        <a:cs typeface=""/>
        <a:font script="Jpan" typeface="ＭＳ Ｐゴシック"/>
        <a:font script="Hang" typeface="맑은 고딕"/>
        <a:font script="Hans" typeface="PingFang SC"/>
        <a:font script="Hant" typeface="PingFang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4047</Words>
  <Application>Microsoft Macintosh PowerPoint</Application>
  <PresentationFormat>Widescreen</PresentationFormat>
  <Paragraphs>562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PingFang SC</vt:lpstr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ab21003</cp:lastModifiedBy>
  <cp:revision>2</cp:revision>
  <dcterms:created xsi:type="dcterms:W3CDTF">2013-01-27T09:14:16Z</dcterms:created>
  <dcterms:modified xsi:type="dcterms:W3CDTF">2026-07-12T13:23:17Z</dcterms:modified>
  <cp:category/>
</cp:coreProperties>
</file>