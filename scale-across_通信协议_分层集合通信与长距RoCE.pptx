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7c3aa72d-bd32-a4d1-a289-40e149092cb2}">
          <p14:sldIdLst>
            <p14:sldId id="256"/>
          </p14:sldIdLst>
        </p14:section>
        <p14:section name="总览" id="{2187c6c0-7f1e-759b-ed48-98fdaa5095bc}">
          <p14:sldIdLst>
            <p14:sldId id="257"/>
          </p14:sldIdLst>
        </p14:section>
        <p14:section name="问题与需求" id="{3e2befc1-68be-4957-f763-2c3964c95033}">
          <p14:sldIdLst>
            <p14:sldId id="258"/>
            <p14:sldId id="259"/>
          </p14:sldIdLst>
        </p14:section>
        <p14:section name="分层集合通信" id="{b47cdaaa-0869-7688-2d7c-357c6a2281bc}">
          <p14:sldIdLst>
            <p14:sldId id="260"/>
            <p14:sldId id="261"/>
            <p14:sldId id="262"/>
            <p14:sldId id="263"/>
          </p14:sldIdLst>
        </p14:section>
        <p14:section name="RoCE 100 km@有损" id="{d17383a2-7c1a-ea79-2b50-7d248766d63c}">
          <p14:sldIdLst>
            <p14:sldId id="264"/>
            <p14:sldId id="265"/>
          </p14:sldIdLst>
        </p14:section>
        <p14:section name="产品与实践" id="{12d88d66-2cfe-5acf-0f40-e695dd85e970}">
          <p14:sldIdLst>
            <p14:sldId id="266"/>
            <p14:sldId id="267"/>
            <p14:sldId id="268"/>
            <p14:sldId id="269"/>
          </p14:sldIdLst>
        </p14:section>
        <p14:section name="建议" id="{0bb87c21-2a4c-928b-8e90-5bfe5ad11072}">
          <p14:sldIdLst>
            <p14:sldId id="270"/>
            <p14:sldId id="271"/>
          </p14:sldIdLst>
        </p14:section>
        <p14:section name="附录" id="{4a63c6b4-55dd-7a02-efdd-499e737b1445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对应《跨 DC.docx》图 4「产品与技术」中的一行：通信协议——分层集合通信，RoCE 100Km@有损。同一张图的其他行（路由器、传输、光模块、光纤、深度协同优化）由其他同事负责，本 deck 只在接口处提到。资料检索截至 2026-10-30。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各卡片的出处见后续对应页：分层集合通信见第 5～8 页；两条路线见第 9 页；五项能力见第 10 页；产品见第 11～12 页；业界实践见第 13 页。底部建议为推断，不是任何厂商的说法。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估算口径：光纤传播约 5 µs/km（单程）；DC 内往返取 10 µs；BDP = 800 Gb/s × 往返时延；PFC 预留缓存按每端口每个无损队列约一个 BDP 粗估（实际还要加 MTU 和对端响应时间，且共享缓存不会所有端口同时用满，只看数量级）；Go-back-N 最坏情况重传一个在途窗口；DCQCN 的反馈环至少一个往返时延。1000 km 列按直线光纤估，实际路由更长。图 3 指《跨 DC.docx》中的性能损失—带宽曲线。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8～23 Tbps 出自 scale-across_业务场景与硬件需求_v5.pptx 的数据并行口径（参考集群 61440 die、每 die 400 TFLOPS、V3 激活 FP8；跨域梯度 0.69 B/参数，原因待确认）。24.42 / 40.22 Tbps 出自《跨 DC.docx》图 3（Performance Loss vs Bandwidth）。物理带宽 = 24.42 ÷ 利用率；端口数 = 物理带宽 ÷ 0.8 Tbps 向上取整。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对比按两个 DC 推导：平铺大环里每个 rank 发出约 2(p−1)/p·G，环跨越 DC 边界两次（A→B、B→A），每个方向约 2G；分层时每个 rank 跨 DC 只传 G/N，N 对并行，每个方向合计约 G。一般地，D 个 DC 时分层的跨 DC 量为每个 DC 约 2(D−1)/D·G。NCCL 跨 DC 的 ring 每个通道有 2(nDC−1) 条跨 DC 连接，用 NCCL_SCATTER_XDC 分散到不同节点（NVIDIA 技术博客，2025-07）。三层划分为推断。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ZeRO-1 级 HSDP = 分层 all-reduce + 分片优化器：通信顺序和量不变，只是把优化器更新插在跨 DC all-reduce 和最后的 all-gather 之间，每张卡只算 1/N；最后 all-gather 的是更新后的参数，可与下一步前向重叠。ZeRO-3 级 HSDP 参数也只存 1/N，DC 内每层多做 all-gather，DC 内通信从约 2G 变为约 3P，但都不出 DC。出处：NeMo 多 DC 博客原话「optimizer states sharded within each data center and replicated across sites」；PyTorch FSDP 的 HYBRID_SHARD 策略；Meta NCCLX（arXiv 2510.20171）的 HSDP 用法；ZeRO 论文（Rajbhandari et al., SC 2020）的分级定义。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NCCL：NVIDIA Technical Blog「NCCL Deep Dive: Cross Data Center Communication and Network Topology Awareness」（2025-07-14），GitHub cross-dc 分支与 PR #1659；文中没写是哪个 NCCL 版本。NeMo：NVIDIA Technical Blog「Turbocharge LLM Training Across Long-Haul Data Center Networks with NVIDIA NeMo Framework」，NeMo 25.02 / Megatron-Core 0.11.0，OCI 芝加哥与阿什本两地。NCCLX：Meta, Collective Communication for 100k+ GPUs, arXiv 2510.20171（v4，2026-01）。HCCL：昇腾 CANN 文档 HCCL 算法概述（800/850/900 版），本次未能打开原页，依据检索摘要。Google：Gemini 1.0 技术报告 Training Infrastructure 一节。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GeoPipe：arXiv 2510.12064（ACP 2025），昇腾全栈、无损 RDMA DC-OTN、增强流水线并行。DiLoCoX：arXiv 2506.21263，1 Gbps 网络上预训练 107B，吞吐比原生 AllReduce 高 357 倍（吞吐对比，不是收敛对比）。GeoMesh：arXiv 2609.18388，达到目标困惑度的时间最多降 70.2%。Streaming DiLoCo 为 Google DeepMind 2025 年工作，本次未重新核对原文。v5 结论出自 scale-across_业务场景与硬件需求_v5.pptx：DP÷PP = P/(h·B_tok)。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预留缓存估算见第 3 页。Jericho4：Broadcom 2025-08 新闻稿「Broadcom Ships Jericho4, Enabling Distributed AI Computing Across Data Centers」，称深缓存和硬件拥塞管理保证 100 km 以上 RoCE 无损。中国电信：2025-01/02 新闻，800G 广域无损传输、带宽收敛比 32:1。华为：2026-09 华为全联接大会新闻稿「星河 AI 网络全面升级」，称千公里无损算力运载、星络无损算法。Spectrum-XGS：NVIDIA 技术博客 2025-09，称不需要深缓存。DCP：Li et al., Revisiting RDMA Reliability for Lossy Fabrics, SIGCOMM 2025。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Go-back-N 估算：100 km 往返约 1 ms，800G 在途约 100 MB；按 4 KB MTU 约 2.5 万个包，丢包率 1e-4 时每个窗口平均就有两三个包丢失。IRN：Mittal et al., Revisiting Network Support for RDMA, SIGCOMM 2018。MRC：arXiv 2606.18170 与 OCP MRC 1.0 规范。ConnectX selective repeat 和乱序直接写入的说法来自 NVIDIA 开发者论坛帖子，非官方文档。中国移动广域快速拥塞感知：2025-07 鹿泉试验新闻。Uno：Bonato et al., SC 2025, arXiv 2510.15802。UEC：Ultra Ethernet Specification 1.0（2025-06），最新 1.0.3（2026-07）。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Jericho4：Broadcom 新闻稿 2025-08（investors.broadcom.com），StorageReview、DCD 报道；HBM 深缓存的具体结构本次未核实。Cisco 8223：Cisco 博客「Cisco powers the scale-across era」与「Cisco Silicon One P200 powers the first 51.2T scale-across routing systems」，2025-10；1000 km 为相干光模块可达距离，非实测。Spectrum-XGS：NVIDIA 技术博客「How to Connect Distributed Data Centers into Large AI Factories with Scale-Across Networking」，2025-09。中国移动：IT之家 2025-07-14 鹿泉试验报道；中国移动 MWC 2026 新闻。华为：华为官网 2026-09 新闻。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UEC：ultraethernet.org 规范下载页与 1.0.3 发布说明；选择重传位于 PDS（包交付子层），本次未逐条核对 562 页规范。Thor Ultra：Broadcom 新闻稿 2025-10-14。MRC：OpenAI 公告与 arXiv 2606.18170「The Multipath Reliable Connection (MRC) Transport」；有媒体称微软 Fairwater 跨站 AI WAN 使用 MRC，但微软原博客已撤，未证实。ConnectX：NVIDIA 开发者论坛帖子（RDMA_SELECTIVE_REPEAT_EN），非官方文档。Falcon：Google Cloud 博客 2023 与 Intel 产品页；选择重传和拥塞控制细节本次未核对，表中留空。DCP：1000 km 结果来自仿真，10 km 来自原型。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NeMo × OCI：NVIDIA 技术博客。中国电信：新浪科技 2025-01-23、2025-02-24 报道。中国移动研究院：新浪科技 2024-12-20 报道（2023 年起完成 2～100 km 多场景 OTN 承载试验，成果发表于 ECOC）。中国移动鹿泉：IT之家 2025-07-14。华为：华为官网 2026-09 新闻；银行案例所在段落讲的是星河算网一体机，未必是训练。Meta：arXiv 2510.20171。微软：Microsoft Source「From Wisconsin to Atlanta: Microsoft connects datacenters to build its first AI superfactory」与 SDxCentral 报道。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IRN：Mittal et al., SIGCOMM 2018。DCP：Li et al., Revisiting RDMA Reliability for Lossy Fabrics, SIGCOMM 2025。Uno：arXiv 2510.15802。Spillway：Scazzariello et al., Avoiding Cross-Datacenter Collective Congestion via Disaggregated Buffering, arXiv 2605.11852。LCMP：arXiv 2604.07836。GeoPipe：arXiv 2510.12064。DiLoCoX：arXiv 2506.21263。GeoMesh：arXiv 2609.18388。综述：Future Internet 17(6):242, 2025，本次未能打开全文。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贵安 XLC：910B 7520 die + 910C 27648 die = 35168 die；深圳 C3：910C 40064 die（《跨 DC.docx》图 1）。NCCL fabricId 机制见第 7 页。本页全部为推断，不代表各团队现状。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条：这些页面在本次调研中无法打开，相关内容只引用了检索摘要或没有引用。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241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来源：厂商发布、论文与运营商新闻，详见末页；效率和性能数字除注明外均为发布方自报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跨 DC 通信协议：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分层集合通信 + RoCE 100 km@有损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scale-across「产品与技术」通信协议一行：技术路线、产品与业界实践调研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2026.10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总览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一页结论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分层集合通信解决「跨 DC 传多少、怎么并行」，有损 RoCE 解决「长距离上怎么可靠地传」</a:t>
            </a:r>
            <a:endParaRPr lang="en-US" sz="1400" dirty="0"/>
          </a:p>
        </p:txBody>
      </p:sp>
      <p:sp>
        <p:nvSpPr>
          <p:cNvPr id="5" name="card_1"/>
          <p:cNvSpPr/>
          <p:nvPr/>
        </p:nvSpPr>
        <p:spPr>
          <a:xfrm>
            <a:off x="548640" y="1783080"/>
            <a:ext cx="2602154" cy="324612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um_2"/>
          <p:cNvSpPr/>
          <p:nvPr/>
        </p:nvSpPr>
        <p:spPr>
          <a:xfrm>
            <a:off x="749808" y="198424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xt_3"/>
          <p:cNvSpPr txBox="1"/>
          <p:nvPr/>
        </p:nvSpPr>
        <p:spPr>
          <a:xfrm>
            <a:off x="749808" y="2496312"/>
            <a:ext cx="2199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分层集合通信已是主流做法</a:t>
            </a:r>
            <a:endParaRPr lang="en-US" sz="1500" dirty="0"/>
          </a:p>
        </p:txBody>
      </p:sp>
      <p:sp>
        <p:nvSpPr>
          <p:cNvPr id="8" name="txt_4"/>
          <p:cNvSpPr txBox="1"/>
          <p:nvPr/>
        </p:nvSpPr>
        <p:spPr>
          <a:xfrm>
            <a:off x="749808" y="3154680"/>
            <a:ext cx="219981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DC 内先 reduce-scatter，DC 之间只交换各自 1/N 的分片，再在 DC 内 all-gather。NCCL 2025 年开源了跨 DC 拓扑感知；NVIDIA 在约 1000 km、往返 21 ms 上实测达到单 DC 的 96% 以上</a:t>
            </a:r>
            <a:endParaRPr lang="en-US" sz="1250" dirty="0"/>
          </a:p>
        </p:txBody>
      </p:sp>
      <p:sp>
        <p:nvSpPr>
          <p:cNvPr id="9" name="card_5"/>
          <p:cNvSpPr/>
          <p:nvPr/>
        </p:nvSpPr>
        <p:spPr>
          <a:xfrm>
            <a:off x="3379394" y="1783080"/>
            <a:ext cx="2602154" cy="324612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_6"/>
          <p:cNvSpPr/>
          <p:nvPr/>
        </p:nvSpPr>
        <p:spPr>
          <a:xfrm>
            <a:off x="3580562" y="198424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xt_7"/>
          <p:cNvSpPr txBox="1"/>
          <p:nvPr/>
        </p:nvSpPr>
        <p:spPr>
          <a:xfrm>
            <a:off x="3580562" y="2496312"/>
            <a:ext cx="2199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100 km 有两条路线</a:t>
            </a:r>
            <a:endParaRPr lang="en-US" sz="1500" dirty="0"/>
          </a:p>
        </p:txBody>
      </p:sp>
      <p:sp>
        <p:nvSpPr>
          <p:cNvPr id="12" name="txt_8"/>
          <p:cNvSpPr txBox="1"/>
          <p:nvPr/>
        </p:nvSpPr>
        <p:spPr>
          <a:xfrm>
            <a:off x="3580562" y="3154680"/>
            <a:ext cx="219981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无损：跨 DC 也开 PFC，靠深缓存路由器预留缓存，Broadcom Jericho4 主打这条。有损：不开 PFC，由网卡做选择重传、多路径和快速拥塞反馈，UEC、OpenAI MRC、NVIDIA Spectrum-XGS 走这条</a:t>
            </a:r>
            <a:endParaRPr lang="en-US" sz="1250" dirty="0"/>
          </a:p>
        </p:txBody>
      </p:sp>
      <p:sp>
        <p:nvSpPr>
          <p:cNvPr id="13" name="card_9"/>
          <p:cNvSpPr/>
          <p:nvPr/>
        </p:nvSpPr>
        <p:spPr>
          <a:xfrm>
            <a:off x="6210148" y="1783080"/>
            <a:ext cx="2602154" cy="324612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_10"/>
          <p:cNvSpPr/>
          <p:nvPr/>
        </p:nvSpPr>
        <p:spPr>
          <a:xfrm>
            <a:off x="6411316" y="198424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xt_11"/>
          <p:cNvSpPr txBox="1"/>
          <p:nvPr/>
        </p:nvSpPr>
        <p:spPr>
          <a:xfrm>
            <a:off x="6411316" y="2496312"/>
            <a:ext cx="2199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有损的关键在网卡传输层</a:t>
            </a:r>
            <a:endParaRPr lang="en-US" sz="1500" dirty="0"/>
          </a:p>
        </p:txBody>
      </p:sp>
      <p:sp>
        <p:nvSpPr>
          <p:cNvPr id="16" name="txt_12"/>
          <p:cNvSpPr txBox="1"/>
          <p:nvPr/>
        </p:nvSpPr>
        <p:spPr>
          <a:xfrm>
            <a:off x="6411316" y="3154680"/>
            <a:ext cx="219981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要补五项能力：选择重传、乱序接收、逐包多路径、适应长往返时延的拥塞控制、丢包快速通知。开放标准和商用网卡都已出现：UEC 1.0、Broadcom Thor Ultra、OCP MRC</a:t>
            </a:r>
            <a:endParaRPr lang="en-US" sz="1250" dirty="0"/>
          </a:p>
        </p:txBody>
      </p:sp>
      <p:sp>
        <p:nvSpPr>
          <p:cNvPr id="17" name="card_13"/>
          <p:cNvSpPr/>
          <p:nvPr/>
        </p:nvSpPr>
        <p:spPr>
          <a:xfrm>
            <a:off x="9040901" y="1783080"/>
            <a:ext cx="2602154" cy="3246120"/>
          </a:xfrm>
          <a:prstGeom prst="roundRect">
            <a:avLst>
              <a:gd name="adj" fmla="val 28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um_14"/>
          <p:cNvSpPr/>
          <p:nvPr/>
        </p:nvSpPr>
        <p:spPr>
          <a:xfrm>
            <a:off x="9242069" y="198424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xt_15"/>
          <p:cNvSpPr txBox="1"/>
          <p:nvPr/>
        </p:nvSpPr>
        <p:spPr>
          <a:xfrm>
            <a:off x="9242069" y="2496312"/>
            <a:ext cx="2199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国内实践多走无损加光传输</a:t>
            </a:r>
            <a:endParaRPr lang="en-US" sz="1500" dirty="0"/>
          </a:p>
        </p:txBody>
      </p:sp>
      <p:sp>
        <p:nvSpPr>
          <p:cNvPr id="20" name="txt_16"/>
          <p:cNvSpPr txBox="1"/>
          <p:nvPr/>
        </p:nvSpPr>
        <p:spPr>
          <a:xfrm>
            <a:off x="9242069" y="3154680"/>
            <a:ext cx="219981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中国电信 500 km 达 97% 以上，中国移动 104 km 达 98% 以上，华为称千公里达 95% 以上。全部为自报，跨域切分多为 PP 或未公开</a:t>
            </a:r>
            <a:endParaRPr lang="en-US" sz="1250" dirty="0"/>
          </a:p>
        </p:txBody>
      </p:sp>
      <p:sp>
        <p:nvSpPr>
          <p:cNvPr id="21" name="card_17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xt_18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3A43A"/>
                </a:solidFill>
              </a:rPr>
              <a:t>建议【推断】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chemeClr val="bg1"/>
                </a:solidFill>
              </a:rPr>
              <a:t>100 km 内无损、有损都走得通，目标按有损做，因为它能延伸到跨城；贵安—深圳这类千公里级只能有损加分层集合通信。协议侧的主要工作：HCCL 增加 DC 层级，昇腾 RoCE 引擎补齐有损能力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一、问题与需求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距离拉长后，DC 内 RoCE 的三个前提不再成立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以一个 800G 端口为例估算；光在光纤里单程约 5 µs/km</a:t>
            </a:r>
            <a:endParaRPr lang="en-US" sz="1400" dirty="0"/>
          </a:p>
        </p:txBody>
      </p:sp>
      <p:graphicFrame>
        <p:nvGraphicFramePr>
          <p:cNvPr id="4" name="tbl_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880360"/>
                <a:gridCol w="31848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DC 内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100 km（同城）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1000 km 级（贵安—深圳）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单程 / 往返时延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约 5 µs / 10 µs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约 0.5 ms / 1 ms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约 5 ms / 10 ms 以上；图 3 按 5～9 ms 计算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端口在途数据量（BDP）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约 1 MB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约 100 MB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约 1 GB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PFC 无损要预留的缓存（每端口每个无损队列约一个 BDP）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浅缓存交换芯片够用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64 口约 6.4 GB，只有外挂 HBM 的深缓存路由器放得下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64 口约 64 GB，不现实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丢一个包，Go-back-N 要重传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约 1 MB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约 100 MB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约 1 GB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DCQCN 拥塞反馈走一圈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约 10 µs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≥ 1 ms，慢 100 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≥ 10 ms，慢 1000 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_20"/>
          <p:cNvSpPr/>
          <p:nvPr/>
        </p:nvSpPr>
        <p:spPr>
          <a:xfrm>
            <a:off x="548640" y="4846320"/>
            <a:ext cx="354573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xt_21"/>
          <p:cNvSpPr txBox="1"/>
          <p:nvPr/>
        </p:nvSpPr>
        <p:spPr>
          <a:xfrm>
            <a:off x="777240" y="4983480"/>
            <a:ext cx="30885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前提 1：网络无损</a:t>
            </a:r>
            <a:endParaRPr lang="en-US" sz="1500" dirty="0"/>
          </a:p>
        </p:txBody>
      </p:sp>
      <p:sp>
        <p:nvSpPr>
          <p:cNvPr id="8" name="txt_22"/>
          <p:cNvSpPr txBox="1"/>
          <p:nvPr/>
        </p:nvSpPr>
        <p:spPr>
          <a:xfrm>
            <a:off x="777240" y="537667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PFC 要为在途数据预留缓存，缓存需求随距离线性增长</a:t>
            </a:r>
            <a:endParaRPr lang="en-US" sz="1300" dirty="0"/>
          </a:p>
        </p:txBody>
      </p:sp>
      <p:sp>
        <p:nvSpPr>
          <p:cNvPr id="9" name="card_23"/>
          <p:cNvSpPr/>
          <p:nvPr/>
        </p:nvSpPr>
        <p:spPr>
          <a:xfrm>
            <a:off x="4322978" y="4846320"/>
            <a:ext cx="354573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_24"/>
          <p:cNvSpPr txBox="1"/>
          <p:nvPr/>
        </p:nvSpPr>
        <p:spPr>
          <a:xfrm>
            <a:off x="4551578" y="4983480"/>
            <a:ext cx="30885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前提 2：很少丢包</a:t>
            </a:r>
            <a:endParaRPr lang="en-US" sz="1500" dirty="0"/>
          </a:p>
        </p:txBody>
      </p:sp>
      <p:sp>
        <p:nvSpPr>
          <p:cNvPr id="11" name="txt_25"/>
          <p:cNvSpPr txBox="1"/>
          <p:nvPr/>
        </p:nvSpPr>
        <p:spPr>
          <a:xfrm>
            <a:off x="4551578" y="537667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RoCE 默认 Go-back-N，丢一个包要把整个在途窗口重发一遍</a:t>
            </a:r>
            <a:endParaRPr lang="en-US" sz="1300" dirty="0"/>
          </a:p>
        </p:txBody>
      </p:sp>
      <p:sp>
        <p:nvSpPr>
          <p:cNvPr id="12" name="card_26"/>
          <p:cNvSpPr/>
          <p:nvPr/>
        </p:nvSpPr>
        <p:spPr>
          <a:xfrm>
            <a:off x="8097317" y="4846320"/>
            <a:ext cx="354573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_27"/>
          <p:cNvSpPr txBox="1"/>
          <p:nvPr/>
        </p:nvSpPr>
        <p:spPr>
          <a:xfrm>
            <a:off x="8325917" y="4983480"/>
            <a:ext cx="30885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前提 3：拥塞反馈快</a:t>
            </a:r>
            <a:endParaRPr lang="en-US" sz="1500" dirty="0"/>
          </a:p>
        </p:txBody>
      </p:sp>
      <p:sp>
        <p:nvSpPr>
          <p:cNvPr id="14" name="txt_28"/>
          <p:cNvSpPr txBox="1"/>
          <p:nvPr/>
        </p:nvSpPr>
        <p:spPr>
          <a:xfrm>
            <a:off x="8325917" y="5376672"/>
            <a:ext cx="30885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反馈回到发送端之前，一个 800G 端口已经多灌进 100 MB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一、问题与需求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协议效率直接折算成要买多少跨 DC 带宽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跨 DC 有效带宽 = 物理带宽 × 协议利用率；目标取《跨 DC.docx》图 3 中 6 ms 时延、性能损失 10% 的点</a:t>
            </a:r>
            <a:endParaRPr lang="en-US" sz="1400" dirty="0"/>
          </a:p>
        </p:txBody>
      </p:sp>
      <p:sp>
        <p:nvSpPr>
          <p:cNvPr id="5" name="card_29"/>
          <p:cNvSpPr/>
          <p:nvPr/>
        </p:nvSpPr>
        <p:spPr>
          <a:xfrm>
            <a:off x="548640" y="178308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_30"/>
          <p:cNvSpPr txBox="1"/>
          <p:nvPr/>
        </p:nvSpPr>
        <p:spPr>
          <a:xfrm>
            <a:off x="777240" y="18928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8～23 Tbps</a:t>
            </a:r>
            <a:endParaRPr lang="en-US" sz="2800" dirty="0"/>
          </a:p>
        </p:txBody>
      </p:sp>
      <p:sp>
        <p:nvSpPr>
          <p:cNvPr id="7" name="txt_31"/>
          <p:cNvSpPr txBox="1"/>
          <p:nvPr/>
        </p:nvSpPr>
        <p:spPr>
          <a:xfrm>
            <a:off x="777240" y="2468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跨 DC 数据并行梯度同步的带宽需求（v5 测算，DeepSeek-V3 口径）</a:t>
            </a:r>
            <a:endParaRPr lang="en-US" sz="1250" dirty="0"/>
          </a:p>
        </p:txBody>
      </p:sp>
      <p:sp>
        <p:nvSpPr>
          <p:cNvPr id="8" name="card_32"/>
          <p:cNvSpPr/>
          <p:nvPr/>
        </p:nvSpPr>
        <p:spPr>
          <a:xfrm>
            <a:off x="548640" y="324612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_33"/>
          <p:cNvSpPr txBox="1"/>
          <p:nvPr/>
        </p:nvSpPr>
        <p:spPr>
          <a:xfrm>
            <a:off x="777240" y="33558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24.42 Tbps</a:t>
            </a:r>
            <a:endParaRPr lang="en-US" sz="2800" dirty="0"/>
          </a:p>
        </p:txBody>
      </p:sp>
      <p:sp>
        <p:nvSpPr>
          <p:cNvPr id="10" name="txt_34"/>
          <p:cNvSpPr txBox="1"/>
          <p:nvPr/>
        </p:nvSpPr>
        <p:spPr>
          <a:xfrm>
            <a:off x="777240" y="3931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图 3：时延 6 ms 时，性能损失控制在 10% 需要的带宽</a:t>
            </a:r>
            <a:endParaRPr lang="en-US" sz="1250" dirty="0"/>
          </a:p>
        </p:txBody>
      </p:sp>
      <p:sp>
        <p:nvSpPr>
          <p:cNvPr id="11" name="card_35"/>
          <p:cNvSpPr/>
          <p:nvPr/>
        </p:nvSpPr>
        <p:spPr>
          <a:xfrm>
            <a:off x="548640" y="470916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xt_36"/>
          <p:cNvSpPr txBox="1"/>
          <p:nvPr/>
        </p:nvSpPr>
        <p:spPr>
          <a:xfrm>
            <a:off x="777240" y="48188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40.22 Tbps</a:t>
            </a:r>
            <a:endParaRPr lang="en-US" sz="2800" dirty="0"/>
          </a:p>
        </p:txBody>
      </p:sp>
      <p:sp>
        <p:nvSpPr>
          <p:cNvPr id="13" name="txt_37"/>
          <p:cNvSpPr txBox="1"/>
          <p:nvPr/>
        </p:nvSpPr>
        <p:spPr>
          <a:xfrm>
            <a:off x="777240" y="5394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图 3：同样时延，性能损失控制在 5% 需要的带宽</a:t>
            </a:r>
            <a:endParaRPr lang="en-US" sz="1250" dirty="0"/>
          </a:p>
        </p:txBody>
      </p:sp>
      <p:sp>
        <p:nvSpPr>
          <p:cNvPr id="14" name="txt_38"/>
          <p:cNvSpPr txBox="1"/>
          <p:nvPr/>
        </p:nvSpPr>
        <p:spPr>
          <a:xfrm>
            <a:off x="4663440" y="1783080"/>
            <a:ext cx="6979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要拿到 24.42 Tbps 有效带宽，需要多少物理带宽</a:t>
            </a:r>
            <a:endParaRPr lang="en-US" sz="1500" dirty="0"/>
          </a:p>
        </p:txBody>
      </p:sp>
      <p:graphicFrame>
        <p:nvGraphicFramePr>
          <p:cNvPr id="5" name="tbl_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240280"/>
          <a:ext cx="69796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34134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协议利用率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需要的物理带宽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折合 800G 端口数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90%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约 27.1 Tbps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34 个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70%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约 34.9 Tbps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44 个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约 48.8 Tbps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62 个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card_40"/>
          <p:cNvSpPr/>
          <p:nvPr/>
        </p:nvSpPr>
        <p:spPr>
          <a:xfrm>
            <a:off x="4663440" y="4160520"/>
            <a:ext cx="697961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xt_41"/>
          <p:cNvSpPr txBox="1"/>
          <p:nvPr/>
        </p:nvSpPr>
        <p:spPr>
          <a:xfrm>
            <a:off x="4937760" y="425196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两个推论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1. 利用率每差 10 个百分点，多要 3～6 Tbps 光层带宽。协议做得好，省下的是实打实的光模块和光纤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2. 要同时跑满三四十个 800G 端口，单条连接远远不够：要么很多对 rank 并行（分层集合通信天然提供），要么一条连接的包分散到多条路径（逐包多路径）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二、分层集合通信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分层集合通信：跨 DC 只走一轮，而且多对并行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以两个 DC、每个 DC N 个 rank、每个 rank 梯度 G 字节的 all-reduce 为例</a:t>
            </a:r>
            <a:endParaRPr lang="en-US" sz="1400" dirty="0"/>
          </a:p>
        </p:txBody>
      </p:sp>
      <p:sp>
        <p:nvSpPr>
          <p:cNvPr id="5" name="card_42"/>
          <p:cNvSpPr/>
          <p:nvPr/>
        </p:nvSpPr>
        <p:spPr>
          <a:xfrm>
            <a:off x="548640" y="1783080"/>
            <a:ext cx="580644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c_43"/>
          <p:cNvSpPr/>
          <p:nvPr/>
        </p:nvSpPr>
        <p:spPr>
          <a:xfrm>
            <a:off x="822960" y="2286000"/>
            <a:ext cx="2103120" cy="233172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xt_44"/>
          <p:cNvSpPr txBox="1"/>
          <p:nvPr/>
        </p:nvSpPr>
        <p:spPr>
          <a:xfrm>
            <a:off x="960120" y="2359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DC A</a:t>
            </a:r>
            <a:endParaRPr lang="en-US" sz="1300" dirty="0"/>
          </a:p>
        </p:txBody>
      </p:sp>
      <p:sp>
        <p:nvSpPr>
          <p:cNvPr id="8" name="txt_45"/>
          <p:cNvSpPr txBox="1"/>
          <p:nvPr/>
        </p:nvSpPr>
        <p:spPr>
          <a:xfrm>
            <a:off x="1737360" y="2359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①RS  ③AG</a:t>
            </a:r>
            <a:endParaRPr lang="en-US" sz="1100" dirty="0"/>
          </a:p>
        </p:txBody>
      </p:sp>
      <p:sp>
        <p:nvSpPr>
          <p:cNvPr id="9" name="rank_46"/>
          <p:cNvSpPr/>
          <p:nvPr/>
        </p:nvSpPr>
        <p:spPr>
          <a:xfrm>
            <a:off x="1097280" y="2724912"/>
            <a:ext cx="1097280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rank 1</a:t>
            </a:r>
            <a:endParaRPr lang="en-US" sz="1100" dirty="0"/>
          </a:p>
        </p:txBody>
      </p:sp>
      <p:sp>
        <p:nvSpPr>
          <p:cNvPr id="10" name="rank_47"/>
          <p:cNvSpPr/>
          <p:nvPr/>
        </p:nvSpPr>
        <p:spPr>
          <a:xfrm>
            <a:off x="1097280" y="3182112"/>
            <a:ext cx="1097280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rank 2</a:t>
            </a:r>
            <a:endParaRPr lang="en-US" sz="1100" dirty="0"/>
          </a:p>
        </p:txBody>
      </p:sp>
      <p:sp>
        <p:nvSpPr>
          <p:cNvPr id="11" name="txt_48"/>
          <p:cNvSpPr txBox="1"/>
          <p:nvPr/>
        </p:nvSpPr>
        <p:spPr>
          <a:xfrm>
            <a:off x="1097280" y="3639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⋮</a:t>
            </a:r>
            <a:endParaRPr lang="en-US" sz="1400" dirty="0"/>
          </a:p>
        </p:txBody>
      </p:sp>
      <p:sp>
        <p:nvSpPr>
          <p:cNvPr id="12" name="rank_49"/>
          <p:cNvSpPr/>
          <p:nvPr/>
        </p:nvSpPr>
        <p:spPr>
          <a:xfrm>
            <a:off x="1097280" y="4096512"/>
            <a:ext cx="1097280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rank N</a:t>
            </a:r>
            <a:endParaRPr lang="en-US" sz="1100" dirty="0"/>
          </a:p>
        </p:txBody>
      </p:sp>
      <p:sp>
        <p:nvSpPr>
          <p:cNvPr id="13" name="dc_50"/>
          <p:cNvSpPr/>
          <p:nvPr/>
        </p:nvSpPr>
        <p:spPr>
          <a:xfrm>
            <a:off x="3977640" y="2286000"/>
            <a:ext cx="2103120" cy="233172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xt_51"/>
          <p:cNvSpPr txBox="1"/>
          <p:nvPr/>
        </p:nvSpPr>
        <p:spPr>
          <a:xfrm>
            <a:off x="4114800" y="2359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DC B</a:t>
            </a:r>
            <a:endParaRPr lang="en-US" sz="1300" dirty="0"/>
          </a:p>
        </p:txBody>
      </p:sp>
      <p:sp>
        <p:nvSpPr>
          <p:cNvPr id="15" name="txt_52"/>
          <p:cNvSpPr txBox="1"/>
          <p:nvPr/>
        </p:nvSpPr>
        <p:spPr>
          <a:xfrm>
            <a:off x="4892040" y="2359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①RS  ③AG</a:t>
            </a:r>
            <a:endParaRPr lang="en-US" sz="1100" dirty="0"/>
          </a:p>
        </p:txBody>
      </p:sp>
      <p:sp>
        <p:nvSpPr>
          <p:cNvPr id="16" name="rank_53"/>
          <p:cNvSpPr/>
          <p:nvPr/>
        </p:nvSpPr>
        <p:spPr>
          <a:xfrm>
            <a:off x="4251960" y="2724912"/>
            <a:ext cx="1097280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rank 1</a:t>
            </a:r>
            <a:endParaRPr lang="en-US" sz="1100" dirty="0"/>
          </a:p>
        </p:txBody>
      </p:sp>
      <p:sp>
        <p:nvSpPr>
          <p:cNvPr id="17" name="rank_54"/>
          <p:cNvSpPr/>
          <p:nvPr/>
        </p:nvSpPr>
        <p:spPr>
          <a:xfrm>
            <a:off x="4251960" y="3182112"/>
            <a:ext cx="1097280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rank 2</a:t>
            </a:r>
            <a:endParaRPr lang="en-US" sz="1100" dirty="0"/>
          </a:p>
        </p:txBody>
      </p:sp>
      <p:sp>
        <p:nvSpPr>
          <p:cNvPr id="18" name="txt_55"/>
          <p:cNvSpPr txBox="1"/>
          <p:nvPr/>
        </p:nvSpPr>
        <p:spPr>
          <a:xfrm>
            <a:off x="4251960" y="3639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⋮</a:t>
            </a:r>
            <a:endParaRPr lang="en-US" sz="1400" dirty="0"/>
          </a:p>
        </p:txBody>
      </p:sp>
      <p:sp>
        <p:nvSpPr>
          <p:cNvPr id="19" name="rank_56"/>
          <p:cNvSpPr/>
          <p:nvPr/>
        </p:nvSpPr>
        <p:spPr>
          <a:xfrm>
            <a:off x="4251960" y="4096512"/>
            <a:ext cx="1097280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rank N</a:t>
            </a:r>
            <a:endParaRPr lang="en-US" sz="1100" dirty="0"/>
          </a:p>
        </p:txBody>
      </p:sp>
      <p:sp>
        <p:nvSpPr>
          <p:cNvPr id="20" name="line_57"/>
          <p:cNvSpPr/>
          <p:nvPr/>
        </p:nvSpPr>
        <p:spPr>
          <a:xfrm>
            <a:off x="2194560" y="2907792"/>
            <a:ext cx="20574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21" name="line_58"/>
          <p:cNvSpPr/>
          <p:nvPr/>
        </p:nvSpPr>
        <p:spPr>
          <a:xfrm>
            <a:off x="2194560" y="3364992"/>
            <a:ext cx="20574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22" name="line_59"/>
          <p:cNvSpPr/>
          <p:nvPr/>
        </p:nvSpPr>
        <p:spPr>
          <a:xfrm>
            <a:off x="2194560" y="4279392"/>
            <a:ext cx="20574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23" name="txt_60"/>
          <p:cNvSpPr txBox="1"/>
          <p:nvPr/>
        </p:nvSpPr>
        <p:spPr>
          <a:xfrm>
            <a:off x="822960" y="189280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② 跨 DC：同号 rank 两两交换各自的 1/N 分片</a:t>
            </a:r>
            <a:endParaRPr lang="en-US" sz="1250" dirty="0"/>
          </a:p>
        </p:txBody>
      </p:sp>
      <p:sp>
        <p:nvSpPr>
          <p:cNvPr id="24" name="card_61"/>
          <p:cNvSpPr/>
          <p:nvPr/>
        </p:nvSpPr>
        <p:spPr>
          <a:xfrm>
            <a:off x="548640" y="4983480"/>
            <a:ext cx="1844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xt_62"/>
          <p:cNvSpPr txBox="1"/>
          <p:nvPr/>
        </p:nvSpPr>
        <p:spPr>
          <a:xfrm>
            <a:off x="685800" y="5093208"/>
            <a:ext cx="1569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① DC 内 RS</a:t>
            </a:r>
            <a:endParaRPr lang="en-US" sz="1250" dirty="0"/>
          </a:p>
        </p:txBody>
      </p:sp>
      <p:sp>
        <p:nvSpPr>
          <p:cNvPr id="26" name="txt_63"/>
          <p:cNvSpPr txBox="1"/>
          <p:nvPr/>
        </p:nvSpPr>
        <p:spPr>
          <a:xfrm>
            <a:off x="685800" y="5458968"/>
            <a:ext cx="156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reduce-scatter：每个 rank 拿到本 DC 梯度和的 1/N</a:t>
            </a:r>
            <a:endParaRPr lang="en-US" sz="1200" dirty="0"/>
          </a:p>
        </p:txBody>
      </p:sp>
      <p:sp>
        <p:nvSpPr>
          <p:cNvPr id="27" name="card_64"/>
          <p:cNvSpPr/>
          <p:nvPr/>
        </p:nvSpPr>
        <p:spPr>
          <a:xfrm>
            <a:off x="2529840" y="4983480"/>
            <a:ext cx="184404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xt_65"/>
          <p:cNvSpPr txBox="1"/>
          <p:nvPr/>
        </p:nvSpPr>
        <p:spPr>
          <a:xfrm>
            <a:off x="2667000" y="5093208"/>
            <a:ext cx="1569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② 跨 DC 交换分片</a:t>
            </a:r>
            <a:endParaRPr lang="en-US" sz="1250" dirty="0"/>
          </a:p>
        </p:txBody>
      </p:sp>
      <p:sp>
        <p:nvSpPr>
          <p:cNvPr id="29" name="txt_66"/>
          <p:cNvSpPr txBox="1"/>
          <p:nvPr/>
        </p:nvSpPr>
        <p:spPr>
          <a:xfrm>
            <a:off x="2667000" y="5458968"/>
            <a:ext cx="156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N 对 rank 同时跨 DC，各传 G/N</a:t>
            </a:r>
            <a:endParaRPr lang="en-US" sz="1200" dirty="0"/>
          </a:p>
        </p:txBody>
      </p:sp>
      <p:sp>
        <p:nvSpPr>
          <p:cNvPr id="30" name="card_67"/>
          <p:cNvSpPr/>
          <p:nvPr/>
        </p:nvSpPr>
        <p:spPr>
          <a:xfrm>
            <a:off x="4511040" y="4983480"/>
            <a:ext cx="1844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xt_68"/>
          <p:cNvSpPr txBox="1"/>
          <p:nvPr/>
        </p:nvSpPr>
        <p:spPr>
          <a:xfrm>
            <a:off x="4648200" y="5093208"/>
            <a:ext cx="1569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③ DC 内 AG</a:t>
            </a:r>
            <a:endParaRPr lang="en-US" sz="1250" dirty="0"/>
          </a:p>
        </p:txBody>
      </p:sp>
      <p:sp>
        <p:nvSpPr>
          <p:cNvPr id="32" name="txt_69"/>
          <p:cNvSpPr txBox="1"/>
          <p:nvPr/>
        </p:nvSpPr>
        <p:spPr>
          <a:xfrm>
            <a:off x="4648200" y="5458968"/>
            <a:ext cx="1569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all-gather：把分片拼回完整梯度</a:t>
            </a:r>
            <a:endParaRPr lang="en-US" sz="1200" dirty="0"/>
          </a:p>
        </p:txBody>
      </p:sp>
      <p:graphicFrame>
        <p:nvGraphicFramePr>
          <p:cNvPr id="6" name="tbl_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783080"/>
          <a:ext cx="505937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874520"/>
                <a:gridCol w="176753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平铺成一个大环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分层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跨 DC 字节（每个方向）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约 2G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C80"/>
                          </a:solidFill>
                        </a:rPr>
                        <a:t>约 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承载跨 DC 流量的连接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每个通道只有 2 条，集中在少数节点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C80"/>
                          </a:solidFill>
                        </a:rPr>
                        <a:t>N 对 rank 同时并行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时延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每个数据块要绕整圈，经过所有 rank，时延项随总 rank 数增长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C80"/>
                          </a:solidFill>
                        </a:rPr>
                        <a:t>跨 DC 只有中间一轮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两边规模不等时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难处理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C80"/>
                          </a:solidFill>
                        </a:rPr>
                        <a:t>可按两边规模分配分片，每层选不同算法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34" name="card_71"/>
          <p:cNvSpPr/>
          <p:nvPr/>
        </p:nvSpPr>
        <p:spPr>
          <a:xfrm>
            <a:off x="6583680" y="5120640"/>
            <a:ext cx="505937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xt_72"/>
          <p:cNvSpPr txBox="1"/>
          <p:nvPr/>
        </p:nvSpPr>
        <p:spPr>
          <a:xfrm>
            <a:off x="6812280" y="5120640"/>
            <a:ext cx="46021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昇腾集群可以分三层：超节点内高速互连 → DC 内参数面 → 跨 DC。跨 DC 一般只放数据并行和流水线并行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二、分层集合通信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DP 分层与 HSDP：跨 DC 那一段相同，区别在 DC 内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以两个 DC、每个 DC N 张卡、梯度 G 字节、参数 P 字节为例；跨 DC 的流量形态三者一样</a:t>
            </a:r>
            <a:endParaRPr lang="en-US" sz="1400" dirty="0"/>
          </a:p>
        </p:txBody>
      </p:sp>
      <p:graphicFrame>
        <p:nvGraphicFramePr>
          <p:cNvPr id="7" name="tbl_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88538"/>
                <a:gridCol w="3088538"/>
                <a:gridCol w="308853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普通 DP + 分层 all-reduce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HSDP · ZeRO-1 级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HSDP · ZeRO-3 级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每张卡存什么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完整的参数、梯度、优化器状态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完整参数；优化器状态只存 1/N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参数、梯度、优化器状态都存 1/N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每卡显存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最大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中等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最小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第一步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DC 内 reduce-scatter 梯度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同左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每层反向时 DC 内 reduce-scatter 梯度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第二步（跨 DC）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C80"/>
                          </a:solidFill>
                        </a:rPr>
                        <a:t>同号卡 all-reduce 1/N 梯度分片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C80"/>
                          </a:solidFill>
                        </a:rPr>
                        <a:t>同左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C80"/>
                          </a:solidFill>
                        </a:rPr>
                        <a:t>同左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第三步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DC 内 all-gather 梯度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更新自己那 1/N 参数，再 DC 内 all-gather 参数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不做，下一步用到哪层再 all-gather 哪层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优化器更新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每张卡更新整份参数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每张卡只更新 1/N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每张卡只更新 1/N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跨 DC 字节（每个方向）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C80"/>
                          </a:solidFill>
                        </a:rPr>
                        <a:t>约 G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C80"/>
                          </a:solidFill>
                        </a:rPr>
                        <a:t>约 G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C80"/>
                          </a:solidFill>
                        </a:rPr>
                        <a:t>约 G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DC 内字节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约 2G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约 2G（all-gather 的是参数）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约 3P，每层都做 all-gather 和 reduce-scatter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代表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NeMo 多 DC 分层 all-reduce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Megatron 分布式优化器（DC 内分片）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PyTorch HYBRID_SHARD；Meta HSDP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_74"/>
          <p:cNvSpPr/>
          <p:nvPr/>
        </p:nvSpPr>
        <p:spPr>
          <a:xfrm>
            <a:off x="548640" y="5669280"/>
            <a:ext cx="11094415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xt_75"/>
          <p:cNvSpPr txBox="1"/>
          <p:nvPr/>
        </p:nvSpPr>
        <p:spPr>
          <a:xfrm>
            <a:off x="822960" y="5669280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怎么选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显存够 → 普通 DP 分层；优化器状态放不下 → ZeRO-1 级 HSDP；参数也放不下 → ZeRO-3 级 HSDP。分片组都只能在 DC 内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二、分层集合通信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业界实现：NCCL、NeMo、NCCLX 都已支持跨 DC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HCCL 的公开文档目前只到超节点间这一级</a:t>
            </a:r>
            <a:endParaRPr lang="en-US" sz="1400" dirty="0"/>
          </a:p>
        </p:txBody>
      </p:sp>
      <p:graphicFrame>
        <p:nvGraphicFramePr>
          <p:cNvPr id="8" name="tbl_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514600"/>
                <a:gridCol w="4206240"/>
                <a:gridCol w="245333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方案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怎么分层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跨 DC 相关能力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公开效果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NCCL 跨 DC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NVIDIA，2025-07 开源分支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网络插件给每个网口一个 fabricId，NCCL 据此区分 DC 内和跨 DC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ring：DC 内重排 rank，DC 之间只留 2(nDC−1) 条连接；tree：DC 内建树再串起来，深度 (nDC−1)+log₂(节点数)；NCCL_SCATTER_XDC 把跨 DC 流量分散到多个节点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未给实测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NeMo / Megatron-Core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NVIDIA，25.02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三个通信组：DC 内 RS → 跨 DC AR → DC 内 AG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优化器状态在 DC 内分片、跨 DC 复制；跨 DC 传输分块并与计算重叠；跨 DC 只放 DP 和 PP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约 1000 km、往返 21 ms、3072 GPU、Nemotron-4 340B：达到单 DC 的 96% 以上（MFU 49% 对 51%）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NCCLX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Meta，2025-10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机架内 / 跨机架 / 跨 AI Zone / 跨楼四档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按连接类型调 QP 数、在途消息数、分段大小；跨楼梯度同步用 ring 限制并发；不用 DCQCN，靠深缓存交换机加库内接收端流控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Llama 4 每步时延最多降 12%；跨楼时延约为机架内 30 倍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HCCL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华为昇腾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服务器内 / 服务器间 / 超节点间三级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Mesh、Ring、RHD、Pairwise、Pipeline、NHR（非均匀分层环）、NB（非均匀 Bruck），按规模自动选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公开文档未见跨 DC 层级【需确认】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Google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Gemini 1.0 Ultra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SuperPod 内模型并行，SuperPod 之间、DC 之间数据并行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集群内走 Jupiter，集群间走 B4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未公开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二、分层集合通信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分层之外：再减跨 DC 的字节和次数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前两项不改训练语义；后三项会改变优化过程，要和算法侧一起验证收敛</a:t>
            </a:r>
            <a:endParaRPr lang="en-US" sz="1400" dirty="0"/>
          </a:p>
        </p:txBody>
      </p:sp>
      <p:graphicFrame>
        <p:nvGraphicFramePr>
          <p:cNvPr id="9" name="tbl_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1783080"/>
                <a:gridCol w="2148840"/>
                <a:gridCol w="259049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手段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做法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省什么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代价 / 风险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代表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通信与计算重叠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跨 DC 梯度分块，边算边传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把传输藏进计算窗口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计算窗口要够长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NeMo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跨 DC 只切 PP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只把流水线边界放在 DC 之间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每步只传边界激活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有气泡；两边算力要配平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中国移动 104 km；GeoPipe（昇腾，气泡最多降 78.91%）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一步延迟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本步通信和下一步计算并行，用晚一步的梯度更新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跨 DC 时延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梯度晚一步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DiLoCoX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梯度压缩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低比特、稀疏或只传符号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字节数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精度损失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DiLoCoX（自适应压缩）、GeoMesh（符号压缩）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低频同步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各 DC 本地跑若干步再同步一次（DiLoCo 一类）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同步次数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改变优化算法，大模型上仍在验证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DiLoCo、Streaming DiLoCo、DiLoCoX（1 Gbps 上训 107B）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_78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xt_79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和 v5 测算的关系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v5 的结论是 10T 以上的模型跨站切 PP 比切 DP 省带宽；不论切哪种，DC 内都应先做分层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三、RoCE 100 km@有损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100 km 有两条路线：无损靠深缓存，有损靠网卡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100 km 时两条路都走得通；到 1000 km，无损需要的预留缓存不现实</a:t>
            </a:r>
            <a:endParaRPr lang="en-US" sz="1400" dirty="0"/>
          </a:p>
        </p:txBody>
      </p:sp>
      <p:sp>
        <p:nvSpPr>
          <p:cNvPr id="5" name="colhd_80"/>
          <p:cNvSpPr/>
          <p:nvPr/>
        </p:nvSpPr>
        <p:spPr>
          <a:xfrm>
            <a:off x="548640" y="1783080"/>
            <a:ext cx="5410048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_81"/>
          <p:cNvSpPr txBox="1"/>
          <p:nvPr/>
        </p:nvSpPr>
        <p:spPr>
          <a:xfrm>
            <a:off x="777240" y="1783080"/>
            <a:ext cx="495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无损：跨 DC 也开 PFC</a:t>
            </a:r>
            <a:endParaRPr lang="en-US" sz="1600" dirty="0"/>
          </a:p>
        </p:txBody>
      </p:sp>
      <p:sp>
        <p:nvSpPr>
          <p:cNvPr id="7" name="card_82"/>
          <p:cNvSpPr/>
          <p:nvPr/>
        </p:nvSpPr>
        <p:spPr>
          <a:xfrm>
            <a:off x="548640" y="2377440"/>
            <a:ext cx="54100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_83"/>
          <p:cNvSpPr txBox="1"/>
          <p:nvPr/>
        </p:nvSpPr>
        <p:spPr>
          <a:xfrm>
            <a:off x="731520" y="23774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原理</a:t>
            </a:r>
            <a:endParaRPr lang="en-US" sz="1300" dirty="0"/>
          </a:p>
        </p:txBody>
      </p:sp>
      <p:sp>
        <p:nvSpPr>
          <p:cNvPr id="9" name="txt_84"/>
          <p:cNvSpPr txBox="1"/>
          <p:nvPr/>
        </p:nvSpPr>
        <p:spPr>
          <a:xfrm>
            <a:off x="1463040" y="237744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路由器为每个无损队列预留约一个 BDP 的缓存，满了就让上游暂停</a:t>
            </a:r>
            <a:endParaRPr lang="en-US" sz="1200" dirty="0"/>
          </a:p>
        </p:txBody>
      </p:sp>
      <p:sp>
        <p:nvSpPr>
          <p:cNvPr id="10" name="card_85"/>
          <p:cNvSpPr/>
          <p:nvPr/>
        </p:nvSpPr>
        <p:spPr>
          <a:xfrm>
            <a:off x="548640" y="3108960"/>
            <a:ext cx="54100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xt_86"/>
          <p:cNvSpPr txBox="1"/>
          <p:nvPr/>
        </p:nvSpPr>
        <p:spPr>
          <a:xfrm>
            <a:off x="731520" y="31089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依赖</a:t>
            </a:r>
            <a:endParaRPr lang="en-US" sz="1300" dirty="0"/>
          </a:p>
        </p:txBody>
      </p:sp>
      <p:sp>
        <p:nvSpPr>
          <p:cNvPr id="12" name="txt_87"/>
          <p:cNvSpPr txBox="1"/>
          <p:nvPr/>
        </p:nvSpPr>
        <p:spPr>
          <a:xfrm>
            <a:off x="1463040" y="310896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深缓存 DCI 路由器（外挂 HBM，GB 级）；网卡沿用现有 RoCE</a:t>
            </a:r>
            <a:endParaRPr lang="en-US" sz="1200" dirty="0"/>
          </a:p>
        </p:txBody>
      </p:sp>
      <p:sp>
        <p:nvSpPr>
          <p:cNvPr id="13" name="card_88"/>
          <p:cNvSpPr/>
          <p:nvPr/>
        </p:nvSpPr>
        <p:spPr>
          <a:xfrm>
            <a:off x="548640" y="3840480"/>
            <a:ext cx="54100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xt_89"/>
          <p:cNvSpPr txBox="1"/>
          <p:nvPr/>
        </p:nvSpPr>
        <p:spPr>
          <a:xfrm>
            <a:off x="731520" y="38404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好处</a:t>
            </a:r>
            <a:endParaRPr lang="en-US" sz="1300" dirty="0"/>
          </a:p>
        </p:txBody>
      </p:sp>
      <p:sp>
        <p:nvSpPr>
          <p:cNvPr id="15" name="txt_90"/>
          <p:cNvSpPr txBox="1"/>
          <p:nvPr/>
        </p:nvSpPr>
        <p:spPr>
          <a:xfrm>
            <a:off x="1463040" y="384048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网卡和集合通信库基本不用改</a:t>
            </a:r>
            <a:endParaRPr lang="en-US" sz="1200" dirty="0"/>
          </a:p>
        </p:txBody>
      </p:sp>
      <p:sp>
        <p:nvSpPr>
          <p:cNvPr id="16" name="card_91"/>
          <p:cNvSpPr/>
          <p:nvPr/>
        </p:nvSpPr>
        <p:spPr>
          <a:xfrm>
            <a:off x="548640" y="4572000"/>
            <a:ext cx="54100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xt_92"/>
          <p:cNvSpPr txBox="1"/>
          <p:nvPr/>
        </p:nvSpPr>
        <p:spPr>
          <a:xfrm>
            <a:off x="731520" y="45720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风险</a:t>
            </a:r>
            <a:endParaRPr lang="en-US" sz="1300" dirty="0"/>
          </a:p>
        </p:txBody>
      </p:sp>
      <p:sp>
        <p:nvSpPr>
          <p:cNvPr id="18" name="txt_93"/>
          <p:cNvSpPr txBox="1"/>
          <p:nvPr/>
        </p:nvSpPr>
        <p:spPr>
          <a:xfrm>
            <a:off x="1463040" y="457200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PFC 风暴、队头阻塞、死锁会跨 DC 传播；预留缓存随距离线性增长</a:t>
            </a:r>
            <a:endParaRPr lang="en-US" sz="1200" dirty="0"/>
          </a:p>
        </p:txBody>
      </p:sp>
      <p:sp>
        <p:nvSpPr>
          <p:cNvPr id="19" name="card_94"/>
          <p:cNvSpPr/>
          <p:nvPr/>
        </p:nvSpPr>
        <p:spPr>
          <a:xfrm>
            <a:off x="548640" y="5303520"/>
            <a:ext cx="54100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xt_95"/>
          <p:cNvSpPr txBox="1"/>
          <p:nvPr/>
        </p:nvSpPr>
        <p:spPr>
          <a:xfrm>
            <a:off x="731520" y="53035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代表</a:t>
            </a:r>
            <a:endParaRPr lang="en-US" sz="1300" dirty="0"/>
          </a:p>
        </p:txBody>
      </p:sp>
      <p:sp>
        <p:nvSpPr>
          <p:cNvPr id="21" name="txt_96"/>
          <p:cNvSpPr txBox="1"/>
          <p:nvPr/>
        </p:nvSpPr>
        <p:spPr>
          <a:xfrm>
            <a:off x="1463040" y="530352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Broadcom Jericho4（称 100 km 以上无损 RoCE）；中国电信 500 km「广域无损」；华为称千公里无损（机制未公开）</a:t>
            </a:r>
            <a:endParaRPr lang="en-US" sz="1200" dirty="0"/>
          </a:p>
        </p:txBody>
      </p:sp>
      <p:sp>
        <p:nvSpPr>
          <p:cNvPr id="22" name="colhd_97"/>
          <p:cNvSpPr/>
          <p:nvPr/>
        </p:nvSpPr>
        <p:spPr>
          <a:xfrm>
            <a:off x="6233008" y="1783080"/>
            <a:ext cx="5410048" cy="475488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xt_98"/>
          <p:cNvSpPr txBox="1"/>
          <p:nvPr/>
        </p:nvSpPr>
        <p:spPr>
          <a:xfrm>
            <a:off x="6461608" y="1783080"/>
            <a:ext cx="495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有损：不开 PFC，端侧负责可靠</a:t>
            </a:r>
            <a:endParaRPr lang="en-US" sz="1600" dirty="0"/>
          </a:p>
        </p:txBody>
      </p:sp>
      <p:sp>
        <p:nvSpPr>
          <p:cNvPr id="24" name="card_99"/>
          <p:cNvSpPr/>
          <p:nvPr/>
        </p:nvSpPr>
        <p:spPr>
          <a:xfrm>
            <a:off x="6233008" y="2377440"/>
            <a:ext cx="54100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xt_100"/>
          <p:cNvSpPr txBox="1"/>
          <p:nvPr/>
        </p:nvSpPr>
        <p:spPr>
          <a:xfrm>
            <a:off x="6415888" y="23774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原理</a:t>
            </a:r>
            <a:endParaRPr lang="en-US" sz="1300" dirty="0"/>
          </a:p>
        </p:txBody>
      </p:sp>
      <p:sp>
        <p:nvSpPr>
          <p:cNvPr id="26" name="txt_101"/>
          <p:cNvSpPr txBox="1"/>
          <p:nvPr/>
        </p:nvSpPr>
        <p:spPr>
          <a:xfrm>
            <a:off x="7147408" y="237744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允许丢包，网卡做选择重传、乱序接收和拥塞控制</a:t>
            </a:r>
            <a:endParaRPr lang="en-US" sz="1200" dirty="0"/>
          </a:p>
        </p:txBody>
      </p:sp>
      <p:sp>
        <p:nvSpPr>
          <p:cNvPr id="27" name="card_102"/>
          <p:cNvSpPr/>
          <p:nvPr/>
        </p:nvSpPr>
        <p:spPr>
          <a:xfrm>
            <a:off x="6233008" y="3108960"/>
            <a:ext cx="54100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xt_103"/>
          <p:cNvSpPr txBox="1"/>
          <p:nvPr/>
        </p:nvSpPr>
        <p:spPr>
          <a:xfrm>
            <a:off x="6415888" y="31089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依赖</a:t>
            </a:r>
            <a:endParaRPr lang="en-US" sz="1300" dirty="0"/>
          </a:p>
        </p:txBody>
      </p:sp>
      <p:sp>
        <p:nvSpPr>
          <p:cNvPr id="29" name="txt_104"/>
          <p:cNvSpPr txBox="1"/>
          <p:nvPr/>
        </p:nvSpPr>
        <p:spPr>
          <a:xfrm>
            <a:off x="7147408" y="310896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网卡传输层升级；交换机最好支持逐包多路径和包裁剪</a:t>
            </a:r>
            <a:endParaRPr lang="en-US" sz="1200" dirty="0"/>
          </a:p>
        </p:txBody>
      </p:sp>
      <p:sp>
        <p:nvSpPr>
          <p:cNvPr id="30" name="card_105"/>
          <p:cNvSpPr/>
          <p:nvPr/>
        </p:nvSpPr>
        <p:spPr>
          <a:xfrm>
            <a:off x="6233008" y="3840480"/>
            <a:ext cx="54100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xt_106"/>
          <p:cNvSpPr txBox="1"/>
          <p:nvPr/>
        </p:nvSpPr>
        <p:spPr>
          <a:xfrm>
            <a:off x="6415888" y="38404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好处</a:t>
            </a:r>
            <a:endParaRPr lang="en-US" sz="1300" dirty="0"/>
          </a:p>
        </p:txBody>
      </p:sp>
      <p:sp>
        <p:nvSpPr>
          <p:cNvPr id="32" name="txt_107"/>
          <p:cNvSpPr txBox="1"/>
          <p:nvPr/>
        </p:nvSpPr>
        <p:spPr>
          <a:xfrm>
            <a:off x="7147408" y="384048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没有 PFC 的连锁故障；距离不受预留缓存限制；能用满多条路径</a:t>
            </a:r>
            <a:endParaRPr lang="en-US" sz="1200" dirty="0"/>
          </a:p>
        </p:txBody>
      </p:sp>
      <p:sp>
        <p:nvSpPr>
          <p:cNvPr id="33" name="card_108"/>
          <p:cNvSpPr/>
          <p:nvPr/>
        </p:nvSpPr>
        <p:spPr>
          <a:xfrm>
            <a:off x="6233008" y="4572000"/>
            <a:ext cx="54100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xt_109"/>
          <p:cNvSpPr txBox="1"/>
          <p:nvPr/>
        </p:nvSpPr>
        <p:spPr>
          <a:xfrm>
            <a:off x="6415888" y="45720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风险</a:t>
            </a:r>
            <a:endParaRPr lang="en-US" sz="1300" dirty="0"/>
          </a:p>
        </p:txBody>
      </p:sp>
      <p:sp>
        <p:nvSpPr>
          <p:cNvPr id="35" name="txt_110"/>
          <p:cNvSpPr txBox="1"/>
          <p:nvPr/>
        </p:nvSpPr>
        <p:spPr>
          <a:xfrm>
            <a:off x="7147408" y="457200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网卡要换代或升级；丢包率超过门限后吞吐仍会掉</a:t>
            </a:r>
            <a:endParaRPr lang="en-US" sz="1200" dirty="0"/>
          </a:p>
        </p:txBody>
      </p:sp>
      <p:sp>
        <p:nvSpPr>
          <p:cNvPr id="36" name="card_111"/>
          <p:cNvSpPr/>
          <p:nvPr/>
        </p:nvSpPr>
        <p:spPr>
          <a:xfrm>
            <a:off x="6233008" y="5303520"/>
            <a:ext cx="54100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xt_112"/>
          <p:cNvSpPr txBox="1"/>
          <p:nvPr/>
        </p:nvSpPr>
        <p:spPr>
          <a:xfrm>
            <a:off x="6415888" y="53035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代表</a:t>
            </a:r>
            <a:endParaRPr lang="en-US" sz="1300" dirty="0"/>
          </a:p>
        </p:txBody>
      </p:sp>
      <p:sp>
        <p:nvSpPr>
          <p:cNvPr id="38" name="txt_113"/>
          <p:cNvSpPr txBox="1"/>
          <p:nvPr/>
        </p:nvSpPr>
        <p:spPr>
          <a:xfrm>
            <a:off x="7147408" y="530352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UEC 1.0 / Broadcom Thor Ultra；OpenAI MRC；NVIDIA Spectrum-XGS（浅缓存，距离感知拥塞控制）；华为 DCP（研究）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三、RoCE 100 km@有损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有损 RoCE 要补的五项能力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前三项决定能不能跑满带宽，后两项决定长距离上拥塞和丢包恢复得多快</a:t>
            </a:r>
            <a:endParaRPr lang="en-US" sz="1400" dirty="0"/>
          </a:p>
        </p:txBody>
      </p:sp>
      <p:graphicFrame>
        <p:nvGraphicFramePr>
          <p:cNvPr id="11" name="tbl_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063240"/>
                <a:gridCol w="3063240"/>
                <a:gridCol w="31848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能力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解决什么问题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怎么做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已有的实现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① 选择重传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Go-back-N 丢一个包要重发整个在途窗口，100 km、800G 时约 100 MB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接收端记录收到了哪些包，发送端只补丢的那个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IRN（2018）、UEC、MRC（SACK）、ConnectX selective repeat、华为 DCP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② 乱序接收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多路径之后，包会乱序到达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按包里带的地址直接写入内存，不等前面的包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ConnectX（配 Spectrum 交换机）、UEC、MRC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③ 逐包多路径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RoCE 一条连接按五元组哈希只走一条路，跑不满几十个 800G 端口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每个包换一个熵值，分散到多条路径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MRC（逐包换熵值为必选）、UEC、Spectrum-X 自适应路由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④ 长往返时延的拥塞控制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反馈一圈 ≥ 1 ms；DC 内流反应快，会挤占跨 DC 流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按距离分别设参数；接收端发信用控速；拥塞点直接回送通知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Spectrum-XGS（距离感知）、UEC NSCC / RCCC、中国移动广域快速拥塞感知、Uno（SC'25）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⑤ 丢包快速通知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靠超时发现丢包，距离越长超时越长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拥塞时交换机砍掉负载、只转发包头，接收端立刻知道丢了哪个包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UEC 包裁剪、华为 DCP（包头走无损队列）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_115"/>
          <p:cNvSpPr/>
          <p:nvPr/>
        </p:nvSpPr>
        <p:spPr>
          <a:xfrm>
            <a:off x="548640" y="5669280"/>
            <a:ext cx="11094415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xt_116"/>
          <p:cNvSpPr txBox="1"/>
          <p:nvPr/>
        </p:nvSpPr>
        <p:spPr>
          <a:xfrm>
            <a:off x="822960" y="5669280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另外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链路故障的切换：中国电信用光层波长保护，称 50 ms 切换；中国移动 OTN 称断纤、误码时训练无感；MRC 可快速绕开故障路径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四、产品与实践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产品：跨 DC 路由器和交换机分成深缓存、浅缓存两派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深缓存派靠缓存吸收拥塞；浅缓存派靠网卡和交换机协同控速</a:t>
            </a:r>
            <a:endParaRPr lang="en-US" sz="1400" dirty="0"/>
          </a:p>
        </p:txBody>
      </p:sp>
      <p:graphicFrame>
        <p:nvGraphicFramePr>
          <p:cNvPr id="12" name="tbl_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25880"/>
                <a:gridCol w="1280160"/>
                <a:gridCol w="1508760"/>
                <a:gridCol w="3779215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产品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时间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缓存路线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距离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跨 DC 相关能力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证据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Broadcom Jericho4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2025-08 出货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深缓存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100 km 以上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3.2T HyperPort；硬件拥塞管理；线速 MACsec；单系统可扩到 36,000 个 HyperPort；称 100 km 以上无损 RoCE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厂商发布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Cisco 8223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Silicon One P200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2025-10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深缓存，全共享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相干光模块可达 1000 km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51.2T，64 × 800G，3RU；首发支持 SONiC；Cisco 称是唯一的 51.2T 深缓存路由器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厂商发布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NVIDIA Spectrum-XGS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Spectrum-X + ConnectX-8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2025-08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浅缓存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测试 10 km；称不限距离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距离感知的拥塞控制和自适应路由；跨站 NCCL all-reduce 带宽最高为普通以太网的 1.9 倍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厂商博客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中国移动 GSE-DCI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智算互联路由器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2025-07 试验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MWC 2026 样机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未公开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百公里级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路由器直插 800G 彩光模块（IP 与光融合）；广域快速拥塞感知；称算效达单集群的 98% 以上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运营商自报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华为星河 AI 广域网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2024～2026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未公开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千公里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称千公里无损；星络无损算法；称远端算效 95% 以上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厂商宣传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四、产品与实践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标准与网卡：有损传输已经有开放规范和商用芯片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UEC 是新协议栈；MRC 是在 RoCEv2 上加能力；两者都按有损网络设计</a:t>
            </a:r>
            <a:endParaRPr lang="en-US" sz="1400" dirty="0"/>
          </a:p>
        </p:txBody>
      </p:sp>
      <p:graphicFrame>
        <p:nvGraphicFramePr>
          <p:cNvPr id="13" name="tbl_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00200"/>
                <a:gridCol w="1463040"/>
                <a:gridCol w="2057400"/>
                <a:gridCol w="1874520"/>
                <a:gridCol w="240761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名称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选择重传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多路径 / 乱序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拥塞控制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状态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UEC 1.0（UET）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开放标准，Ultra Ethernet 联盟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逐包喷洒，允许乱序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发送端 NSCC + 接收端 RCCC；包裁剪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1.0 于 2025-06 发布，最新 1.0.3（2026-07）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Broadcom Thor Ultra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800G 网卡，符合 UEC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逐包多路径，乱序交付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收发两端算法可编程；支持包裁剪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2025-10 送样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OpenAI MRC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开放协议（OCP），扩展 RoCEv2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有（SACK）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逐包换熵值喷洒（必选）；可选 SRv6 源路由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发送端拥塞控制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已用于 OpenAI 最大的 GB200 训练集群；与 AMD、Broadcom、Intel、微软、NVIDIA 共同制定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NVIDIA ConnectX-8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Spectrum-X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网卡 + 交换机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有（论坛资料）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自适应路由；乱序直接写入（需配 Spectrum 交换机）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遥测型拥塞控制；XGS 加距离感知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量产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Google Falcon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硬件传输层（OCP）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2023 年贡献给 OCP；Intel IPU E2000 系列支持，面向有损网络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华为 DCP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研究（SIGCOMM'25）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有，包头走无损队列，精确知道丢包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支持逐包负载均衡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原型 10 km 接近理想吞吐；1000 km 仿真 P95 尾部完成时间比 MP-RDMA 降 95%，比 IRN 降 51%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四、产品与实践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业界实践：百公里到千公里都有，自报效率 95%～98%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测试条件（模型、切分、丢包率）多数没公开，数字不能直接横比</a:t>
            </a:r>
            <a:endParaRPr lang="en-US" sz="1400" dirty="0"/>
          </a:p>
        </p:txBody>
      </p:sp>
      <p:graphicFrame>
        <p:nvGraphicFramePr>
          <p:cNvPr id="14" name="tbl_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828800"/>
                <a:gridCol w="1508760"/>
                <a:gridCol w="1691640"/>
                <a:gridCol w="2453335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实践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距离 / 时延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规模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跨域切分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网络与协议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效率（自报）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NVIDIA NeMo × OCI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芝加哥—阿什本约 1000 km，往返 21 ms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3072 GPU，Nemotron-4 340B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DP（分层 all-reduce）+ PP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未说明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单 DC 的 96% 以上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中国电信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北京武清—瀛海环回 500 km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 卡，千亿参数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未公开（自动并行）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800G 广域无损，收敛比 32:1；光层 50 ms 切换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97% 以上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中国移动研究院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哈尔滨，104 km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64 GPU，70B 级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PP，4 个 PP 域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800G OTN，断纤无感倒换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98% 以上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中国移动 + 新华三 + 朗美通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河北鹿泉，百公里级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70B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PP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800G 彩光以太（GSE-DCI 路由器）；广域快速拥塞感知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98% 以上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华为星河 AI 广域网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千公里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未公开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未公开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星络无损算法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远端算效 95% 以上；某银行跨千公里损失 &lt; 2%（场景未说明）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Meta（Llama 4）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跨楼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 万卡级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HSDP：副本间每步 all-reduce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深缓存 + 库内接收端流控，不用 DCQCN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每步时延最多降 12%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微软 Fairwater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亚特兰大—威斯康星，专用 AI WAN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未公开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时延敏感的内环留在单站点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媒体称用 MRC，未证实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未公开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四、产品与实践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研究前沿：传输层和训练框架两条线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多数为 2025～2026 年工作；结果来自原型或仿真，离生产还有距离</a:t>
            </a:r>
            <a:endParaRPr lang="en-US" sz="1400" dirty="0"/>
          </a:p>
        </p:txBody>
      </p:sp>
      <p:sp>
        <p:nvSpPr>
          <p:cNvPr id="5" name="colhd_120"/>
          <p:cNvSpPr/>
          <p:nvPr/>
        </p:nvSpPr>
        <p:spPr>
          <a:xfrm>
            <a:off x="548640" y="1783080"/>
            <a:ext cx="5410048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xt_121"/>
          <p:cNvSpPr txBox="1"/>
          <p:nvPr/>
        </p:nvSpPr>
        <p:spPr>
          <a:xfrm>
            <a:off x="777240" y="178308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传输与拥塞控制</a:t>
            </a:r>
            <a:endParaRPr lang="en-US" sz="1600" dirty="0"/>
          </a:p>
        </p:txBody>
      </p:sp>
      <p:sp>
        <p:nvSpPr>
          <p:cNvPr id="7" name="card_122"/>
          <p:cNvSpPr/>
          <p:nvPr/>
        </p:nvSpPr>
        <p:spPr>
          <a:xfrm>
            <a:off x="548640" y="2359152"/>
            <a:ext cx="5410048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_123"/>
          <p:cNvSpPr txBox="1"/>
          <p:nvPr/>
        </p:nvSpPr>
        <p:spPr>
          <a:xfrm>
            <a:off x="731520" y="2414016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IRN（SIGCOMM'18）</a:t>
            </a:r>
            <a:endParaRPr lang="en-US" sz="1250" dirty="0"/>
          </a:p>
        </p:txBody>
      </p:sp>
      <p:sp>
        <p:nvSpPr>
          <p:cNvPr id="9" name="txt_124"/>
          <p:cNvSpPr txBox="1"/>
          <p:nvPr/>
        </p:nvSpPr>
        <p:spPr>
          <a:xfrm>
            <a:off x="731520" y="2697480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RDMA 不靠 PFC：选择重传加在途数据上限，是有损 RDMA 的起点</a:t>
            </a:r>
            <a:endParaRPr lang="en-US" sz="1150" dirty="0"/>
          </a:p>
        </p:txBody>
      </p:sp>
      <p:sp>
        <p:nvSpPr>
          <p:cNvPr id="10" name="card_125"/>
          <p:cNvSpPr/>
          <p:nvPr/>
        </p:nvSpPr>
        <p:spPr>
          <a:xfrm>
            <a:off x="548640" y="3118104"/>
            <a:ext cx="5410048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xt_126"/>
          <p:cNvSpPr txBox="1"/>
          <p:nvPr/>
        </p:nvSpPr>
        <p:spPr>
          <a:xfrm>
            <a:off x="731520" y="3172968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DCP（华为 + 港科大，SIGCOMM'25）</a:t>
            </a:r>
            <a:endParaRPr lang="en-US" sz="1250" dirty="0"/>
          </a:p>
        </p:txBody>
      </p:sp>
      <p:sp>
        <p:nvSpPr>
          <p:cNvPr id="12" name="txt_127"/>
          <p:cNvSpPr txBox="1"/>
          <p:nvPr/>
        </p:nvSpPr>
        <p:spPr>
          <a:xfrm>
            <a:off x="731520" y="3456432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包头走无损队列、负载走有损队列，配合包裁剪；最佳学生论文提名</a:t>
            </a:r>
            <a:endParaRPr lang="en-US" sz="1150" dirty="0"/>
          </a:p>
        </p:txBody>
      </p:sp>
      <p:sp>
        <p:nvSpPr>
          <p:cNvPr id="13" name="card_128"/>
          <p:cNvSpPr/>
          <p:nvPr/>
        </p:nvSpPr>
        <p:spPr>
          <a:xfrm>
            <a:off x="548640" y="3877056"/>
            <a:ext cx="5410048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xt_129"/>
          <p:cNvSpPr txBox="1"/>
          <p:nvPr/>
        </p:nvSpPr>
        <p:spPr>
          <a:xfrm>
            <a:off x="731520" y="3931920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Uno（ETH + 微软，SC'25）</a:t>
            </a:r>
            <a:endParaRPr lang="en-US" sz="1250" dirty="0"/>
          </a:p>
        </p:txBody>
      </p:sp>
      <p:sp>
        <p:nvSpPr>
          <p:cNvPr id="15" name="txt_130"/>
          <p:cNvSpPr txBox="1"/>
          <p:nvPr/>
        </p:nvSpPr>
        <p:spPr>
          <a:xfrm>
            <a:off x="731520" y="4215384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DC 内外流量统一的拥塞控制，加纠删码和自适应路由</a:t>
            </a:r>
            <a:endParaRPr lang="en-US" sz="1150" dirty="0"/>
          </a:p>
        </p:txBody>
      </p:sp>
      <p:sp>
        <p:nvSpPr>
          <p:cNvPr id="16" name="card_131"/>
          <p:cNvSpPr/>
          <p:nvPr/>
        </p:nvSpPr>
        <p:spPr>
          <a:xfrm>
            <a:off x="548640" y="4636008"/>
            <a:ext cx="5410048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xt_132"/>
          <p:cNvSpPr txBox="1"/>
          <p:nvPr/>
        </p:nvSpPr>
        <p:spPr>
          <a:xfrm>
            <a:off x="731520" y="4690872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Spillway（2026）</a:t>
            </a:r>
            <a:endParaRPr lang="en-US" sz="1250" dirty="0"/>
          </a:p>
        </p:txBody>
      </p:sp>
      <p:sp>
        <p:nvSpPr>
          <p:cNvPr id="18" name="txt_133"/>
          <p:cNvSpPr txBox="1"/>
          <p:nvPr/>
        </p:nvSpPr>
        <p:spPr>
          <a:xfrm>
            <a:off x="731520" y="4974336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在目的 DC 用分离式缓冲吸收跨 DC 集合通信与 DC 内流量的碰撞，迭代时间最多降 14%</a:t>
            </a:r>
            <a:endParaRPr lang="en-US" sz="1150" dirty="0"/>
          </a:p>
        </p:txBody>
      </p:sp>
      <p:sp>
        <p:nvSpPr>
          <p:cNvPr id="19" name="card_134"/>
          <p:cNvSpPr/>
          <p:nvPr/>
        </p:nvSpPr>
        <p:spPr>
          <a:xfrm>
            <a:off x="548640" y="5394960"/>
            <a:ext cx="5410048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xt_135"/>
          <p:cNvSpPr txBox="1"/>
          <p:nvPr/>
        </p:nvSpPr>
        <p:spPr>
          <a:xfrm>
            <a:off x="731520" y="5449824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LCMP（2026）</a:t>
            </a:r>
            <a:endParaRPr lang="en-US" sz="1250" dirty="0"/>
          </a:p>
        </p:txBody>
      </p:sp>
      <p:sp>
        <p:nvSpPr>
          <p:cNvPr id="21" name="txt_136"/>
          <p:cNvSpPr txBox="1"/>
          <p:nvPr/>
        </p:nvSpPr>
        <p:spPr>
          <a:xfrm>
            <a:off x="731520" y="5733288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跨 DC RDMA 的长距离、按成本选择多路径</a:t>
            </a:r>
            <a:endParaRPr lang="en-US" sz="1150" dirty="0"/>
          </a:p>
        </p:txBody>
      </p:sp>
      <p:sp>
        <p:nvSpPr>
          <p:cNvPr id="22" name="colhd_137"/>
          <p:cNvSpPr/>
          <p:nvPr/>
        </p:nvSpPr>
        <p:spPr>
          <a:xfrm>
            <a:off x="6233008" y="1783080"/>
            <a:ext cx="5410048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xt_138"/>
          <p:cNvSpPr txBox="1"/>
          <p:nvPr/>
        </p:nvSpPr>
        <p:spPr>
          <a:xfrm>
            <a:off x="6461608" y="178308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训练框架与集合通信</a:t>
            </a:r>
            <a:endParaRPr lang="en-US" sz="1600" dirty="0"/>
          </a:p>
        </p:txBody>
      </p:sp>
      <p:sp>
        <p:nvSpPr>
          <p:cNvPr id="24" name="card_139"/>
          <p:cNvSpPr/>
          <p:nvPr/>
        </p:nvSpPr>
        <p:spPr>
          <a:xfrm>
            <a:off x="6233008" y="2359152"/>
            <a:ext cx="5410048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xt_140"/>
          <p:cNvSpPr txBox="1"/>
          <p:nvPr/>
        </p:nvSpPr>
        <p:spPr>
          <a:xfrm>
            <a:off x="6415888" y="2414016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GeoPipe（北邮，ACP 2025）</a:t>
            </a:r>
            <a:endParaRPr lang="en-US" sz="1250" dirty="0"/>
          </a:p>
        </p:txBody>
      </p:sp>
      <p:sp>
        <p:nvSpPr>
          <p:cNvPr id="26" name="txt_141"/>
          <p:cNvSpPr txBox="1"/>
          <p:nvPr/>
        </p:nvSpPr>
        <p:spPr>
          <a:xfrm>
            <a:off x="6415888" y="2697480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昇腾全栈，三个 DC 之间用无损 RDMA 光传输网；增强流水线并行，气泡最多降 78.91%</a:t>
            </a:r>
            <a:endParaRPr lang="en-US" sz="1150" dirty="0"/>
          </a:p>
        </p:txBody>
      </p:sp>
      <p:sp>
        <p:nvSpPr>
          <p:cNvPr id="27" name="card_142"/>
          <p:cNvSpPr/>
          <p:nvPr/>
        </p:nvSpPr>
        <p:spPr>
          <a:xfrm>
            <a:off x="6233008" y="3118104"/>
            <a:ext cx="5410048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xt_143"/>
          <p:cNvSpPr txBox="1"/>
          <p:nvPr/>
        </p:nvSpPr>
        <p:spPr>
          <a:xfrm>
            <a:off x="6415888" y="3172968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DiLoCoX（2025）</a:t>
            </a:r>
            <a:endParaRPr lang="en-US" sz="1250" dirty="0"/>
          </a:p>
        </p:txBody>
      </p:sp>
      <p:sp>
        <p:nvSpPr>
          <p:cNvPr id="29" name="txt_144"/>
          <p:cNvSpPr txBox="1"/>
          <p:nvPr/>
        </p:nvSpPr>
        <p:spPr>
          <a:xfrm>
            <a:off x="6415888" y="3456432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流水线并行 + 一步延迟 + 自适应压缩，在 1 Gbps 网络上预训练 107B</a:t>
            </a:r>
            <a:endParaRPr lang="en-US" sz="1150" dirty="0"/>
          </a:p>
        </p:txBody>
      </p:sp>
      <p:sp>
        <p:nvSpPr>
          <p:cNvPr id="30" name="card_145"/>
          <p:cNvSpPr/>
          <p:nvPr/>
        </p:nvSpPr>
        <p:spPr>
          <a:xfrm>
            <a:off x="6233008" y="3877056"/>
            <a:ext cx="5410048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xt_146"/>
          <p:cNvSpPr txBox="1"/>
          <p:nvPr/>
        </p:nvSpPr>
        <p:spPr>
          <a:xfrm>
            <a:off x="6415888" y="3931920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GeoMesh（2026）</a:t>
            </a:r>
            <a:endParaRPr lang="en-US" sz="1250" dirty="0"/>
          </a:p>
        </p:txBody>
      </p:sp>
      <p:sp>
        <p:nvSpPr>
          <p:cNvPr id="32" name="txt_147"/>
          <p:cNvSpPr txBox="1"/>
          <p:nvPr/>
        </p:nvSpPr>
        <p:spPr>
          <a:xfrm>
            <a:off x="6415888" y="4215384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负载均衡 + 符号压缩，达到目标困惑度的时间最多降 70.2%</a:t>
            </a:r>
            <a:endParaRPr lang="en-US" sz="1150" dirty="0"/>
          </a:p>
        </p:txBody>
      </p:sp>
      <p:sp>
        <p:nvSpPr>
          <p:cNvPr id="33" name="card_148"/>
          <p:cNvSpPr/>
          <p:nvPr/>
        </p:nvSpPr>
        <p:spPr>
          <a:xfrm>
            <a:off x="6233008" y="4636008"/>
            <a:ext cx="5410048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xt_149"/>
          <p:cNvSpPr txBox="1"/>
          <p:nvPr/>
        </p:nvSpPr>
        <p:spPr>
          <a:xfrm>
            <a:off x="6415888" y="4690872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NCCLX（Meta，2025）</a:t>
            </a:r>
            <a:endParaRPr lang="en-US" sz="1250" dirty="0"/>
          </a:p>
        </p:txBody>
      </p:sp>
      <p:sp>
        <p:nvSpPr>
          <p:cNvPr id="35" name="txt_150"/>
          <p:cNvSpPr txBox="1"/>
          <p:nvPr/>
        </p:nvSpPr>
        <p:spPr>
          <a:xfrm>
            <a:off x="6415888" y="4974336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按连接距离调传输参数，跨楼梯度同步支持容错</a:t>
            </a:r>
            <a:endParaRPr lang="en-US" sz="1150" dirty="0"/>
          </a:p>
        </p:txBody>
      </p:sp>
      <p:sp>
        <p:nvSpPr>
          <p:cNvPr id="36" name="card_151"/>
          <p:cNvSpPr/>
          <p:nvPr/>
        </p:nvSpPr>
        <p:spPr>
          <a:xfrm>
            <a:off x="6233008" y="5394960"/>
            <a:ext cx="5410048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xt_152"/>
          <p:cNvSpPr txBox="1"/>
          <p:nvPr/>
        </p:nvSpPr>
        <p:spPr>
          <a:xfrm>
            <a:off x="6415888" y="5449824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综述（Future Internet 2025）</a:t>
            </a:r>
            <a:endParaRPr lang="en-US" sz="1250" dirty="0"/>
          </a:p>
        </p:txBody>
      </p:sp>
      <p:sp>
        <p:nvSpPr>
          <p:cNvPr id="38" name="txt_153"/>
          <p:cNvSpPr txBox="1"/>
          <p:nvPr/>
        </p:nvSpPr>
        <p:spPr>
          <a:xfrm>
            <a:off x="6415888" y="5733288"/>
            <a:ext cx="504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Inter-Data Center RDMA: Challenges, Status, and Future Directions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五、建议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对我们的建议：HCCL 加一层，网卡补齐有损能力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【推断】以下基于公开资料推断，需要和 HCCL、芯片、网络团队对齐</a:t>
            </a:r>
            <a:endParaRPr lang="en-US" sz="1400" dirty="0"/>
          </a:p>
        </p:txBody>
      </p:sp>
      <p:sp>
        <p:nvSpPr>
          <p:cNvPr id="5" name="colhd_154"/>
          <p:cNvSpPr/>
          <p:nvPr/>
        </p:nvSpPr>
        <p:spPr>
          <a:xfrm>
            <a:off x="548640" y="1783080"/>
            <a:ext cx="3545738" cy="475488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xt_155"/>
          <p:cNvSpPr txBox="1"/>
          <p:nvPr/>
        </p:nvSpPr>
        <p:spPr>
          <a:xfrm>
            <a:off x="749808" y="1783080"/>
            <a:ext cx="31434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集合通信（HCCL）</a:t>
            </a:r>
            <a:endParaRPr lang="en-US" sz="1500" dirty="0"/>
          </a:p>
        </p:txBody>
      </p:sp>
      <p:sp>
        <p:nvSpPr>
          <p:cNvPr id="7" name="card_156"/>
          <p:cNvSpPr/>
          <p:nvPr/>
        </p:nvSpPr>
        <p:spPr>
          <a:xfrm>
            <a:off x="548640" y="2377440"/>
            <a:ext cx="3545738" cy="37490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_157"/>
          <p:cNvSpPr txBox="1"/>
          <p:nvPr/>
        </p:nvSpPr>
        <p:spPr>
          <a:xfrm>
            <a:off x="731520" y="2514600"/>
            <a:ext cx="317997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增加 DC 层级：给每个网口标注所属 DC（类似 NCCL 的 fabricId），建通信域时自动区分 DC 内和跨 DC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跨 DC 默认三段式：DC 内 RS → 跨 DC 分片交换 → DC 内 AG。两边规模不等时（贵安约 3.5 万 die、深圳约 4 万 die）按比例切分片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跨 DC 连接单独调参：更多 QP、更多在途消息、更大分段，并把跨 DC 流量分散到尽量多的节点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跨 DC 只放 DP 和 PP，传输与计算重叠</a:t>
            </a:r>
            <a:endParaRPr lang="en-US" sz="1250" dirty="0"/>
          </a:p>
        </p:txBody>
      </p:sp>
      <p:sp>
        <p:nvSpPr>
          <p:cNvPr id="9" name="colhd_158"/>
          <p:cNvSpPr/>
          <p:nvPr/>
        </p:nvSpPr>
        <p:spPr>
          <a:xfrm>
            <a:off x="4322978" y="1783080"/>
            <a:ext cx="354573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xt_159"/>
          <p:cNvSpPr txBox="1"/>
          <p:nvPr/>
        </p:nvSpPr>
        <p:spPr>
          <a:xfrm>
            <a:off x="4524146" y="1783080"/>
            <a:ext cx="31434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传输（昇腾 RoCE 引擎）</a:t>
            </a:r>
            <a:endParaRPr lang="en-US" sz="1500" dirty="0"/>
          </a:p>
        </p:txBody>
      </p:sp>
      <p:sp>
        <p:nvSpPr>
          <p:cNvPr id="11" name="card_160"/>
          <p:cNvSpPr/>
          <p:nvPr/>
        </p:nvSpPr>
        <p:spPr>
          <a:xfrm>
            <a:off x="4322978" y="2377440"/>
            <a:ext cx="3545738" cy="37490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xt_161"/>
          <p:cNvSpPr txBox="1"/>
          <p:nvPr/>
        </p:nvSpPr>
        <p:spPr>
          <a:xfrm>
            <a:off x="4505858" y="2514600"/>
            <a:ext cx="317997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先摸清现状：是否支持选择重传、乱序直接写入、逐包多路径、可编程拥塞控制【待确认】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100 km 有损的最小集：选择重传 + 多 QP / 多路径 + 跨 DC 单独的拥塞控制参数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能力到位前的过渡：100 km 内用深缓存路由器做无损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跟踪 UEC 和 MRC，评估是否对齐其中一个</a:t>
            </a:r>
            <a:endParaRPr lang="en-US" sz="1250" dirty="0"/>
          </a:p>
        </p:txBody>
      </p:sp>
      <p:sp>
        <p:nvSpPr>
          <p:cNvPr id="13" name="colhd_162"/>
          <p:cNvSpPr/>
          <p:nvPr/>
        </p:nvSpPr>
        <p:spPr>
          <a:xfrm>
            <a:off x="8097317" y="1783080"/>
            <a:ext cx="3545738" cy="475488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xt_163"/>
          <p:cNvSpPr txBox="1"/>
          <p:nvPr/>
        </p:nvSpPr>
        <p:spPr>
          <a:xfrm>
            <a:off x="8298485" y="1783080"/>
            <a:ext cx="31434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和其他几行的接口</a:t>
            </a:r>
            <a:endParaRPr lang="en-US" sz="1500" dirty="0"/>
          </a:p>
        </p:txBody>
      </p:sp>
      <p:sp>
        <p:nvSpPr>
          <p:cNvPr id="15" name="card_164"/>
          <p:cNvSpPr/>
          <p:nvPr/>
        </p:nvSpPr>
        <p:spPr>
          <a:xfrm>
            <a:off x="8097317" y="2377440"/>
            <a:ext cx="3545738" cy="37490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t_165"/>
          <p:cNvSpPr txBox="1"/>
          <p:nvPr/>
        </p:nvSpPr>
        <p:spPr>
          <a:xfrm>
            <a:off x="8280197" y="2514600"/>
            <a:ext cx="317997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路由器行（51.2T 深缓存）：缓存用来吸收突发、给拥塞控制留反应时间，有损方案下不必为 PFC 预留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传输行（Multi-Rail）：多条并行物理路径是逐包多路径的前提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验收指标：跨 DC 有效带宽利用率；丢包率 1e-5、1e-4 下的吞吐；step 时间损失对照图 3 曲线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五、建议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待确认与风险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以下几点会影响路线选择，建议优先确认</a:t>
            </a:r>
            <a:endParaRPr lang="en-US" sz="1400" dirty="0"/>
          </a:p>
        </p:txBody>
      </p:sp>
      <p:sp>
        <p:nvSpPr>
          <p:cNvPr id="5" name="card_166"/>
          <p:cNvSpPr/>
          <p:nvPr/>
        </p:nvSpPr>
        <p:spPr>
          <a:xfrm>
            <a:off x="548640" y="178308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um_167"/>
          <p:cNvSpPr/>
          <p:nvPr/>
        </p:nvSpPr>
        <p:spPr>
          <a:xfrm>
            <a:off x="731520" y="1965960"/>
            <a:ext cx="384048" cy="384048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xt_168"/>
          <p:cNvSpPr txBox="1"/>
          <p:nvPr/>
        </p:nvSpPr>
        <p:spPr>
          <a:xfrm>
            <a:off x="1261872" y="1965960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效率数字不可横比</a:t>
            </a:r>
            <a:endParaRPr lang="en-US" sz="1500" dirty="0"/>
          </a:p>
        </p:txBody>
      </p:sp>
      <p:sp>
        <p:nvSpPr>
          <p:cNvPr id="8" name="txt_169"/>
          <p:cNvSpPr txBox="1"/>
          <p:nvPr/>
        </p:nvSpPr>
        <p:spPr>
          <a:xfrm>
            <a:off x="1261872" y="2423160"/>
            <a:ext cx="449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厂商和运营商的 95%～98% 都是自报，模型、切分方式、丢包率、带宽收敛比多数没公开</a:t>
            </a:r>
            <a:endParaRPr lang="en-US" sz="1250" dirty="0"/>
          </a:p>
        </p:txBody>
      </p:sp>
      <p:sp>
        <p:nvSpPr>
          <p:cNvPr id="9" name="card_170"/>
          <p:cNvSpPr/>
          <p:nvPr/>
        </p:nvSpPr>
        <p:spPr>
          <a:xfrm>
            <a:off x="6233008" y="178308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_171"/>
          <p:cNvSpPr/>
          <p:nvPr/>
        </p:nvSpPr>
        <p:spPr>
          <a:xfrm>
            <a:off x="6415888" y="1965960"/>
            <a:ext cx="384048" cy="384048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xt_172"/>
          <p:cNvSpPr txBox="1"/>
          <p:nvPr/>
        </p:nvSpPr>
        <p:spPr>
          <a:xfrm>
            <a:off x="6946240" y="1965960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HCCL 是否已有跨 DC 层级</a:t>
            </a:r>
            <a:endParaRPr lang="en-US" sz="1500" dirty="0"/>
          </a:p>
        </p:txBody>
      </p:sp>
      <p:sp>
        <p:nvSpPr>
          <p:cNvPr id="12" name="txt_173"/>
          <p:cNvSpPr txBox="1"/>
          <p:nvPr/>
        </p:nvSpPr>
        <p:spPr>
          <a:xfrm>
            <a:off x="6946240" y="2423160"/>
            <a:ext cx="449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公开文档只到超节点间；需问 HCCL 团队内部版本的情况</a:t>
            </a:r>
            <a:endParaRPr lang="en-US" sz="1250" dirty="0"/>
          </a:p>
        </p:txBody>
      </p:sp>
      <p:sp>
        <p:nvSpPr>
          <p:cNvPr id="13" name="card_174"/>
          <p:cNvSpPr/>
          <p:nvPr/>
        </p:nvSpPr>
        <p:spPr>
          <a:xfrm>
            <a:off x="548640" y="324612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_175"/>
          <p:cNvSpPr/>
          <p:nvPr/>
        </p:nvSpPr>
        <p:spPr>
          <a:xfrm>
            <a:off x="731520" y="3429000"/>
            <a:ext cx="384048" cy="384048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xt_176"/>
          <p:cNvSpPr txBox="1"/>
          <p:nvPr/>
        </p:nvSpPr>
        <p:spPr>
          <a:xfrm>
            <a:off x="1261872" y="3429000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昇腾 RoCE 引擎的有损能力</a:t>
            </a:r>
            <a:endParaRPr lang="en-US" sz="1500" dirty="0"/>
          </a:p>
        </p:txBody>
      </p:sp>
      <p:sp>
        <p:nvSpPr>
          <p:cNvPr id="16" name="txt_177"/>
          <p:cNvSpPr txBox="1"/>
          <p:nvPr/>
        </p:nvSpPr>
        <p:spPr>
          <a:xfrm>
            <a:off x="1261872" y="3886200"/>
            <a:ext cx="449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选择重传、乱序直接写入、逐包多路径是否支持，决定 100 km 有损能否落地</a:t>
            </a:r>
            <a:endParaRPr lang="en-US" sz="1250" dirty="0"/>
          </a:p>
        </p:txBody>
      </p:sp>
      <p:sp>
        <p:nvSpPr>
          <p:cNvPr id="17" name="card_178"/>
          <p:cNvSpPr/>
          <p:nvPr/>
        </p:nvSpPr>
        <p:spPr>
          <a:xfrm>
            <a:off x="6233008" y="324612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um_179"/>
          <p:cNvSpPr/>
          <p:nvPr/>
        </p:nvSpPr>
        <p:spPr>
          <a:xfrm>
            <a:off x="6415888" y="3429000"/>
            <a:ext cx="384048" cy="384048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xt_180"/>
          <p:cNvSpPr txBox="1"/>
          <p:nvPr/>
        </p:nvSpPr>
        <p:spPr>
          <a:xfrm>
            <a:off x="6946240" y="3429000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100 km 有损可接受的丢包率</a:t>
            </a:r>
            <a:endParaRPr lang="en-US" sz="1500" dirty="0"/>
          </a:p>
        </p:txBody>
      </p:sp>
      <p:sp>
        <p:nvSpPr>
          <p:cNvPr id="20" name="txt_181"/>
          <p:cNvSpPr txBox="1"/>
          <p:nvPr/>
        </p:nvSpPr>
        <p:spPr>
          <a:xfrm>
            <a:off x="6946240" y="3886200"/>
            <a:ext cx="449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Go-back-N 和选择重传在 1e-5、1e-4 丢包率下差别很大，需要建模或实测</a:t>
            </a:r>
            <a:endParaRPr lang="en-US" sz="1250" dirty="0"/>
          </a:p>
        </p:txBody>
      </p:sp>
      <p:sp>
        <p:nvSpPr>
          <p:cNvPr id="21" name="card_182"/>
          <p:cNvSpPr/>
          <p:nvPr/>
        </p:nvSpPr>
        <p:spPr>
          <a:xfrm>
            <a:off x="548640" y="470916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um_183"/>
          <p:cNvSpPr/>
          <p:nvPr/>
        </p:nvSpPr>
        <p:spPr>
          <a:xfrm>
            <a:off x="731520" y="4892040"/>
            <a:ext cx="384048" cy="384048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xt_184"/>
          <p:cNvSpPr txBox="1"/>
          <p:nvPr/>
        </p:nvSpPr>
        <p:spPr>
          <a:xfrm>
            <a:off x="1261872" y="4892040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部分资料未能核对原文</a:t>
            </a:r>
            <a:endParaRPr lang="en-US" sz="1500" dirty="0"/>
          </a:p>
        </p:txBody>
      </p:sp>
      <p:sp>
        <p:nvSpPr>
          <p:cNvPr id="24" name="txt_185"/>
          <p:cNvSpPr txBox="1"/>
          <p:nvPr/>
        </p:nvSpPr>
        <p:spPr>
          <a:xfrm>
            <a:off x="1261872" y="5349240"/>
            <a:ext cx="449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Azure 区域内跨 DC RDMA（NSDI'23）、HCCL 算法文档原页、跨 DC RDMA 综述、UEC 规范细节</a:t>
            </a:r>
            <a:endParaRPr lang="en-US" sz="1250" dirty="0"/>
          </a:p>
        </p:txBody>
      </p:sp>
      <p:sp>
        <p:nvSpPr>
          <p:cNvPr id="25" name="card_186"/>
          <p:cNvSpPr/>
          <p:nvPr/>
        </p:nvSpPr>
        <p:spPr>
          <a:xfrm>
            <a:off x="6233008" y="4709160"/>
            <a:ext cx="541004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num_187"/>
          <p:cNvSpPr/>
          <p:nvPr/>
        </p:nvSpPr>
        <p:spPr>
          <a:xfrm>
            <a:off x="6415888" y="4892040"/>
            <a:ext cx="384048" cy="384048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xt_188"/>
          <p:cNvSpPr txBox="1"/>
          <p:nvPr/>
        </p:nvSpPr>
        <p:spPr>
          <a:xfrm>
            <a:off x="6946240" y="4892040"/>
            <a:ext cx="449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华为千公里无损的机制</a:t>
            </a:r>
            <a:endParaRPr lang="en-US" sz="1500" dirty="0"/>
          </a:p>
        </p:txBody>
      </p:sp>
      <p:sp>
        <p:nvSpPr>
          <p:cNvPr id="28" name="txt_189"/>
          <p:cNvSpPr txBox="1"/>
          <p:nvPr/>
        </p:nvSpPr>
        <p:spPr>
          <a:xfrm>
            <a:off x="6946240" y="5349240"/>
            <a:ext cx="449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端侧还是网络侧实现、是否用 PFC，公开资料没说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缩写表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每个缩写给出全称和一句定义</a:t>
            </a:r>
            <a:endParaRPr lang="en-US" sz="1400" dirty="0"/>
          </a:p>
        </p:txBody>
      </p:sp>
      <p:graphicFrame>
        <p:nvGraphicFramePr>
          <p:cNvPr id="18" name="abtbl_1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10048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084168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缩写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全称与定义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RoCE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RDMA over Converged Ethernet，以太网上跑 RDMA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RDMA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远程直接内存访问，网卡直接读写对端内存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PFC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Priority Flow Control，按优先级让上游暂停发送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BDP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带宽时延积：带宽 × 往返时延，即在途数据量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RTT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Round-Trip Time，往返时延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DCQCN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RoCE 常用拥塞控制：交换机标记，接收端回 CNP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CNP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Congestion Notification Packet，拥塞通知包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QP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Queue Pair，RDMA 的一条连接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Go-back-N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丢包后从丢的那个包起全部重发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SACK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Selective ACK，告诉对方收到了哪些包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ECMP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等价多路径：按五元组哈希选路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DCI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Data Center Interconnect，数据中心互联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OTN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Optical Transport Network，光传送网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HBM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High Bandwidth Memory，高带宽内存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5" name="abtbl_1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783080"/>
          <a:ext cx="5410048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084168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缩写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全称与定义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MACsec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以太网链路层加密（IEEE 802.1AE）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SONiC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开源网络操作系统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SRv6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在 IPv6 包头里写好要经过的节点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UEC / UET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Ultra Ethernet 联盟 / 其传输层协议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NSCC / RCCC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UEC 的发送端 / 接收端拥塞控制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MRC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Multipath Reliable Connection，OpenAI 牵头的传输协议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OCP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Open Compute Project，开放计算项目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NCCL / HCCL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NVIDIA / 华为的集合通信库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RS / AG / AR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reduce-scatter / all-gather / all-reduce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DP / PP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数据并行 / 流水线并行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HSDP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Hybrid Sharded DP，组内分片、组间复制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MFU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Model FLOPs Utilization，模型算力利用率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NHR / NB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HCCL 的非均匀分层环 / 非均匀 Bruck 算法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DiLoCo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各副本本地跑多步、低频同步的训练方法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来源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检索日期 2026-10-30；标注「自报」的数字未见第三方验证</a:t>
            </a:r>
            <a:endParaRPr lang="en-US" sz="1400" dirty="0"/>
          </a:p>
        </p:txBody>
      </p:sp>
      <p:sp>
        <p:nvSpPr>
          <p:cNvPr id="5" name="txt_192"/>
          <p:cNvSpPr txBox="1"/>
          <p:nvPr/>
        </p:nvSpPr>
        <p:spPr>
          <a:xfrm>
            <a:off x="548640" y="173736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NVIDIA：NCCL Deep Dive: Cross Data Center Communication and Network Topology Awareness</a:t>
            </a:r>
            <a:endParaRPr lang="en-US" sz="1100" dirty="0"/>
          </a:p>
        </p:txBody>
      </p:sp>
      <p:sp>
        <p:nvSpPr>
          <p:cNvPr id="6" name="txt_193"/>
          <p:cNvSpPr txBox="1"/>
          <p:nvPr/>
        </p:nvSpPr>
        <p:spPr>
          <a:xfrm>
            <a:off x="548640" y="213055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技术博客，2025-07-14</a:t>
            </a:r>
            <a:endParaRPr lang="en-US" sz="1000" dirty="0"/>
          </a:p>
        </p:txBody>
      </p:sp>
      <p:sp>
        <p:nvSpPr>
          <p:cNvPr id="7" name="txt_194"/>
          <p:cNvSpPr txBox="1"/>
          <p:nvPr/>
        </p:nvSpPr>
        <p:spPr>
          <a:xfrm>
            <a:off x="548640" y="237744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NVIDIA：Turbocharge LLM Training Across Long-Haul Data Center Networks with NeMo</a:t>
            </a:r>
            <a:endParaRPr lang="en-US" sz="1100" dirty="0"/>
          </a:p>
        </p:txBody>
      </p:sp>
      <p:sp>
        <p:nvSpPr>
          <p:cNvPr id="8" name="txt_195"/>
          <p:cNvSpPr txBox="1"/>
          <p:nvPr/>
        </p:nvSpPr>
        <p:spPr>
          <a:xfrm>
            <a:off x="548640" y="277063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技术博客，NeMo 25.02</a:t>
            </a:r>
            <a:endParaRPr lang="en-US" sz="1000" dirty="0"/>
          </a:p>
        </p:txBody>
      </p:sp>
      <p:sp>
        <p:nvSpPr>
          <p:cNvPr id="9" name="txt_196"/>
          <p:cNvSpPr txBox="1"/>
          <p:nvPr/>
        </p:nvSpPr>
        <p:spPr>
          <a:xfrm>
            <a:off x="548640" y="301752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NVIDIA：How to Connect Distributed Data Centers into Large AI Factories with Scale-Across Networking</a:t>
            </a:r>
            <a:endParaRPr lang="en-US" sz="1100" dirty="0"/>
          </a:p>
        </p:txBody>
      </p:sp>
      <p:sp>
        <p:nvSpPr>
          <p:cNvPr id="10" name="txt_197"/>
          <p:cNvSpPr txBox="1"/>
          <p:nvPr/>
        </p:nvSpPr>
        <p:spPr>
          <a:xfrm>
            <a:off x="548640" y="341071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技术博客，2025-09</a:t>
            </a:r>
            <a:endParaRPr lang="en-US" sz="1000" dirty="0"/>
          </a:p>
        </p:txBody>
      </p:sp>
      <p:sp>
        <p:nvSpPr>
          <p:cNvPr id="11" name="txt_198"/>
          <p:cNvSpPr txBox="1"/>
          <p:nvPr/>
        </p:nvSpPr>
        <p:spPr>
          <a:xfrm>
            <a:off x="548640" y="365760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Meta：Collective Communication for 100k+ GPUs（NCCLX）</a:t>
            </a:r>
            <a:endParaRPr lang="en-US" sz="1100" dirty="0"/>
          </a:p>
        </p:txBody>
      </p:sp>
      <p:sp>
        <p:nvSpPr>
          <p:cNvPr id="12" name="txt_199"/>
          <p:cNvSpPr txBox="1"/>
          <p:nvPr/>
        </p:nvSpPr>
        <p:spPr>
          <a:xfrm>
            <a:off x="548640" y="405079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arXiv 2510.20171</a:t>
            </a:r>
            <a:endParaRPr lang="en-US" sz="1000" dirty="0"/>
          </a:p>
        </p:txBody>
      </p:sp>
      <p:sp>
        <p:nvSpPr>
          <p:cNvPr id="13" name="txt_200"/>
          <p:cNvSpPr txBox="1"/>
          <p:nvPr/>
        </p:nvSpPr>
        <p:spPr>
          <a:xfrm>
            <a:off x="548640" y="429768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Broadcom：Broadcom Ships Jericho4 / Introduces Thor Ultra</a:t>
            </a:r>
            <a:endParaRPr lang="en-US" sz="1100" dirty="0"/>
          </a:p>
        </p:txBody>
      </p:sp>
      <p:sp>
        <p:nvSpPr>
          <p:cNvPr id="14" name="txt_201"/>
          <p:cNvSpPr txBox="1"/>
          <p:nvPr/>
        </p:nvSpPr>
        <p:spPr>
          <a:xfrm>
            <a:off x="548640" y="469087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新闻稿，2025-08 / 2025-10</a:t>
            </a:r>
            <a:endParaRPr lang="en-US" sz="1000" dirty="0"/>
          </a:p>
        </p:txBody>
      </p:sp>
      <p:sp>
        <p:nvSpPr>
          <p:cNvPr id="15" name="txt_202"/>
          <p:cNvSpPr txBox="1"/>
          <p:nvPr/>
        </p:nvSpPr>
        <p:spPr>
          <a:xfrm>
            <a:off x="548640" y="493776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Cisco：Cisco powers the scale-across era（8223 / P200）</a:t>
            </a:r>
            <a:endParaRPr lang="en-US" sz="1100" dirty="0"/>
          </a:p>
        </p:txBody>
      </p:sp>
      <p:sp>
        <p:nvSpPr>
          <p:cNvPr id="16" name="txt_203"/>
          <p:cNvSpPr txBox="1"/>
          <p:nvPr/>
        </p:nvSpPr>
        <p:spPr>
          <a:xfrm>
            <a:off x="548640" y="533095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博客，2025-10</a:t>
            </a:r>
            <a:endParaRPr lang="en-US" sz="1000" dirty="0"/>
          </a:p>
        </p:txBody>
      </p:sp>
      <p:sp>
        <p:nvSpPr>
          <p:cNvPr id="17" name="txt_204"/>
          <p:cNvSpPr txBox="1"/>
          <p:nvPr/>
        </p:nvSpPr>
        <p:spPr>
          <a:xfrm>
            <a:off x="548640" y="557784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Ultra Ethernet Consortium：UE Specification 1.0 / 1.0.3</a:t>
            </a:r>
            <a:endParaRPr lang="en-US" sz="1100" dirty="0"/>
          </a:p>
        </p:txBody>
      </p:sp>
      <p:sp>
        <p:nvSpPr>
          <p:cNvPr id="18" name="txt_205"/>
          <p:cNvSpPr txBox="1"/>
          <p:nvPr/>
        </p:nvSpPr>
        <p:spPr>
          <a:xfrm>
            <a:off x="548640" y="597103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2025-06 / 2026-07</a:t>
            </a:r>
            <a:endParaRPr lang="en-US" sz="1000" dirty="0"/>
          </a:p>
        </p:txBody>
      </p:sp>
      <p:sp>
        <p:nvSpPr>
          <p:cNvPr id="19" name="txt_206"/>
          <p:cNvSpPr txBox="1"/>
          <p:nvPr/>
        </p:nvSpPr>
        <p:spPr>
          <a:xfrm>
            <a:off x="6233008" y="173736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OpenAI 等：The Multipath Reliable Connection (MRC) Transport</a:t>
            </a:r>
            <a:endParaRPr lang="en-US" sz="1100" dirty="0"/>
          </a:p>
        </p:txBody>
      </p:sp>
      <p:sp>
        <p:nvSpPr>
          <p:cNvPr id="20" name="txt_207"/>
          <p:cNvSpPr txBox="1"/>
          <p:nvPr/>
        </p:nvSpPr>
        <p:spPr>
          <a:xfrm>
            <a:off x="6233008" y="213055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arXiv 2606.18170；OCP MRC 1.0</a:t>
            </a:r>
            <a:endParaRPr lang="en-US" sz="1000" dirty="0"/>
          </a:p>
        </p:txBody>
      </p:sp>
      <p:sp>
        <p:nvSpPr>
          <p:cNvPr id="21" name="txt_208"/>
          <p:cNvSpPr txBox="1"/>
          <p:nvPr/>
        </p:nvSpPr>
        <p:spPr>
          <a:xfrm>
            <a:off x="6233008" y="237744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华为：星河 AI 网络全面升级；Li et al., Revisiting RDMA Reliability for Lossy Fabrics</a:t>
            </a:r>
            <a:endParaRPr lang="en-US" sz="1100" dirty="0"/>
          </a:p>
        </p:txBody>
      </p:sp>
      <p:sp>
        <p:nvSpPr>
          <p:cNvPr id="22" name="txt_209"/>
          <p:cNvSpPr txBox="1"/>
          <p:nvPr/>
        </p:nvSpPr>
        <p:spPr>
          <a:xfrm>
            <a:off x="6233008" y="277063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华为官网 2026-09；SIGCOMM 2025</a:t>
            </a:r>
            <a:endParaRPr lang="en-US" sz="1000" dirty="0"/>
          </a:p>
        </p:txBody>
      </p:sp>
      <p:sp>
        <p:nvSpPr>
          <p:cNvPr id="23" name="txt_210"/>
          <p:cNvSpPr txBox="1"/>
          <p:nvPr/>
        </p:nvSpPr>
        <p:spPr>
          <a:xfrm>
            <a:off x="6233008" y="301752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中国电信 500 km 联合训练；中国移动 104 km OTN 试验、鹿泉 800G 试验</a:t>
            </a:r>
            <a:endParaRPr lang="en-US" sz="1100" dirty="0"/>
          </a:p>
        </p:txBody>
      </p:sp>
      <p:sp>
        <p:nvSpPr>
          <p:cNvPr id="24" name="txt_211"/>
          <p:cNvSpPr txBox="1"/>
          <p:nvPr/>
        </p:nvSpPr>
        <p:spPr>
          <a:xfrm>
            <a:off x="6233008" y="341071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新浪科技 2024-12、2025-01/02；IT之家 2025-07</a:t>
            </a:r>
            <a:endParaRPr lang="en-US" sz="1000" dirty="0"/>
          </a:p>
        </p:txBody>
      </p:sp>
      <p:sp>
        <p:nvSpPr>
          <p:cNvPr id="25" name="txt_212"/>
          <p:cNvSpPr txBox="1"/>
          <p:nvPr/>
        </p:nvSpPr>
        <p:spPr>
          <a:xfrm>
            <a:off x="6233008" y="365760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华为昇腾：HCCL 用户指南（算法概述）</a:t>
            </a:r>
            <a:endParaRPr lang="en-US" sz="1100" dirty="0"/>
          </a:p>
        </p:txBody>
      </p:sp>
      <p:sp>
        <p:nvSpPr>
          <p:cNvPr id="26" name="txt_213"/>
          <p:cNvSpPr txBox="1"/>
          <p:nvPr/>
        </p:nvSpPr>
        <p:spPr>
          <a:xfrm>
            <a:off x="6233008" y="405079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CANN 800 / 850 / 900 版文档</a:t>
            </a:r>
            <a:endParaRPr lang="en-US" sz="1000" dirty="0"/>
          </a:p>
        </p:txBody>
      </p:sp>
      <p:sp>
        <p:nvSpPr>
          <p:cNvPr id="27" name="txt_214"/>
          <p:cNvSpPr txBox="1"/>
          <p:nvPr/>
        </p:nvSpPr>
        <p:spPr>
          <a:xfrm>
            <a:off x="6233008" y="429768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IRN（SIGCOMM'18）、Uno（SC'25）、Spillway、LCMP、GeoPipe、DiLoCoX、GeoMesh</a:t>
            </a:r>
            <a:endParaRPr lang="en-US" sz="1100" dirty="0"/>
          </a:p>
        </p:txBody>
      </p:sp>
      <p:sp>
        <p:nvSpPr>
          <p:cNvPr id="28" name="txt_215"/>
          <p:cNvSpPr txBox="1"/>
          <p:nvPr/>
        </p:nvSpPr>
        <p:spPr>
          <a:xfrm>
            <a:off x="6233008" y="469087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见第 14 页备注中的 arXiv 编号</a:t>
            </a:r>
            <a:endParaRPr lang="en-US" sz="1000" dirty="0"/>
          </a:p>
        </p:txBody>
      </p:sp>
      <p:sp>
        <p:nvSpPr>
          <p:cNvPr id="29" name="txt_216"/>
          <p:cNvSpPr txBox="1"/>
          <p:nvPr/>
        </p:nvSpPr>
        <p:spPr>
          <a:xfrm>
            <a:off x="6233008" y="493776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微软：From Wisconsin to Atlanta: Microsoft connects datacenters to build its first AI superfactory</a:t>
            </a:r>
            <a:endParaRPr lang="en-US" sz="1100" dirty="0"/>
          </a:p>
        </p:txBody>
      </p:sp>
      <p:sp>
        <p:nvSpPr>
          <p:cNvPr id="30" name="txt_217"/>
          <p:cNvSpPr txBox="1"/>
          <p:nvPr/>
        </p:nvSpPr>
        <p:spPr>
          <a:xfrm>
            <a:off x="6233008" y="533095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Microsoft Source，2025-11</a:t>
            </a:r>
            <a:endParaRPr lang="en-US" sz="1000" dirty="0"/>
          </a:p>
        </p:txBody>
      </p:sp>
      <p:sp>
        <p:nvSpPr>
          <p:cNvPr id="31" name="txt_218"/>
          <p:cNvSpPr txBox="1"/>
          <p:nvPr/>
        </p:nvSpPr>
        <p:spPr>
          <a:xfrm>
            <a:off x="6233008" y="5577840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《跨 DC.docx》图 1～4；scale-across_业务场景与硬件需求_v5.pptx</a:t>
            </a:r>
            <a:endParaRPr lang="en-US" sz="1100" dirty="0"/>
          </a:p>
        </p:txBody>
      </p:sp>
      <p:sp>
        <p:nvSpPr>
          <p:cNvPr id="32" name="txt_219"/>
          <p:cNvSpPr txBox="1"/>
          <p:nvPr/>
        </p:nvSpPr>
        <p:spPr>
          <a:xfrm>
            <a:off x="6233008" y="5971032"/>
            <a:ext cx="541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内部材料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GN Teal">
  <a:themeElements>
    <a:clrScheme name="GGN Teal">
      <a:dk1>
        <a:srgbClr val="14232B"/>
      </a:dk1>
      <a:lt1>
        <a:srgbClr val="FFFFFF"/>
      </a:lt1>
      <a:dk2>
        <a:srgbClr val="0E3B43"/>
      </a:dk2>
      <a:lt2>
        <a:srgbClr val="EEF3F4"/>
      </a:lt2>
      <a:accent1>
        <a:srgbClr val="0F7C80"/>
      </a:accent1>
      <a:accent2>
        <a:srgbClr val="E3A43A"/>
      </a:accent2>
      <a:accent3>
        <a:srgbClr val="5B7A8C"/>
      </a:accent3>
      <a:accent4>
        <a:srgbClr val="A7D3D0"/>
      </a:accent4>
      <a:accent5>
        <a:srgbClr val="B5523B"/>
      </a:accent5>
      <a:accent6>
        <a:srgbClr val="5E6E76"/>
      </a:accent6>
      <a:hlink>
        <a:srgbClr val="0F7C80"/>
      </a:hlink>
      <a:folHlink>
        <a:srgbClr val="5B7A8C"/>
      </a:folHlink>
    </a:clrScheme>
    <a:fontScheme name="GGN Teal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 DC 通信协议：分层集合通信 + RoCE 100 km@有损</dc:title>
  <dc:subject>PptxGenJS Presentation</dc:subject>
  <dc:creator>Xin Ye</dc:creator>
  <cp:lastModifiedBy>Xin Ye</cp:lastModifiedBy>
  <cp:revision>1</cp:revision>
  <dcterms:created xsi:type="dcterms:W3CDTF">2026-10-30T05:51:27Z</dcterms:created>
  <dcterms:modified xsi:type="dcterms:W3CDTF">2026-10-30T05:51:27Z</dcterms:modified>
</cp:coreProperties>
</file>