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468880"/>
            <a:ext cx="12191695" cy="109728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3444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400" b="1" lang="zh-CN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长序列并行配置寻优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97480"/>
            <a:ext cx="106070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lang="zh-CN">
                <a:solidFill>
                  <a:srgbClr val="D8DDE4"/>
                </a:solidFill>
                <a:latin typeface="PingFang SC"/>
                <a:ea typeface="PingFang SC"/>
                <a:cs typeface="PingFang SC"/>
              </a:rPr>
              <a:t>128k / 1M 上下文  ·  N=256 die  ·  ZeRO-2  ·  按目标寻优</a:t>
            </a:r>
          </a:p>
          <a:p>
            <a:pPr algn="l">
              <a:spcAft>
                <a:spcPts val="400"/>
              </a:spcAft>
            </a:pPr>
            <a:r>
              <a:rPr sz="1300" b="0" lang="zh-CN">
                <a:solidFill>
                  <a:srgbClr val="6B7480"/>
                </a:solidFill>
                <a:latin typeface="PingFang SC"/>
                <a:ea typeface="PingFang SC"/>
                <a:cs typeface="PingFang SC"/>
              </a:rPr>
              <a:t>Qwen3-235B-A22B (MoE) · 长序列必开 SP/CP · 超长序列不开大 TP · per-die 64GB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029200"/>
            <a:ext cx="106070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lang="zh-CN">
                <a:solidFill>
                  <a:srgbClr val="B8C0CC"/>
                </a:solidFill>
                <a:latin typeface="PingFang SC"/>
                <a:ea typeface="PingFang SC"/>
                <a:cs typeface="PingFang SC"/>
              </a:rPr>
              <a:t>目标：吞吐优先 / 均衡 / 并发·显存优先，各给一套配置</a:t>
            </a:r>
          </a:p>
          <a:p>
            <a:pPr algn="l">
              <a:spcAft>
                <a:spcPts val="400"/>
              </a:spcAft>
            </a:pPr>
            <a:r>
              <a:rPr sz="1200" b="0" lang="zh-CN">
                <a:solidFill>
                  <a:srgbClr val="6B7480"/>
                </a:solidFill>
                <a:latin typeface="PingFang SC"/>
                <a:ea typeface="PingFang SC"/>
                <a:cs typeface="PingFang SC"/>
              </a:rPr>
              <a:t>物理卡：A2 256 / A3 128 / 950DT 128（A3/950DT 双 die）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55448"/>
          <a:lstStyle/>
          <a:p>
            <a:pPr algn="ctr"/>
            <a:r>
              <a:rPr sz="2100" b="1" lang="zh-CN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0 · 目标与约束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201168" cy="82296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lang="zh-CN">
                <a:solidFill>
                  <a:srgbClr val="6B7480"/>
                </a:solidFill>
                <a:latin typeface="PingFang SC"/>
                <a:ea typeface="PingFang SC"/>
                <a:cs typeface="PingFang SC"/>
              </a:rPr>
              <a:t>Qwen3-235B-A22B Agentic RL · 长序列并行配置寻优（128k / 1M · 256 die · ZeRO-2）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lang="zh-CN">
                <a:solidFill>
                  <a:srgbClr val="6B7480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417320"/>
          <a:ext cx="11155680" cy="39684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9144000"/>
              </a:tblGrid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200" b="1" lang="zh-CN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项</a:t>
                      </a:r>
                    </a:p>
                  </a:txBody>
                  <a:tcPr anchor="ctr" marL="45720" marR="45720" marT="18288" marB="18288">
                    <a:solidFill>
                      <a:srgbClr val="222B3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lang="zh-CN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设定</a:t>
                      </a:r>
                    </a:p>
                  </a:txBody>
                  <a:tcPr anchor="ctr" marL="45720" marR="45720" marT="18288" marB="18288">
                    <a:solidFill>
                      <a:srgbClr val="222B38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250" b="1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场景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128k 与 1M 上下文窗口，各自寻优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250" b="1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规模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N = 256 die（= TP×CP×PP×DP）；物理卡 A2 256 / A3 128 / 950DT 128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250" b="1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长序列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必开 SP（=TP，0 额外占卡，切残差激活）+ CP（切序列维：激活 &amp; KV）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250" b="1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超长序列(1M)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不开大 TP（TP≤8 单岛），序列缩放交给 CP，而非跨岛拉大 TP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250" b="1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ZeRO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用 ZeRO-2（只切 梯度+优化器）；不用 ZeRO-3（省掉逐层 param all-gather）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250" b="1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判定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单 die 峰值 = max(训练阶段, 推理阶段) ≤ 64 GB（A2=A3；950DT 72 更松）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5120640"/>
            <a:ext cx="111556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lang="zh-CN">
                <a:solidFill>
                  <a:srgbClr val="222B38"/>
                </a:solidFill>
                <a:latin typeface="PingFang SC"/>
                <a:ea typeface="PingFang SC"/>
                <a:cs typeface="PingFang SC"/>
              </a:rPr>
              <a:t>为什么 ZeRO-2 就够：专家参数已被 EP 切到 7–14GB；ZeRO-3 再沿 TP 复制维切参数只多省 ~10GB，却要每层 param all-gather——</a:t>
            </a:r>
          </a:p>
          <a:p>
            <a:pPr algn="l">
              <a:spcAft>
                <a:spcPts val="400"/>
              </a:spcAft>
            </a:pPr>
            <a:r>
              <a:rPr sz="1250" b="1" lang="zh-CN">
                <a:solidFill>
                  <a:srgbClr val="1B7F3B"/>
                </a:solidFill>
                <a:latin typeface="PingFang SC"/>
                <a:ea typeface="PingFang SC"/>
                <a:cs typeface="PingFang SC"/>
              </a:rPr>
              <a:t>在长序列已被 CP/TP 通信占满时不划算。ZeRO-2 只切梯度+优化器（~13GB、无逐层 all-gather），参数留复制。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55448"/>
          <a:lstStyle/>
          <a:p>
            <a:pPr algn="ctr"/>
            <a:r>
              <a:rPr sz="2100" b="1" lang="zh-CN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 · per-die 显存建模（ZeRO-2）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201168" cy="82296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lang="zh-CN">
                <a:solidFill>
                  <a:srgbClr val="6B7480"/>
                </a:solidFill>
                <a:latin typeface="PingFang SC"/>
                <a:ea typeface="PingFang SC"/>
                <a:cs typeface="PingFang SC"/>
              </a:rPr>
              <a:t>Qwen3-235B-A22B Agentic RL · 长序列并行配置寻优（128k / 1M · 256 die · ZeRO-2）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lang="zh-CN">
                <a:solidFill>
                  <a:srgbClr val="6B7480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05840"/>
            <a:ext cx="111556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lang="zh-CN">
                <a:solidFill>
                  <a:srgbClr val="C7000B"/>
                </a:solidFill>
                <a:latin typeface="PingFang SC"/>
                <a:ea typeface="PingFang SC"/>
                <a:cs typeface="PingFang SC"/>
              </a:rPr>
              <a:t>训练阶段 = 静态 + 激活</a:t>
            </a:r>
          </a:p>
          <a:p>
            <a:pPr algn="l">
              <a:spcAft>
                <a:spcPts val="400"/>
              </a:spcAft>
            </a:pPr>
            <a:r>
              <a:rPr sz="1200" b="0" lang="zh-CN">
                <a:solidFill>
                  <a:srgbClr val="222B38"/>
                </a:solidFill>
                <a:latin typeface="PingFang SC"/>
                <a:ea typeface="PingFang SC"/>
                <a:cs typeface="PingFang SC"/>
              </a:rPr>
              <a:t>静态(ZeRO-2) = 专家权重 454/(EP×PP) + 非专家 16/(TP×PP) + 梯度优化器 ~13   （EP=CP×DP，专家沿EP切、TP内复制）</a:t>
            </a:r>
          </a:p>
          <a:p>
            <a:pPr algn="l">
              <a:spcAft>
                <a:spcPts val="400"/>
              </a:spcAft>
            </a:pPr>
            <a:r>
              <a:rPr sz="1200" b="0" lang="zh-CN">
                <a:solidFill>
                  <a:srgbClr val="222B38"/>
                </a:solidFill>
                <a:latin typeface="PingFang SC"/>
                <a:ea typeface="PingFang SC"/>
                <a:cs typeface="PingFang SC"/>
              </a:rPr>
              <a:t>激活 = 101 × (S/128k) / (TP×CP)                                    （SP=TP 与 CP 共同切序列）</a:t>
            </a:r>
          </a:p>
          <a:p>
            <a:pPr algn="l">
              <a:spcAft>
                <a:spcPts val="400"/>
              </a:spcAft>
            </a:pPr>
            <a:r>
              <a:rPr sz="1300" b="1" lang="zh-CN">
                <a:solidFill>
                  <a:srgbClr val="C7000B"/>
                </a:solidFill>
                <a:latin typeface="PingFang SC"/>
                <a:ea typeface="PingFang SC"/>
                <a:cs typeface="PingFang SC"/>
              </a:rPr>
              <a:t>推理阶段 = 底座(FP8) 227/EP + 8/TP  +  KV/die = 25.2 × (S/128k) × b / (TP×CP)</a:t>
            </a:r>
          </a:p>
          <a:p>
            <a:pPr algn="l">
              <a:spcAft>
                <a:spcPts val="400"/>
              </a:spcAft>
            </a:pPr>
            <a:r>
              <a:rPr sz="1250" b="1" lang="zh-CN">
                <a:solidFill>
                  <a:srgbClr val="1F5F8B"/>
                </a:solidFill>
                <a:latin typeface="PingFang SC"/>
                <a:ea typeface="PingFang SC"/>
                <a:cs typeface="PingFang SC"/>
              </a:rPr>
              <a:t>单 die 峰值 = max(训练阶段, 推理阶段) ≤ 64 GB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246120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lang="zh-CN">
                <a:solidFill>
                  <a:srgbClr val="222B38"/>
                </a:solidFill>
                <a:latin typeface="PingFang SC"/>
                <a:ea typeface="PingFang SC"/>
                <a:cs typeface="PingFang SC"/>
              </a:rPr>
              <a:t>两场景裸量（未分片，单序列）——长序列的显存全压在激活与 KV，二者都 ∝ 1/(TP×CP)：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3611880"/>
          <a:ext cx="11155679" cy="2286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290646"/>
                <a:gridCol w="2359855"/>
                <a:gridCol w="2359855"/>
                <a:gridCol w="2145323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1" lang="zh-CN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量</a:t>
                      </a:r>
                    </a:p>
                  </a:txBody>
                  <a:tcPr anchor="ctr" marL="45720" marR="45720" marT="18288" marB="18288">
                    <a:solidFill>
                      <a:srgbClr val="222B3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lang="zh-CN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128k</a:t>
                      </a:r>
                    </a:p>
                  </a:txBody>
                  <a:tcPr anchor="ctr" marL="45720" marR="45720" marT="18288" marB="18288">
                    <a:solidFill>
                      <a:srgbClr val="222B3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lang="zh-CN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1M</a:t>
                      </a:r>
                    </a:p>
                  </a:txBody>
                  <a:tcPr anchor="ctr" marL="45720" marR="45720" marT="18288" marB="18288">
                    <a:solidFill>
                      <a:srgbClr val="222B3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lang="zh-CN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随 S</a:t>
                      </a:r>
                    </a:p>
                  </a:txBody>
                  <a:tcPr anchor="ctr" marL="45720" marR="45720" marT="18288" marB="18288">
                    <a:solidFill>
                      <a:srgbClr val="222B3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训练激活（残差流）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101 GB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808 GB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∝ S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KV / 序列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25.2 GB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201.6 GB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∝ S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注意力计算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基准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×64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∝ S²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静态（参数+梯度+优化器）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~30 GB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~30 GB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不随 S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02920" y="580644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lang="zh-CN">
                <a:solidFill>
                  <a:srgbClr val="C7000B"/>
                </a:solidFill>
                <a:latin typeface="PingFang SC"/>
                <a:ea typeface="PingFang SC"/>
                <a:cs typeface="PingFang SC"/>
              </a:rPr>
              <a:t>→ SP/CP 是唯一切激活/KV 的杠杆，这就是「长序列必开 SP/CP」的原因。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55448"/>
          <a:lstStyle/>
          <a:p>
            <a:pPr algn="ctr"/>
            <a:r>
              <a:rPr sz="2100" b="1" lang="zh-CN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2 · 128k 寻优（N=256，激活 101/(TP×CP)，KV 25.2b/(TP×CP)）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201168" cy="82296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lang="zh-CN">
                <a:solidFill>
                  <a:srgbClr val="6B7480"/>
                </a:solidFill>
                <a:latin typeface="PingFang SC"/>
                <a:ea typeface="PingFang SC"/>
                <a:cs typeface="PingFang SC"/>
              </a:rPr>
              <a:t>Qwen3-235B-A22B Agentic RL · 长序列并行配置寻优（128k / 1M · 256 die · ZeRO-2）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lang="zh-CN">
                <a:solidFill>
                  <a:srgbClr val="6B7480"/>
                </a:solidFill>
                <a:latin typeface="PingFang SC"/>
                <a:ea typeface="PingFang SC"/>
                <a:cs typeface="PingFang SC"/>
              </a:rPr>
              <a:t>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417320"/>
          <a:ext cx="11155676" cy="22677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09338"/>
                <a:gridCol w="3238745"/>
                <a:gridCol w="1079581"/>
                <a:gridCol w="1079581"/>
                <a:gridCol w="629756"/>
                <a:gridCol w="1079581"/>
                <a:gridCol w="2339094"/>
              </a:tblGrid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200" b="1" lang="zh-CN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目标</a:t>
                      </a:r>
                    </a:p>
                  </a:txBody>
                  <a:tcPr anchor="ctr" marL="45720" marR="45720" marT="18288" marB="18288">
                    <a:solidFill>
                      <a:srgbClr val="222B3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lang="zh-CN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配置（EP=CP×DP, SP=TP）</a:t>
                      </a:r>
                    </a:p>
                  </a:txBody>
                  <a:tcPr anchor="ctr" marL="45720" marR="45720" marT="18288" marB="18288">
                    <a:solidFill>
                      <a:srgbClr val="222B3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lang="zh-CN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训练阶段</a:t>
                      </a:r>
                    </a:p>
                  </a:txBody>
                  <a:tcPr anchor="ctr" marL="45720" marR="45720" marT="18288" marB="18288">
                    <a:solidFill>
                      <a:srgbClr val="222B3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lang="zh-CN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推理阶段</a:t>
                      </a:r>
                    </a:p>
                  </a:txBody>
                  <a:tcPr anchor="ctr" marL="45720" marR="45720" marT="18288" marB="18288">
                    <a:solidFill>
                      <a:srgbClr val="222B3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lang="zh-CN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b</a:t>
                      </a:r>
                    </a:p>
                  </a:txBody>
                  <a:tcPr anchor="ctr" marL="45720" marR="45720" marT="18288" marB="18288">
                    <a:solidFill>
                      <a:srgbClr val="222B3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lang="zh-CN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峰值</a:t>
                      </a:r>
                    </a:p>
                  </a:txBody>
                  <a:tcPr anchor="ctr" marL="45720" marR="45720" marT="18288" marB="18288">
                    <a:solidFill>
                      <a:srgbClr val="222B3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lang="zh-CN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特点</a:t>
                      </a:r>
                    </a:p>
                  </a:txBody>
                  <a:tcPr anchor="ctr" marL="45720" marR="45720" marT="18288" marB="18288">
                    <a:solidFill>
                      <a:srgbClr val="222B38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00" b="1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吞吐优先 T1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TP8·SP8·CP1·PP1·DP32 (EP32)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42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59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16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lang="zh-CN">
                          <a:solidFill>
                            <a:srgbClr val="1B7F3B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59 ✅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无 CP、DP32 最大吞吐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00" b="1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均衡 B1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TP8·SP8·CP2·PP1·DP16 (EP32)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35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59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32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lang="zh-CN">
                          <a:solidFill>
                            <a:srgbClr val="1B7F3B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59 ✅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CP2 换来 b=32（2× 并发）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00" b="1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并发/显存 C1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TP8·SP8·CP4·PP1·DP8 (EP32)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32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33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32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lang="zh-CN">
                          <a:solidFill>
                            <a:srgbClr val="1B7F3B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33 ✅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余量极大，可推 b→64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3657600"/>
            <a:ext cx="111556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lang="zh-CN">
                <a:solidFill>
                  <a:srgbClr val="222B38"/>
                </a:solidFill>
                <a:latin typeface="PingFang SC"/>
                <a:ea typeface="PingFang SC"/>
                <a:cs typeface="PingFang SC"/>
              </a:rPr>
              <a:t>128k 下三代 die（64GB）都轻松放下——配置差异在 吞吐 ↔ 并发(b) ↔ 通信 的权衡。</a:t>
            </a:r>
          </a:p>
          <a:p>
            <a:pPr algn="l">
              <a:spcAft>
                <a:spcPts val="400"/>
              </a:spcAft>
            </a:pPr>
            <a:r>
              <a:rPr sz="1250" b="0" lang="zh-CN">
                <a:solidFill>
                  <a:srgbClr val="222B38"/>
                </a:solidFill>
                <a:latin typeface="PingFang SC"/>
                <a:ea typeface="PingFang SC"/>
                <a:cs typeface="PingFang SC"/>
              </a:rPr>
              <a:t>• 从 T1→C1：CP 增大（跨节点通信增）、DP 减小（吞吐降），换来更大 b（rollout 并发）和更多余量</a:t>
            </a:r>
          </a:p>
          <a:p>
            <a:pPr algn="l">
              <a:spcAft>
                <a:spcPts val="400"/>
              </a:spcAft>
            </a:pPr>
            <a:r>
              <a:rPr sz="1250" b="1" lang="zh-CN">
                <a:solidFill>
                  <a:srgbClr val="1B7F3B"/>
                </a:solidFill>
                <a:latin typeface="PingFang SC"/>
                <a:ea typeface="PingFang SC"/>
                <a:cs typeface="PingFang SC"/>
              </a:rPr>
              <a:t>• 默认推 T1（吞吐优先、无 CP）；要高 rollout 并发选 B1（b=32）</a:t>
            </a:r>
          </a:p>
          <a:p>
            <a:pPr algn="l">
              <a:spcAft>
                <a:spcPts val="400"/>
              </a:spcAft>
            </a:pPr>
            <a:r>
              <a:rPr sz="1150" b="0" lang="zh-CN">
                <a:solidFill>
                  <a:srgbClr val="6B7480"/>
                </a:solidFill>
                <a:latin typeface="PingFang SC"/>
                <a:ea typeface="PingFang SC"/>
                <a:cs typeface="PingFang SC"/>
              </a:rPr>
              <a:t>• 单位口径：TP8=8 die 落一个 UB 岛；CP 跨节点。峰值均 &lt;64GB，A3/950DT 均可行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55448"/>
          <a:lstStyle/>
          <a:p>
            <a:pPr algn="ctr"/>
            <a:r>
              <a:rPr sz="2100" b="1" lang="zh-CN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 · 1M 寻优（激活 808/(TP×CP)，KV 201.6b/(TP×CP)，须 TP×CP≥32）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201168" cy="82296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lang="zh-CN">
                <a:solidFill>
                  <a:srgbClr val="6B7480"/>
                </a:solidFill>
                <a:latin typeface="PingFang SC"/>
                <a:ea typeface="PingFang SC"/>
                <a:cs typeface="PingFang SC"/>
              </a:rPr>
              <a:t>Qwen3-235B-A22B Agentic RL · 长序列并行配置寻优（128k / 1M · 256 die · ZeRO-2）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lang="zh-CN">
                <a:solidFill>
                  <a:srgbClr val="6B7480"/>
                </a:solidFill>
                <a:latin typeface="PingFang SC"/>
                <a:ea typeface="PingFang SC"/>
                <a:cs typeface="PingFang SC"/>
              </a:rPr>
              <a:t>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417320"/>
          <a:ext cx="11155676" cy="22677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09338"/>
                <a:gridCol w="3238745"/>
                <a:gridCol w="1079581"/>
                <a:gridCol w="1079581"/>
                <a:gridCol w="629756"/>
                <a:gridCol w="1079581"/>
                <a:gridCol w="2339094"/>
              </a:tblGrid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200" b="1" lang="zh-CN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目标</a:t>
                      </a:r>
                    </a:p>
                  </a:txBody>
                  <a:tcPr anchor="ctr" marL="45720" marR="45720" marT="18288" marB="18288">
                    <a:solidFill>
                      <a:srgbClr val="222B3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lang="zh-CN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配置（EP=CP×DP, SP=TP）</a:t>
                      </a:r>
                    </a:p>
                  </a:txBody>
                  <a:tcPr anchor="ctr" marL="45720" marR="45720" marT="18288" marB="18288">
                    <a:solidFill>
                      <a:srgbClr val="222B3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lang="zh-CN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训练阶段</a:t>
                      </a:r>
                    </a:p>
                  </a:txBody>
                  <a:tcPr anchor="ctr" marL="45720" marR="45720" marT="18288" marB="18288">
                    <a:solidFill>
                      <a:srgbClr val="222B3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lang="zh-CN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推理阶段</a:t>
                      </a:r>
                    </a:p>
                  </a:txBody>
                  <a:tcPr anchor="ctr" marL="45720" marR="45720" marT="18288" marB="18288">
                    <a:solidFill>
                      <a:srgbClr val="222B3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lang="zh-CN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b</a:t>
                      </a:r>
                    </a:p>
                  </a:txBody>
                  <a:tcPr anchor="ctr" marL="45720" marR="45720" marT="18288" marB="18288">
                    <a:solidFill>
                      <a:srgbClr val="222B3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lang="zh-CN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峰值</a:t>
                      </a:r>
                    </a:p>
                  </a:txBody>
                  <a:tcPr anchor="ctr" marL="45720" marR="45720" marT="18288" marB="18288">
                    <a:solidFill>
                      <a:srgbClr val="222B3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lang="zh-CN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特点</a:t>
                      </a:r>
                    </a:p>
                  </a:txBody>
                  <a:tcPr anchor="ctr" marL="45720" marR="45720" marT="18288" marB="18288">
                    <a:solidFill>
                      <a:srgbClr val="222B38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00" b="1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吞吐优先 T2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TP8·SP8·CP4·PP1·DP8 (EP32)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54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59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8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lang="zh-CN">
                          <a:solidFill>
                            <a:srgbClr val="1B7F3B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59 ✅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CP 最小(4)、TP 填岛 → 通信最少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00" b="1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均衡 B2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TP4·SP4·CP8·PP1·DP8 (EP64)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49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56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8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lang="zh-CN">
                          <a:solidFill>
                            <a:srgbClr val="1B7F3B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56 ✅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TP 小(4)、CP8 承担缩放（贴合惯例）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00" b="1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并发/显存 C2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TP4·SP4·CP16·PP1·DP4 (EP64)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37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56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16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lang="zh-CN">
                          <a:solidFill>
                            <a:srgbClr val="1B7F3B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56 ✅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TP×CP=64 → b=16；CP16 通信最重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3657600"/>
            <a:ext cx="111556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lang="zh-CN">
                <a:solidFill>
                  <a:srgbClr val="C7000B"/>
                </a:solidFill>
                <a:latin typeface="PingFang SC"/>
                <a:ea typeface="PingFang SC"/>
                <a:cs typeface="PingFang SC"/>
              </a:rPr>
              <a:t>1M 显存紧：必须 TP×CP≥32 才放得下（激活需≳20、KV@b8 需≥28）。TP 限 ≤8，其余靠 CP。</a:t>
            </a:r>
          </a:p>
          <a:p>
            <a:pPr algn="l">
              <a:spcAft>
                <a:spcPts val="400"/>
              </a:spcAft>
            </a:pPr>
            <a:r>
              <a:rPr sz="1250" b="1" lang="zh-CN">
                <a:solidFill>
                  <a:srgbClr val="1B7F3B"/>
                </a:solidFill>
                <a:latin typeface="PingFang SC"/>
                <a:ea typeface="PingFang SC"/>
                <a:cs typeface="PingFang SC"/>
              </a:rPr>
              <a:t>• T2 吞吐优先：TP 开满岛 8、CP 压到最小 4 —— TP all-reduce 走岛内 UB(快)，CP all-to-all 跨节点(慢)，多 TP 少 CP 更省</a:t>
            </a:r>
          </a:p>
          <a:p>
            <a:pPr algn="l">
              <a:spcAft>
                <a:spcPts val="400"/>
              </a:spcAft>
            </a:pPr>
            <a:r>
              <a:rPr sz="1250" b="0" lang="zh-CN">
                <a:solidFill>
                  <a:srgbClr val="222B38"/>
                </a:solidFill>
                <a:latin typeface="PingFang SC"/>
                <a:ea typeface="PingFang SC"/>
                <a:cs typeface="PingFang SC"/>
              </a:rPr>
              <a:t>• B2 均衡：TP=4、CP=8，更贴合「超长序列不开大 TP」；跨节点 CP 通信比 T2 多、吞吐略低</a:t>
            </a:r>
          </a:p>
          <a:p>
            <a:pPr algn="l">
              <a:spcAft>
                <a:spcPts val="400"/>
              </a:spcAft>
            </a:pPr>
            <a:r>
              <a:rPr sz="1200" b="0" lang="zh-CN">
                <a:solidFill>
                  <a:srgbClr val="222B38"/>
                </a:solidFill>
                <a:latin typeface="PingFang SC"/>
                <a:ea typeface="PingFang SC"/>
                <a:cs typeface="PingFang SC"/>
              </a:rPr>
              <a:t>• C2 并发优先：TP×CP=64 支持 b=16（2× 并发），代价是 CP16 通信最重、DP4 吞吐最低。可选 PP2 进一步省训练激活（仅训练阶段）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55448"/>
          <a:lstStyle/>
          <a:p>
            <a:pPr algn="ctr"/>
            <a:r>
              <a:rPr sz="2100" b="1" lang="zh-CN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4 · 选型建议与结构性结论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201168" cy="82296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lang="zh-CN">
                <a:solidFill>
                  <a:srgbClr val="6B7480"/>
                </a:solidFill>
                <a:latin typeface="PingFang SC"/>
                <a:ea typeface="PingFang SC"/>
                <a:cs typeface="PingFang SC"/>
              </a:rPr>
              <a:t>Qwen3-235B-A22B Agentic RL · 长序列并行配置寻优（128k / 1M · 256 die · ZeRO-2）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lang="zh-CN">
                <a:solidFill>
                  <a:srgbClr val="6B7480"/>
                </a:solidFill>
                <a:latin typeface="PingFang SC"/>
                <a:ea typeface="PingFang SC"/>
                <a:cs typeface="PingFang SC"/>
              </a:rPr>
              <a:t>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371600"/>
          <a:ext cx="11155680" cy="28529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45208"/>
                <a:gridCol w="3997452"/>
                <a:gridCol w="511302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 lang="zh-CN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维度</a:t>
                      </a:r>
                    </a:p>
                  </a:txBody>
                  <a:tcPr anchor="ctr" marL="45720" marR="45720" marT="18288" marB="18288">
                    <a:solidFill>
                      <a:srgbClr val="222B3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lang="zh-CN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128k</a:t>
                      </a:r>
                    </a:p>
                  </a:txBody>
                  <a:tcPr anchor="ctr" marL="45720" marR="45720" marT="18288" marB="18288">
                    <a:solidFill>
                      <a:srgbClr val="222B3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lang="zh-CN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1M</a:t>
                      </a:r>
                    </a:p>
                  </a:txBody>
                  <a:tcPr anchor="ctr" marL="45720" marR="45720" marT="18288" marB="18288">
                    <a:solidFill>
                      <a:srgbClr val="222B38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200" b="1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显存是否紧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松（峰值 33–59 / 64）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紧（56–59 / 64，须 TP×CP≥32）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200" b="1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主导旋钮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b（并发）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CP（序列缩放）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200" b="1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默认推荐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T1  TP8·CP1·DP32（吞吐）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T2  TP8·CP4·DP8（吞吐，CP 最小）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200" b="1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高并发选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B1  TP8·CP2·DP16, b=32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C2  TP4·CP16·DP4, b=16</a:t>
                      </a:r>
                    </a:p>
                  </a:txBody>
                  <a:tcPr anchor="ctr" marL="45720" marR="45720" marT="18288" marB="18288">
                    <a:solidFill>
                      <a:srgbClr val="F3F5F8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200" b="1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贴合「小 TP」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—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lang="zh-CN">
                          <a:solidFill>
                            <a:srgbClr val="222B38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B2  TP4·CP8·DP8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4114800"/>
            <a:ext cx="111556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lang="zh-CN">
                <a:solidFill>
                  <a:srgbClr val="C7000B"/>
                </a:solidFill>
                <a:latin typeface="PingFang SC"/>
                <a:ea typeface="PingFang SC"/>
                <a:cs typeface="PingFang SC"/>
              </a:rPr>
              <a:t>三个结构性结论</a:t>
            </a:r>
          </a:p>
          <a:p>
            <a:pPr algn="l">
              <a:spcAft>
                <a:spcPts val="400"/>
              </a:spcAft>
            </a:pPr>
            <a:r>
              <a:rPr sz="1250" b="1" lang="zh-CN">
                <a:solidFill>
                  <a:srgbClr val="C02828"/>
                </a:solidFill>
                <a:latin typeface="PingFang SC"/>
                <a:ea typeface="PingFang SC"/>
                <a:cs typeface="PingFang SC"/>
              </a:rPr>
              <a:t>① CP 是 1M 的命门且抬带宽：序列 all-to-all ∝ S·h，CP=4–16 跨节点量巨大 → 必须超节点 fabric（A3/950DT），A2 彻底不可行</a:t>
            </a:r>
          </a:p>
          <a:p>
            <a:pPr algn="l">
              <a:spcAft>
                <a:spcPts val="400"/>
              </a:spcAft>
            </a:pPr>
            <a:r>
              <a:rPr sz="1250" b="0" lang="zh-CN">
                <a:solidFill>
                  <a:srgbClr val="222B38"/>
                </a:solidFill>
                <a:latin typeface="PingFang SC"/>
                <a:ea typeface="PingFang SC"/>
                <a:cs typeface="PingFang SC"/>
              </a:rPr>
              <a:t>② TP 上限=岛大小(8)，缩放交给 CP：TP&gt;8 跨岛得不偿失；用满 TP=8 再加 CP 是通信最省路径（T2）</a:t>
            </a:r>
          </a:p>
          <a:p>
            <a:pPr algn="l">
              <a:spcAft>
                <a:spcPts val="400"/>
              </a:spcAft>
            </a:pPr>
            <a:r>
              <a:rPr sz="1250" b="1" lang="zh-CN">
                <a:solidFill>
                  <a:srgbClr val="1B7F3B"/>
                </a:solidFill>
                <a:latin typeface="PingFang SC"/>
                <a:ea typeface="PingFang SC"/>
                <a:cs typeface="PingFang SC"/>
              </a:rPr>
              <a:t>③ decode 被 CP 兜住：KV/die 被 TP×CP 切到 ~25–50GB → 每步 KV 读 15–32ms；FP8 KV 再减半，是 1M rollout 关键杠杆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55448"/>
          <a:lstStyle/>
          <a:p>
            <a:pPr algn="ctr"/>
            <a:r>
              <a:rPr sz="2100" b="1" lang="zh-CN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附录 · 符号与公式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201168" cy="82296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lang="zh-CN">
                <a:solidFill>
                  <a:srgbClr val="6B7480"/>
                </a:solidFill>
                <a:latin typeface="PingFang SC"/>
                <a:ea typeface="PingFang SC"/>
                <a:cs typeface="PingFang SC"/>
              </a:rPr>
              <a:t>Qwen3-235B-A22B Agentic RL · 长序列并行配置寻优（128k / 1M · 256 die · ZeRO-2）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lang="zh-CN">
                <a:solidFill>
                  <a:srgbClr val="6B7480"/>
                </a:solidFill>
                <a:latin typeface="PingFang SC"/>
                <a:ea typeface="PingFang SC"/>
                <a:cs typeface="PingFang SC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97280"/>
            <a:ext cx="111556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lang="zh-CN">
                <a:solidFill>
                  <a:srgbClr val="C7000B"/>
                </a:solidFill>
                <a:latin typeface="PingFang SC"/>
                <a:ea typeface="PingFang SC"/>
                <a:cs typeface="PingFang SC"/>
              </a:rPr>
              <a:t>符号</a:t>
            </a:r>
          </a:p>
          <a:p>
            <a:pPr algn="l">
              <a:spcAft>
                <a:spcPts val="400"/>
              </a:spcAft>
            </a:pPr>
            <a:r>
              <a:rPr sz="1150" b="0" lang="zh-CN">
                <a:solidFill>
                  <a:srgbClr val="45505E"/>
                </a:solidFill>
                <a:latin typeface="PingFang SC"/>
                <a:ea typeface="PingFang SC"/>
                <a:cs typeface="PingFang SC"/>
              </a:rPr>
              <a:t>N=die数=256 · TP/CP/PP/DP=张量/上下文/流水/数据并行(die) · EP=CP×DP · SP=TP · S=序列长 · b=每组并发序列</a:t>
            </a:r>
          </a:p>
          <a:p>
            <a:pPr algn="l">
              <a:spcAft>
                <a:spcPts val="400"/>
              </a:spcAft>
            </a:pPr>
            <a:r>
              <a:rPr sz="1150" b="0" lang="zh-CN">
                <a:solidFill>
                  <a:srgbClr val="45505E"/>
                </a:solidFill>
                <a:latin typeface="PingFang SC"/>
                <a:ea typeface="PingFang SC"/>
                <a:cs typeface="PingFang SC"/>
              </a:rPr>
              <a:t>h=4096 · L=94 · 专家参数~227B / 非专家~8B · 精度 训练 BF16 / 推理权重 FP8</a:t>
            </a:r>
          </a:p>
          <a:p>
            <a:pPr algn="l">
              <a:spcAft>
                <a:spcPts val="300"/>
              </a:spcAft>
            </a:pPr>
            <a:r>
              <a:rPr sz="1300" b="1" lang="zh-CN">
                <a:solidFill>
                  <a:srgbClr val="C7000B"/>
                </a:solidFill>
                <a:latin typeface="PingFang SC"/>
                <a:ea typeface="PingFang SC"/>
                <a:cs typeface="PingFang SC"/>
              </a:rPr>
              <a:t>核心公式（per-die）</a:t>
            </a:r>
          </a:p>
          <a:p>
            <a:pPr algn="l">
              <a:spcAft>
                <a:spcPts val="400"/>
              </a:spcAft>
            </a:pPr>
            <a:r>
              <a:rPr sz="1150" b="0" lang="zh-CN">
                <a:solidFill>
                  <a:srgbClr val="45505E"/>
                </a:solidFill>
                <a:latin typeface="PingFang SC"/>
                <a:ea typeface="PingFang SC"/>
                <a:cs typeface="PingFang SC"/>
              </a:rPr>
              <a:t>N = TP×CP×PP×DP = 256      EP = CP×DP      SP = TP</a:t>
            </a:r>
          </a:p>
          <a:p>
            <a:pPr algn="l">
              <a:spcAft>
                <a:spcPts val="400"/>
              </a:spcAft>
            </a:pPr>
            <a:r>
              <a:rPr sz="1150" b="0" lang="zh-CN">
                <a:solidFill>
                  <a:srgbClr val="45505E"/>
                </a:solidFill>
                <a:latin typeface="PingFang SC"/>
                <a:ea typeface="PingFang SC"/>
                <a:cs typeface="PingFang SC"/>
              </a:rPr>
              <a:t>静态(ZeRO-2) = 454/(EP×PP) + 16/(TP×PP) + 13        # 专家wt + 非专家wt + 梯度优化器</a:t>
            </a:r>
          </a:p>
          <a:p>
            <a:pPr algn="l">
              <a:spcAft>
                <a:spcPts val="400"/>
              </a:spcAft>
            </a:pPr>
            <a:r>
              <a:rPr sz="1150" b="0" lang="zh-CN">
                <a:solidFill>
                  <a:srgbClr val="45505E"/>
                </a:solidFill>
                <a:latin typeface="PingFang SC"/>
                <a:ea typeface="PingFang SC"/>
                <a:cs typeface="PingFang SC"/>
              </a:rPr>
              <a:t>训练激活    = 101 × (S/128k) / (TP×CP)</a:t>
            </a:r>
          </a:p>
          <a:p>
            <a:pPr algn="l">
              <a:spcAft>
                <a:spcPts val="400"/>
              </a:spcAft>
            </a:pPr>
            <a:r>
              <a:rPr sz="1150" b="0" lang="zh-CN">
                <a:solidFill>
                  <a:srgbClr val="45505E"/>
                </a:solidFill>
                <a:latin typeface="PingFang SC"/>
                <a:ea typeface="PingFang SC"/>
                <a:cs typeface="PingFang SC"/>
              </a:rPr>
              <a:t>推理 KV/die = 25.2 × (S/128k) × b / (TP×CP)</a:t>
            </a:r>
          </a:p>
          <a:p>
            <a:pPr algn="l">
              <a:spcAft>
                <a:spcPts val="400"/>
              </a:spcAft>
            </a:pPr>
            <a:r>
              <a:rPr sz="1150" b="0" lang="zh-CN">
                <a:solidFill>
                  <a:srgbClr val="45505E"/>
                </a:solidFill>
                <a:latin typeface="PingFang SC"/>
                <a:ea typeface="PingFang SC"/>
                <a:cs typeface="PingFang SC"/>
              </a:rPr>
              <a:t>底座(FP8)   = 227/EP + 8/TP</a:t>
            </a:r>
          </a:p>
          <a:p>
            <a:pPr algn="l">
              <a:spcAft>
                <a:spcPts val="400"/>
              </a:spcAft>
            </a:pPr>
            <a:r>
              <a:rPr sz="1150" b="1" lang="zh-CN">
                <a:solidFill>
                  <a:srgbClr val="1F5F8B"/>
                </a:solidFill>
                <a:latin typeface="PingFang SC"/>
                <a:ea typeface="PingFang SC"/>
                <a:cs typeface="PingFang SC"/>
              </a:rPr>
              <a:t>单die峰值   = max(静态+激活, 底座+KV) ≤ 64 GB</a:t>
            </a:r>
          </a:p>
          <a:p>
            <a:pPr algn="l">
              <a:spcAft>
                <a:spcPts val="400"/>
              </a:spcAft>
            </a:pPr>
            <a:r>
              <a:rPr sz="1150" b="0" lang="zh-CN">
                <a:solidFill>
                  <a:srgbClr val="45505E"/>
                </a:solidFill>
                <a:latin typeface="PingFang SC"/>
                <a:ea typeface="PingFang SC"/>
                <a:cs typeface="PingFang SC"/>
              </a:rPr>
              <a:t>scaling     激活 ∝ S · KV ∝ b·S · 注意力 ∝ S² · CP↑ → 跨节点带宽↑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PingFang SC"/>
        <a:cs typeface=""/>
        <a:font script="Jpan" typeface="ＭＳ Ｐゴシック"/>
        <a:font script="Hang" typeface="맑은 고딕"/>
        <a:font script="Hans" typeface="PingFang SC"/>
        <a:font script="Hant" typeface="PingFang SC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PingFang SC"/>
        <a:cs typeface=""/>
        <a:font script="Jpan" typeface="ＭＳ Ｐゴシック"/>
        <a:font script="Hang" typeface="맑은 고딕"/>
        <a:font script="Hans" typeface="PingFang SC"/>
        <a:font script="Hant" typeface="PingFang SC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