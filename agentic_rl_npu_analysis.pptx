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PingFang SC"/>
              </a:rPr>
              <a:t>Agentic RL 后训练 · NPU 资源充分性分析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D8DDE4"/>
                </a:solidFill>
                <a:latin typeface="PingFang SC"/>
              </a:rPr>
              <a:t>Qwen3-235B-A22B (MoE) 在华为 A2 / A3 / 950DT 上的逐场景测算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480"/>
                </a:solidFill>
                <a:latin typeface="PingFang SC"/>
              </a:rPr>
              <a:t>GRPO · 共卡 colocated · on-policy · 文本 / 图片 / 视频 三场景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8C0CC"/>
                </a:solidFill>
                <a:latin typeface="PingFang SC"/>
              </a:rPr>
              <a:t>结论口径：✅ 富余   ⚠️ 紧张/需优化   ❌ 放不下/需换配置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PingFang SC"/>
              </a:rPr>
              <a:t>所有数字为量级级 sizing，假设已参数化、替换即可重算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1 · 模型 / 任务 / 硬件 / 判定口径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7000B"/>
                </a:solidFill>
                <a:latin typeface="PingFang SC"/>
              </a:rPr>
              <a:t>模型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Qwen3-235B-A22B（MoE）：235B 总参 / 22B 激活；94 层，hidden 4096；128 专家 top-8；GQA(64Q/4KV)；FP8。多模态用 Qwen3-VL-235B-A22B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PingFang SC"/>
              </a:rPr>
              <a:t>任务（GRPO · on-policy · 共卡）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N_p=1024 prompt，G=16 → B=16,384 轨迹；mini=32 → 32 optimizer step/迭代；rollout 与 training 分时复用同一批 128 卡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PingFang SC"/>
              </a:rPr>
              <a:t>硬件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华为三代 NPU：A2(910B) / A3(910C) / 950DT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7000B"/>
                </a:solidFill>
                <a:latin typeface="PingFang SC"/>
              </a:rPr>
              <a:t>三场景（靠序列长 S 放大）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文本 S=16k · 图片 S=32k · 视频 S=128k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PingFang SC"/>
              </a:rPr>
              <a:t>判定口径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通信：每条边折算成 单卡·每迭代量 ÷ 链路带宽，判是否 comm-bound（分 scale-up / scale-out / PCIe）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HBM：训练相 / 推理相 分别核算，共卡峰值取二者较大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DRAM：按单节点 8 卡（~1.5 TB）核算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PingFang SC"/>
              </a:rPr>
              <a:t>核心判断：MoE 的瓶颈在 通信 + 内存，不在算力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2 · MoE 关键特性：总参驱动通信/内存，激活驱动算力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836676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资源量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Qwen3-235B-A22B 的特性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PingFang SC"/>
                        </a:rPr>
                        <a:t>权重同步 / 优化器 / 显存权重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∝ 总参 235B（非激活 22B）— 任一 token 可路由任一专家，全部专家都要同步/驻留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PingFang SC"/>
                        </a:rPr>
                        <a:t>计算（FLOPs、注意力）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∝ 激活 22B — 每 token 只算被选中的 8/128 专家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PingFang SC"/>
                        </a:rPr>
                        <a:t>训练内部主导通信（边 G）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专家并行 all-to-all（dispatch+combine 激活）— ∝ tokens=B×S，随 S 线性涨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2336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7000B"/>
                </a:solidFill>
                <a:latin typeface="PingFang SC"/>
              </a:rPr>
              <a:t>一句话直觉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8"/>
                </a:solidFill>
                <a:latin typeface="PingFang SC"/>
              </a:rPr>
              <a:t>MoE 用「总参大、激活小」换容量 —— 省的是计算，不省通信与显存里的权重/优化器。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B38"/>
                </a:solidFill>
                <a:latin typeface="PingFang SC"/>
              </a:rPr>
              <a:t>所以 Qwen3-235B 在 NPU 上的瓶颈偏向：① 专家 all-to-all 通信  ② 权重搬运  ③ 优化器/激活/KV 内存 —— 而非 TFLOPS。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3 · 硬件规格：A2 / A3 / 950DT（胜负手 = scale-up 可达范围）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1136"/>
                <a:gridCol w="2974848"/>
                <a:gridCol w="2974848"/>
                <a:gridCol w="297484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规格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A2 · 910B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A3 · 910C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950DT (2026Q4)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单卡 HBM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64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128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144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HBM 带宽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~1.6 TB/s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~3.2 TB/s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~4 TB/s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scale-up 互联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HCCS 392GB/s
仅节点内 8 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UB 392GB/s
超节点 ≤384 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灵衢 ~2TB/s
超节点 ≤8192 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scale-out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RoCE ~25 GB/s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RoCE ~50 GB/s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灵衢统一编址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超节点规模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8 卡岛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≤384 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≤8192 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7000B"/>
                </a:solidFill>
                <a:latin typeface="PingFang SC"/>
              </a:rPr>
              <a:t>★ 关键差异不是容量/带宽数值，而是 scale-up fabric 的「可达范围」：8 卡岛 → 384 卡超节点 → 8192 卡超节点。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MoE 的 all-to-all 是「全体互发、二分带宽敏感」，极吃 fabric 全连接能力 —— A2 的 8 卡岛尤其吃亏。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4 · 并行配置（N=128 · 共卡 · 两相 mesh 不同）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B38"/>
                </a:solidFill>
                <a:latin typeface="PingFang SC"/>
              </a:rPr>
              <a:t>专家共用 EP=32（4 专家/卡）；训练与推理对「注意力」的切法不同。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5486399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1314"/>
                <a:gridCol w="3135085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训练相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每卡承担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专家 FFN (EP=32)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4 专家/卡 · 14.2GB(BF16)/7.1GB(FP8)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注意力+embed (ZeRO-3)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分片/128 · 常驻 ~0.1GB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梯度 / 优化器 (ZeRO/128)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3.7GB / 22.0GB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训练静态合计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≈ 40 GB/卡  + 激活(∝S)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45920"/>
          <a:ext cx="5486399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8068"/>
                <a:gridCol w="2978331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推理相 (rollout)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每卡承担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专家 FFN (EP=32)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4 专家/卡 · FP8 ~7GB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注意力 (DP=32×TP=4)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KV 按 TP 切 /4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优化器 / 梯度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无（释放 ~26GB 给 KV）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推理权重底座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≈ 9 GB/卡  + KV cache(∝并发×S)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805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共用专家分片 → 边 A 权重同步只需把更新后的专家分片刷进推理副本，分片感知、无需重排。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共卡分时：rollout 时释放梯度/优化器给 KV；training 时释放 KV 给激活。显存峰值 = max(训练相, 推理相)。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B38"/>
                </a:solidFill>
                <a:latin typeface="PingFang SC"/>
              </a:rPr>
              <a:t>• 训练吃内存的是「优化器 22GB」；推理吃内存的是「KV cache」。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5 · 三个场景（文本 / 图片 / 视频）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79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2644"/>
                <a:gridCol w="3042458"/>
                <a:gridCol w="3448119"/>
                <a:gridCol w="304245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场景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单条轨迹 S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视觉来源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备注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PingFang SC"/>
                        </a:rPr>
                        <a:t>文本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16k (P8k+R8k)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基线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PingFang SC"/>
                        </a:rPr>
                        <a:t>图片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32k (P8k+R24k)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~8 图×~600 视觉 token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中程多模态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PingFang SC"/>
                        </a:rPr>
                        <a:t>视频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128k (P8k+R120k)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数十帧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PingFang SC"/>
                        </a:rPr>
                        <a:t>长视频（YaRN 128k）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8"/>
                </a:solidFill>
                <a:latin typeface="PingFang SC"/>
              </a:rPr>
              <a:t>多模态用 Qwen3-VL-235B-A22B：视觉 token 占 LLM 序列位（S 计的是 ViT 之后的 token 数）。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视觉编码统一「方案①」：buffer 存压缩原始帧，训练侧重跑 ViT（经验数据近 4B/token 口径，省内存/带宽）。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480"/>
                </a:solidFill>
                <a:latin typeface="PingFang SC"/>
              </a:rPr>
              <a:t>其余不变：N_p=1024, G=16, B=16384, mini=32, n_steps=32, μ=1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6 · 单卡逐边通信量（唯一带宽敏感 = 边 G all-to-all）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55678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5951"/>
                <a:gridCol w="4146358"/>
                <a:gridCol w="3948913"/>
                <a:gridCol w="197445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边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单卡量 文本/图片/视频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链路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权重同步（总参分片）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~7 GB (FP8)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scale-up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B/D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prompt 分发 / 奖励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~1 MB / ~1 KB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host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C/F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轨迹回传 / 取数（含压缩帧）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8MB / 0.4GB / 1.4GB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PCIe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E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old+ref logprob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8 / 25 / 126 MB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PCIe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G 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EP all-to-all（训练 fwd+bwd）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52 / 103 / 413 TB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scale-up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额外前向 old+ref all-to-all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52 / 103 / 413 TB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scale-up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PingFang SC"/>
                        </a:rPr>
                        <a:t>合计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scale-up 单卡/迭代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105 / 210 / 830 TB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PingFang SC"/>
                        </a:rPr>
                        <a:t>scale-up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边 A/B/C/D/E/F 都是 MB~GB 级，走 host/PCIe，任何代际都是零头。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7000B"/>
                </a:solidFill>
                <a:latin typeface="PingFang SC"/>
              </a:rPr>
              <a:t>唯一带宽敏感的是 scale-up 上的 边 G（专家 all-to-all）：~105 TB/卡起、随 S 线性涨（视频 ~830 TB/卡）。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7 · 边 G 通信构成 &amp; Rollout prefill vs decode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B38"/>
                </a:solidFill>
                <a:latin typeface="PingFang SC"/>
              </a:rPr>
              <a:t>边 G 通信构成（训练 fwd+bwd，单卡/迭代）：all-to-all 绝对主导，ZeRO/DP 同步远小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78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8119"/>
                <a:gridCol w="3245288"/>
                <a:gridCol w="3245288"/>
                <a:gridCol w="1216983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组成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通信类型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单卡量 文本/图/视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随S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专家 dispatch+combine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all-to-all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52 / 103 / 413 TB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非专家参数 all-gather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ZeRO-3 all-gather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~4 TB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否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非专家梯度 reduce-scatter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ZeRO-3 reduce-scatter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~0.5 TB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专家梯度 all-reduce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DP all-reduce (×4 副本)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~0.7 TB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否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边 G 合计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57 / 108 / 418 TB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4340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PingFang SC"/>
              </a:rPr>
              <a:t>all-to-all 占比：文本 ~91% → 图片 ~95% → 视频 ~99%（S 越长越被独占）。训练注意力走 ZeRO-3，故无 TP all-reduce。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7000B"/>
                </a:solidFill>
                <a:latin typeface="PingFang SC"/>
              </a:rPr>
              <a:t>Rollout 生成的两段（无梯度/优化器，KV 本地不跨卡）：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Prefill（处理输入 token，批量并行）：all-to-all ~13TB/卡 —— 大消息、带宽型、效率高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• Decode（逐 token 生成）：总量相近，但拆成 R×94 次同步小 all-to-all（文本 ~77 万次）—— 延迟型，被 fabric 单跳延迟主导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8 · 单卡 HBM（训练相 / 推理相，共卡取峰值）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B38"/>
                </a:solidFill>
                <a:latin typeface="PingFang SC"/>
              </a:rPr>
              <a:t>训练相（静态 40GB + 激活，1 序列/micro-batch + 重算）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7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5879"/>
                <a:gridCol w="1214975"/>
                <a:gridCol w="1214975"/>
                <a:gridCol w="1767236"/>
                <a:gridCol w="1767236"/>
                <a:gridCol w="1767236"/>
                <a:gridCol w="19881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场景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静态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激活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合计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A2(64)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A3(128)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950DT(144)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文本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40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12.6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~53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 紧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图片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40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25.2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~65 GB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2828"/>
                          </a:solidFill>
                          <a:latin typeface="PingFang SC"/>
                        </a:rPr>
                        <a:t>❌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视频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40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101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~141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2828"/>
                          </a:solidFill>
                          <a:latin typeface="PingFang SC"/>
                        </a:rPr>
                        <a:t>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2828"/>
                          </a:solidFill>
                          <a:latin typeface="PingFang SC"/>
                        </a:rPr>
                        <a:t>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B87A00"/>
                          </a:solidFill>
                          <a:latin typeface="PingFang SC"/>
                        </a:rPr>
                        <a:t>⚠️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B38"/>
                </a:solidFill>
                <a:latin typeface="PingFang SC"/>
              </a:rPr>
              <a:t>推理相（推理权重 FP8 ~7GB + KV cache，并发 b=32/组）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657600"/>
          <a:ext cx="11155677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5879"/>
                <a:gridCol w="1214975"/>
                <a:gridCol w="1214975"/>
                <a:gridCol w="1767236"/>
                <a:gridCol w="1767236"/>
                <a:gridCol w="1767236"/>
                <a:gridCol w="19881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场景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权重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KV(b=32)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合计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A2(64)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A3(128)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950DT(144)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文本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25.3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~32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图片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50.6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~58 GB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B87A00"/>
                          </a:solidFill>
                          <a:latin typeface="PingFang SC"/>
                        </a:rPr>
                        <a:t>⚠️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B7F3B"/>
                          </a:solidFill>
                          <a:latin typeface="PingFang SC"/>
                        </a:rPr>
                        <a:t>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B38"/>
                          </a:solidFill>
                          <a:latin typeface="PingFang SC"/>
                        </a:rPr>
                        <a:t>视频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201.6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PingFang SC"/>
                        </a:rPr>
                        <a:t>~209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2828"/>
                          </a:solidFill>
                          <a:latin typeface="PingFang SC"/>
                        </a:rPr>
                        <a:t>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2828"/>
                          </a:solidFill>
                          <a:latin typeface="PingFang SC"/>
                        </a:rPr>
                        <a:t>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C02828"/>
                          </a:solidFill>
                          <a:latin typeface="PingFang SC"/>
                        </a:rPr>
                        <a:t>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7000B"/>
                </a:solidFill>
                <a:latin typeface="PingFang SC"/>
              </a:rPr>
              <a:t>视频两相都撑不住：训练激活 ~101GB 需序列并行/PP，推理 KV ~200GB 需 offload+降并发 → 三代都得动并行/offload。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9 · CPU host DRAM（单节点 8 卡 · ~1.5 TB）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7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3427"/>
                <a:gridCol w="3025269"/>
                <a:gridCol w="4726983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来源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量级（每节点）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经验缓冲区（含压缩帧，方案①）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文本 ~2GB / 视频 ~十几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视频那块主要是压缩帧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优化器 offload（可选）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~176 GB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2.82TB / 16 节点；N=128 时本可留 HBM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视频 KV offload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~400 GB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b=8 × 8 卡，视频高并发时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B38"/>
                          </a:solidFill>
                          <a:latin typeface="PingFang SC"/>
                        </a:rPr>
                        <a:t>Agentic 工具沙箱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数十~数百 GB（需压测）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PingFang SC"/>
                        </a:rPr>
                        <a:t>不可解析，coding 沙箱可达 TB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976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7F3B"/>
                </a:solidFill>
                <a:latin typeface="PingFang SC"/>
              </a:rPr>
              <a:t>判定：合计通常数百 GB/节点，1.5TB ✅ 够用。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MoE 优化器虽大（2.82TB），但 N=128 分摊后单节点可控；方案① 下经验缓冲区不是大头。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10 · 核心结论矩阵（格式：A2 / A3 / 950DT）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77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7828"/>
                <a:gridCol w="2489283"/>
                <a:gridCol w="2489283"/>
                <a:gridCol w="2489283"/>
              </a:tblGrid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资源维度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文本 (16k)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图片 (32k)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</a:rPr>
                        <a:t>视频 (128k)</a:t>
                      </a:r>
                    </a:p>
                  </a:txBody>
                  <a:tcPr anchor="ctr" marL="54864" marR="54864" marT="18288" marB="18288">
                    <a:solidFill>
                      <a:srgbClr val="222B38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B38"/>
                          </a:solidFill>
                          <a:latin typeface="PingFang SC"/>
                        </a:rPr>
                        <a:t>带宽（边 G = EP all-to-all）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C02828"/>
                          </a:solidFill>
                          <a:latin typeface="PingFang SC"/>
                        </a:rPr>
                        <a:t>❌❌ / ✅ / ✅✅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C02828"/>
                          </a:solidFill>
                          <a:latin typeface="PingFang SC"/>
                        </a:rPr>
                        <a:t>❌❌ / ✅ / ✅✅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C02828"/>
                          </a:solidFill>
                          <a:latin typeface="PingFang SC"/>
                        </a:rPr>
                        <a:t>❌❌ / ⚠️ / 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B38"/>
                          </a:solidFill>
                          <a:latin typeface="PingFang SC"/>
                        </a:rPr>
                        <a:t>HBM（训练相 = 静态40+激活）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B7F3B"/>
                          </a:solidFill>
                          <a:latin typeface="PingFang SC"/>
                        </a:rPr>
                        <a:t>✅ / ✅ / 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C02828"/>
                          </a:solidFill>
                          <a:latin typeface="PingFang SC"/>
                        </a:rPr>
                        <a:t>❌ / ✅ / 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C02828"/>
                          </a:solidFill>
                          <a:latin typeface="PingFang SC"/>
                        </a:rPr>
                        <a:t>❌ / ❌ / ⚠️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B38"/>
                          </a:solidFill>
                          <a:latin typeface="PingFang SC"/>
                        </a:rPr>
                        <a:t>HBM（rollout 峰值 b=32）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B7F3B"/>
                          </a:solidFill>
                          <a:latin typeface="PingFang SC"/>
                        </a:rPr>
                        <a:t>✅ / ✅ / 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B87A00"/>
                          </a:solidFill>
                          <a:latin typeface="PingFang SC"/>
                        </a:rPr>
                        <a:t>⚠️ / ✅ / 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C02828"/>
                          </a:solidFill>
                          <a:latin typeface="PingFang SC"/>
                        </a:rPr>
                        <a:t>❌ / ❌ / 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2B38"/>
                          </a:solidFill>
                          <a:latin typeface="PingFang SC"/>
                        </a:rPr>
                        <a:t>CPU DRAM（1.5TB/节点）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B7F3B"/>
                          </a:solidFill>
                          <a:latin typeface="PingFang SC"/>
                        </a:rPr>
                        <a:t>✅ / ✅ / 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B7F3B"/>
                          </a:solidFill>
                          <a:latin typeface="PingFang SC"/>
                        </a:rPr>
                        <a:t>✅ / ✅ / 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B7F3B"/>
                          </a:solidFill>
                          <a:latin typeface="PingFang SC"/>
                        </a:rPr>
                        <a:t>✅ / ✅ / ✅</a:t>
                      </a:r>
                    </a:p>
                  </a:txBody>
                  <a:tcPr anchor="ctr" marL="54864" marR="54864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02828"/>
                </a:solidFill>
                <a:latin typeface="PingFang SC"/>
              </a:rPr>
              <a:t>A2 因带宽（all-to-all 跨 RoCE）对三场景全部 ❌❌ → 8 卡岛出局。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B38"/>
                </a:solidFill>
                <a:latin typeface="PingFang SC"/>
              </a:rPr>
              <a:t>文本/图片：A3 / 950DT 可行；视频：A3 勉力、950DT 才从容（且需序列并行/PP + KV offload）。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11 · 三条主结论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480"/>
                </a:solidFill>
                <a:latin typeface="PingFang SC"/>
              </a:rPr>
              <a:t>Qwen3-235B-A22B · 华为 NPU 资源充分性分析 · 量级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B7480"/>
                </a:solidFill>
                <a:latin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7000B"/>
                </a:solidFill>
                <a:latin typeface="PingFang SC"/>
              </a:rPr>
              <a:t>① 带宽是头号瓶颈，被 EP all-to-all 决定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边 G ~105 TB/卡起、随 S 涨（视频 ~830TB），是全体互发/同步/二分带宽敏感的 all-to-all。A2 的 8 卡岛容不下 EP=32（跨 RoCE 彻底崩，❌❌）；235B MoE 的 RL 事实上要求超节点级 fabric（A3/950DT）。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7000B"/>
                </a:solidFill>
                <a:latin typeface="PingFang SC"/>
              </a:rPr>
              <a:t>② 内存硬约束 = 总参驱动的权重/优化器 + 长 S 的激活/KV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权重 470GB / 优化器 2.82TB 都按总参 235B 算，靠 EP+ZeRO 分片可控（训练静态 ~40GB/卡）。真正恶化的是长 S：训练激活视频 ~101GB（需序列并行/PP）、推理 KV 视频 ~200GB/卡（需 offload+降并发）。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7000B"/>
                </a:solidFill>
                <a:latin typeface="PingFang SC"/>
              </a:rPr>
              <a:t>③ 算力不是瓶颈，通信与内存才是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22B38"/>
                </a:solidFill>
                <a:latin typeface="PingFang SC"/>
              </a:rPr>
              <a:t>每 token 只激活 22B，FLOPs 需求不高。选型看的是 fabric 二分带宽 + HBM 容量 + 超节点规模，不是 TFLOPS。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一句话：235B MoE 的 agentic RL，成败在 fabric —— A2 出局，只有超节点（A3/950DT）扛得住；视频 A3 勉力、950DT 从容。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