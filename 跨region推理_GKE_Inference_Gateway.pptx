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d1bbac2f-65bc-ef21-149c-0265802f8d3b}">
          <p14:sldIdLst>
            <p14:sldId id="256"/>
          </p14:sldIdLst>
        </p14:section>
        <p14:section name="总览" id="{3b932707-560f-97e1-aa8b-90629f1700eb}">
          <p14:sldIdLst>
            <p14:sldId id="257"/>
          </p14:sldIdLst>
        </p14:section>
        <p14:section name="它解决什么问题" id="{6acfda24-d4ca-621d-dcce-92b18ed183d9}">
          <p14:sldIdLst>
            <p14:sldId id="258"/>
            <p14:sldId id="259"/>
          </p14:sldIdLst>
        </p14:section>
        <p14:section name="Next '26 新增内容" id="{7c511ccb-89d6-083f-df5f-918931320186}">
          <p14:sldIdLst>
            <p14:sldId id="260"/>
          </p14:sldIdLst>
        </p14:section>
        <p14:section name="和 GGN 的关系" id="{09237cc9-d804-3fd5-5845-c7361711f87f}">
          <p14:sldIdLst>
            <p14:sldId id="261"/>
            <p14:sldId id="262"/>
          </p14:sldIdLst>
        </p14:section>
        <p14:section name="启示" id="{b0422a25-bf67-a1b9-d18c-f4351190a669}">
          <p14:sldIdLst>
            <p14:sldId id="263"/>
          </p14:sldIdLst>
        </p14:section>
        <p14:section name="附录" id="{0b8eff65-3fb5-fad0-2f36-80d70c7484a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来源：Google Cloud Next '26 分会 BRK1-073「What's new in the Cross-Cloud Network」（2026-04-22），精华版视频 youtube.com/watch?v=4Jf5jNQ3fAE，主讲 Rob Enns。Top 5 第 2 条原文：Global, fast and efficient inference with multi-region GKE Inference Gateway。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效果数字出自 BRK1-073 第 28 页「GKE Inference Gateway &amp; Gemini Enterprise Agent Platform」；官方博客写的是 Gemini Enterprise Agent Platform 在 Qwen3-Coder 上 TTFT 降 35% 以上。多 region 版状态出自第 30 页和官方博客（preview）。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右侧为示意图。网关读取的指标（排队长度、KV cache 占用）出自 BRK1-073 第 29 页的 Node Pool 示意；前缀缓存感知路由出自第 28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前缀缓存路由、按 agent 身份做权限控制只能放在第 7 层做，下面几层看不到这些信息。Agent Gateway 由应用负载均衡器、Secure Web Proxy 和 GKE Inference Gateway 构成（BRK1-073 第 33 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左图参照 BRK1-073 第 30 页「Introducing multiregion GKE Inference Gateway」（US-EAST / US-WEST，Preview；Leverage capacity globally, reduced TCO, higher availability, lower latency for end users）。右侧状态出自第 29 页：Disaggregated serving GA、Predictive latency boost GA、SGLang and vLLM Preview；官方博客把 predictive latency boost 写成 preview。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引文出自 B. Koley, A. Singh, How we evolved Google's global and data center networks for the AI era, Google Cloud Blog, 2026-05-26。GGN 论文（Al-Fares et al., SIGCOMM 2026）全文检索 inference / agent 为 0 次。美东—美西往返时延为常见量级，非 Google 公布值。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KV cache 量级按 BF16 估算：GQA 以 Llama-3-70B 为例 320 KiB/token；MLA 以 DeepSeek-V3 为例约 69 KiB/token；混合注意力以 Kimi Linear（3/4 线性注意力层）为例约为 MLA 的 1/4。训练量级参照 scale-across_业务场景与硬件需求_v5 第 3 页（PP 短序列每步跨域 52.5 GiB）。PrfaaS：arXiv 2604.15039；PDD：github.com/infinigence/pdd。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本页为推断。RL 后训练里 rollout 本质是推理；跨 DC 部署时，请求分发可以借鉴按负载和前缀缓存路由，带宽主要花在权重同步上。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241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来源：Google Cloud Next '26 BRK1-073 幻灯片与视频；其他出处见末页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跨 region 推理：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多 region GKE Inference Gateway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Next '26「Top 5 new in the Cross-Cloud Network」第 2 条解读，以及它和 GGN 的关系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2026.10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总览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一页看懂：推理请求按负载和缓存跨 region 分发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GKE Inference Gateway 是推理专用的七层网关；Next '26 把调度范围从一个 region 扩到多个 region（preview）</a:t>
            </a:r>
            <a:endParaRPr lang="en-US" sz="1400" dirty="0"/>
          </a:p>
        </p:txBody>
      </p:sp>
      <p:sp>
        <p:nvSpPr>
          <p:cNvPr id="5" name="card_1"/>
          <p:cNvSpPr/>
          <p:nvPr/>
        </p:nvSpPr>
        <p:spPr>
          <a:xfrm>
            <a:off x="548640" y="1783080"/>
            <a:ext cx="256786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um_2"/>
          <p:cNvSpPr/>
          <p:nvPr/>
        </p:nvSpPr>
        <p:spPr>
          <a:xfrm>
            <a:off x="749808" y="198424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xt_3"/>
          <p:cNvSpPr txBox="1"/>
          <p:nvPr/>
        </p:nvSpPr>
        <p:spPr>
          <a:xfrm>
            <a:off x="1243584" y="1984248"/>
            <a:ext cx="174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是什么</a:t>
            </a:r>
            <a:endParaRPr lang="en-US" sz="1600" dirty="0"/>
          </a:p>
        </p:txBody>
      </p:sp>
      <p:sp>
        <p:nvSpPr>
          <p:cNvPr id="8" name="txt_4"/>
          <p:cNvSpPr txBox="1"/>
          <p:nvPr/>
        </p:nvSpPr>
        <p:spPr>
          <a:xfrm>
            <a:off x="749808" y="2551176"/>
            <a:ext cx="2165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推理请求的负载均衡。不轮询，按每台模型服务器的排队长度、KV cache 占用、前缀缓存挑后端</a:t>
            </a:r>
            <a:endParaRPr lang="en-US" sz="1400" dirty="0"/>
          </a:p>
        </p:txBody>
      </p:sp>
      <p:sp>
        <p:nvSpPr>
          <p:cNvPr id="9" name="card_5"/>
          <p:cNvSpPr/>
          <p:nvPr/>
        </p:nvSpPr>
        <p:spPr>
          <a:xfrm>
            <a:off x="3390824" y="1783080"/>
            <a:ext cx="256786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_6"/>
          <p:cNvSpPr/>
          <p:nvPr/>
        </p:nvSpPr>
        <p:spPr>
          <a:xfrm>
            <a:off x="3591992" y="198424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xt_7"/>
          <p:cNvSpPr txBox="1"/>
          <p:nvPr/>
        </p:nvSpPr>
        <p:spPr>
          <a:xfrm>
            <a:off x="4085768" y="1984248"/>
            <a:ext cx="174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这次新增</a:t>
            </a:r>
            <a:endParaRPr lang="en-US" sz="1600" dirty="0"/>
          </a:p>
        </p:txBody>
      </p:sp>
      <p:sp>
        <p:nvSpPr>
          <p:cNvPr id="12" name="txt_8"/>
          <p:cNvSpPr txBox="1"/>
          <p:nvPr/>
        </p:nvSpPr>
        <p:spPr>
          <a:xfrm>
            <a:off x="3591992" y="2551176"/>
            <a:ext cx="2165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跨 region 调度和故障切换（preview）；预测延迟路由；prefill/decode 分离（GA）</a:t>
            </a:r>
            <a:endParaRPr lang="en-US" sz="1400" dirty="0"/>
          </a:p>
        </p:txBody>
      </p:sp>
      <p:sp>
        <p:nvSpPr>
          <p:cNvPr id="13" name="card_9"/>
          <p:cNvSpPr/>
          <p:nvPr/>
        </p:nvSpPr>
        <p:spPr>
          <a:xfrm>
            <a:off x="6233008" y="1783080"/>
            <a:ext cx="256786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_10"/>
          <p:cNvSpPr/>
          <p:nvPr/>
        </p:nvSpPr>
        <p:spPr>
          <a:xfrm>
            <a:off x="6434176" y="198424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xt_11"/>
          <p:cNvSpPr txBox="1"/>
          <p:nvPr/>
        </p:nvSpPr>
        <p:spPr>
          <a:xfrm>
            <a:off x="6927952" y="1984248"/>
            <a:ext cx="174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效果</a:t>
            </a:r>
            <a:endParaRPr lang="en-US" sz="1600" dirty="0"/>
          </a:p>
        </p:txBody>
      </p:sp>
      <p:sp>
        <p:nvSpPr>
          <p:cNvPr id="16" name="txt_12"/>
          <p:cNvSpPr txBox="1"/>
          <p:nvPr/>
        </p:nvSpPr>
        <p:spPr>
          <a:xfrm>
            <a:off x="6434176" y="2551176"/>
            <a:ext cx="2165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Google 自报：首 token 延迟降 35% 以上，P95 首 token 延迟降一半，前缀缓存命中率翻倍</a:t>
            </a:r>
            <a:endParaRPr lang="en-US" sz="1400" dirty="0"/>
          </a:p>
        </p:txBody>
      </p:sp>
      <p:sp>
        <p:nvSpPr>
          <p:cNvPr id="17" name="card_13"/>
          <p:cNvSpPr/>
          <p:nvPr/>
        </p:nvSpPr>
        <p:spPr>
          <a:xfrm>
            <a:off x="9075191" y="1783080"/>
            <a:ext cx="256786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um_14"/>
          <p:cNvSpPr/>
          <p:nvPr/>
        </p:nvSpPr>
        <p:spPr>
          <a:xfrm>
            <a:off x="9276359" y="198424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xt_15"/>
          <p:cNvSpPr txBox="1"/>
          <p:nvPr/>
        </p:nvSpPr>
        <p:spPr>
          <a:xfrm>
            <a:off x="9770135" y="1984248"/>
            <a:ext cx="174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和 GGN 的关系</a:t>
            </a:r>
            <a:endParaRPr lang="en-US" sz="1600" dirty="0"/>
          </a:p>
        </p:txBody>
      </p:sp>
      <p:sp>
        <p:nvSpPr>
          <p:cNvPr id="20" name="txt_16"/>
          <p:cNvSpPr txBox="1"/>
          <p:nvPr/>
        </p:nvSpPr>
        <p:spPr>
          <a:xfrm>
            <a:off x="9276359" y="2551176"/>
            <a:ext cx="2165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跨 region 的请求由 GGN 承载；跨域只传请求和结果，带宽小；GGN 没有推理专属机制</a:t>
            </a:r>
            <a:endParaRPr lang="en-US" sz="1400" dirty="0"/>
          </a:p>
        </p:txBody>
      </p:sp>
      <p:sp>
        <p:nvSpPr>
          <p:cNvPr id="21" name="txt_17"/>
          <p:cNvSpPr txBox="1"/>
          <p:nvPr/>
        </p:nvSpPr>
        <p:spPr>
          <a:xfrm>
            <a:off x="548640" y="4315968"/>
            <a:ext cx="256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35%+</a:t>
            </a:r>
            <a:endParaRPr lang="en-US" sz="3000" dirty="0"/>
          </a:p>
        </p:txBody>
      </p:sp>
      <p:sp>
        <p:nvSpPr>
          <p:cNvPr id="22" name="txt_18"/>
          <p:cNvSpPr txBox="1"/>
          <p:nvPr/>
        </p:nvSpPr>
        <p:spPr>
          <a:xfrm>
            <a:off x="548640" y="4919472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首 token 延迟（TTFT）降幅</a:t>
            </a:r>
            <a:endParaRPr lang="en-US" sz="1200" dirty="0"/>
          </a:p>
        </p:txBody>
      </p:sp>
      <p:sp>
        <p:nvSpPr>
          <p:cNvPr id="23" name="txt_19"/>
          <p:cNvSpPr txBox="1"/>
          <p:nvPr/>
        </p:nvSpPr>
        <p:spPr>
          <a:xfrm>
            <a:off x="3390824" y="4315968"/>
            <a:ext cx="256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2×</a:t>
            </a:r>
            <a:endParaRPr lang="en-US" sz="3000" dirty="0"/>
          </a:p>
        </p:txBody>
      </p:sp>
      <p:sp>
        <p:nvSpPr>
          <p:cNvPr id="24" name="txt_20"/>
          <p:cNvSpPr txBox="1"/>
          <p:nvPr/>
        </p:nvSpPr>
        <p:spPr>
          <a:xfrm>
            <a:off x="3390824" y="4919472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P95 首 token 延迟改善</a:t>
            </a:r>
            <a:endParaRPr lang="en-US" sz="1200" dirty="0"/>
          </a:p>
        </p:txBody>
      </p:sp>
      <p:sp>
        <p:nvSpPr>
          <p:cNvPr id="25" name="txt_21"/>
          <p:cNvSpPr txBox="1"/>
          <p:nvPr/>
        </p:nvSpPr>
        <p:spPr>
          <a:xfrm>
            <a:off x="6233008" y="4315968"/>
            <a:ext cx="256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35% → 70%</a:t>
            </a:r>
            <a:endParaRPr lang="en-US" sz="3000" dirty="0"/>
          </a:p>
        </p:txBody>
      </p:sp>
      <p:sp>
        <p:nvSpPr>
          <p:cNvPr id="26" name="txt_22"/>
          <p:cNvSpPr txBox="1"/>
          <p:nvPr/>
        </p:nvSpPr>
        <p:spPr>
          <a:xfrm>
            <a:off x="6233008" y="4919472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前缀缓存命中率</a:t>
            </a:r>
            <a:endParaRPr lang="en-US" sz="1200" dirty="0"/>
          </a:p>
        </p:txBody>
      </p:sp>
      <p:sp>
        <p:nvSpPr>
          <p:cNvPr id="27" name="txt_23"/>
          <p:cNvSpPr txBox="1"/>
          <p:nvPr/>
        </p:nvSpPr>
        <p:spPr>
          <a:xfrm>
            <a:off x="9075191" y="4315968"/>
            <a:ext cx="256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Preview</a:t>
            </a:r>
            <a:endParaRPr lang="en-US" sz="3000" dirty="0"/>
          </a:p>
        </p:txBody>
      </p:sp>
      <p:sp>
        <p:nvSpPr>
          <p:cNvPr id="28" name="txt_24"/>
          <p:cNvSpPr txBox="1"/>
          <p:nvPr/>
        </p:nvSpPr>
        <p:spPr>
          <a:xfrm>
            <a:off x="9075191" y="4919472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多 region 版状态（2026-04）</a:t>
            </a:r>
            <a:endParaRPr lang="en-US" sz="1200" dirty="0"/>
          </a:p>
        </p:txBody>
      </p:sp>
      <p:sp>
        <p:nvSpPr>
          <p:cNvPr id="29" name="card_25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xt_2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一句话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网关决定请求去哪个 region，GGN 把请求运过去。这是 GGN 承载的推理业务，但不是 scale-across 训练那类场景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一、它解决什么问题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为什么推理要单独做一个网关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普通负载均衡按请求数或连接数平均分配，对大模型推理效果很差</a:t>
            </a:r>
            <a:endParaRPr lang="en-US" sz="1400" dirty="0"/>
          </a:p>
        </p:txBody>
      </p:sp>
      <p:sp>
        <p:nvSpPr>
          <p:cNvPr id="5" name="num_27"/>
          <p:cNvSpPr/>
          <p:nvPr/>
        </p:nvSpPr>
        <p:spPr>
          <a:xfrm>
            <a:off x="548640" y="1801368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xt_28"/>
          <p:cNvSpPr txBox="1"/>
          <p:nvPr/>
        </p:nvSpPr>
        <p:spPr>
          <a:xfrm>
            <a:off x="123444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请求之间差别大</a:t>
            </a:r>
            <a:endParaRPr lang="en-US" sz="1600" dirty="0"/>
          </a:p>
        </p:txBody>
      </p:sp>
      <p:sp>
        <p:nvSpPr>
          <p:cNvPr id="7" name="txt_29"/>
          <p:cNvSpPr txBox="1"/>
          <p:nvPr/>
        </p:nvSpPr>
        <p:spPr>
          <a:xfrm>
            <a:off x="1234440" y="222199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输入从几百到几万 token，输出长度也不定。按请求个数平分，有的机器排长队，有的闲着</a:t>
            </a:r>
            <a:endParaRPr lang="en-US" sz="1400" dirty="0"/>
          </a:p>
        </p:txBody>
      </p:sp>
      <p:sp>
        <p:nvSpPr>
          <p:cNvPr id="8" name="num_30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xt_31"/>
          <p:cNvSpPr txBox="1"/>
          <p:nvPr/>
        </p:nvSpPr>
        <p:spPr>
          <a:xfrm>
            <a:off x="1234440" y="32461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服务器状态随时在变</a:t>
            </a:r>
            <a:endParaRPr lang="en-US" sz="1600" dirty="0"/>
          </a:p>
        </p:txBody>
      </p:sp>
      <p:sp>
        <p:nvSpPr>
          <p:cNvPr id="10" name="txt_32"/>
          <p:cNvSpPr txBox="1"/>
          <p:nvPr/>
        </p:nvSpPr>
        <p:spPr>
          <a:xfrm>
            <a:off x="1234440" y="368503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每台机器的排队长度和 KV cache（注意力的键值缓存，占显存）占用一直在变。往快满的机器发，请求就要等或被挤出</a:t>
            </a:r>
            <a:endParaRPr lang="en-US" sz="1400" dirty="0"/>
          </a:p>
        </p:txBody>
      </p:sp>
      <p:sp>
        <p:nvSpPr>
          <p:cNvPr id="11" name="num_33"/>
          <p:cNvSpPr/>
          <p:nvPr/>
        </p:nvSpPr>
        <p:spPr>
          <a:xfrm>
            <a:off x="548640" y="4727448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xt_34"/>
          <p:cNvSpPr txBox="1"/>
          <p:nvPr/>
        </p:nvSpPr>
        <p:spPr>
          <a:xfrm>
            <a:off x="1234440" y="47091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前缀缓存要靠路由命中</a:t>
            </a:r>
            <a:endParaRPr lang="en-US" sz="1600" dirty="0"/>
          </a:p>
        </p:txBody>
      </p:sp>
      <p:sp>
        <p:nvSpPr>
          <p:cNvPr id="13" name="txt_35"/>
          <p:cNvSpPr txBox="1"/>
          <p:nvPr/>
        </p:nvSpPr>
        <p:spPr>
          <a:xfrm>
            <a:off x="1234440" y="514807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相同的系统提示词、同一段多轮对话发到同一台机器，算过的 KV cache 可以直接复用；随机分配就用不上</a:t>
            </a:r>
            <a:endParaRPr lang="en-US" sz="1400" dirty="0"/>
          </a:p>
        </p:txBody>
      </p:sp>
      <p:sp>
        <p:nvSpPr>
          <p:cNvPr id="14" name="card_36"/>
          <p:cNvSpPr/>
          <p:nvPr/>
        </p:nvSpPr>
        <p:spPr>
          <a:xfrm>
            <a:off x="6720840" y="1783080"/>
            <a:ext cx="4922215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gw_37"/>
          <p:cNvSpPr/>
          <p:nvPr/>
        </p:nvSpPr>
        <p:spPr>
          <a:xfrm>
            <a:off x="7040880" y="2057400"/>
            <a:ext cx="4282135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GKE Inference Gateway</a:t>
            </a:r>
            <a:endParaRPr lang="en-US" sz="1600" dirty="0"/>
          </a:p>
        </p:txBody>
      </p:sp>
      <p:sp>
        <p:nvSpPr>
          <p:cNvPr id="16" name="txt_38"/>
          <p:cNvSpPr txBox="1"/>
          <p:nvPr/>
        </p:nvSpPr>
        <p:spPr>
          <a:xfrm>
            <a:off x="7040880" y="2679192"/>
            <a:ext cx="4282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读每台机器的指标，再决定发给谁</a:t>
            </a:r>
            <a:endParaRPr lang="en-US" sz="1200" dirty="0"/>
          </a:p>
        </p:txBody>
      </p:sp>
      <p:sp>
        <p:nvSpPr>
          <p:cNvPr id="17" name="srv_39"/>
          <p:cNvSpPr/>
          <p:nvPr/>
        </p:nvSpPr>
        <p:spPr>
          <a:xfrm>
            <a:off x="7040880" y="3474720"/>
            <a:ext cx="1293266" cy="224028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8" name="txt_40"/>
          <p:cNvSpPr txBox="1"/>
          <p:nvPr/>
        </p:nvSpPr>
        <p:spPr>
          <a:xfrm>
            <a:off x="7150608" y="3584448"/>
            <a:ext cx="1073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服务器 A</a:t>
            </a:r>
            <a:endParaRPr lang="en-US" sz="1300" dirty="0"/>
          </a:p>
        </p:txBody>
      </p:sp>
      <p:sp>
        <p:nvSpPr>
          <p:cNvPr id="19" name="txt_41"/>
          <p:cNvSpPr txBox="1"/>
          <p:nvPr/>
        </p:nvSpPr>
        <p:spPr>
          <a:xfrm>
            <a:off x="7178040" y="3977640"/>
            <a:ext cx="10189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排队</a:t>
            </a:r>
            <a:endParaRPr lang="en-US" sz="1100" dirty="0"/>
          </a:p>
        </p:txBody>
      </p:sp>
      <p:sp>
        <p:nvSpPr>
          <p:cNvPr id="20" name="q_42"/>
          <p:cNvSpPr/>
          <p:nvPr/>
        </p:nvSpPr>
        <p:spPr>
          <a:xfrm>
            <a:off x="7178040" y="4242816"/>
            <a:ext cx="137160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xt_43"/>
          <p:cNvSpPr txBox="1"/>
          <p:nvPr/>
        </p:nvSpPr>
        <p:spPr>
          <a:xfrm>
            <a:off x="7178040" y="4526280"/>
            <a:ext cx="10189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KV cache 占用</a:t>
            </a:r>
            <a:endParaRPr lang="en-US" sz="1100" dirty="0"/>
          </a:p>
        </p:txBody>
      </p:sp>
      <p:sp>
        <p:nvSpPr>
          <p:cNvPr id="22" name="kvbg_44"/>
          <p:cNvSpPr/>
          <p:nvPr/>
        </p:nvSpPr>
        <p:spPr>
          <a:xfrm>
            <a:off x="7178040" y="4800600"/>
            <a:ext cx="1018946" cy="1463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kv_45"/>
          <p:cNvSpPr/>
          <p:nvPr/>
        </p:nvSpPr>
        <p:spPr>
          <a:xfrm>
            <a:off x="7178040" y="4800600"/>
            <a:ext cx="254737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xt_46"/>
          <p:cNvSpPr txBox="1"/>
          <p:nvPr/>
        </p:nvSpPr>
        <p:spPr>
          <a:xfrm>
            <a:off x="7178040" y="5074920"/>
            <a:ext cx="10189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前缀缓存</a:t>
            </a:r>
            <a:endParaRPr lang="en-US" sz="1100" dirty="0"/>
          </a:p>
        </p:txBody>
      </p:sp>
      <p:sp>
        <p:nvSpPr>
          <p:cNvPr id="25" name="txt_47"/>
          <p:cNvSpPr txBox="1"/>
          <p:nvPr/>
        </p:nvSpPr>
        <p:spPr>
          <a:xfrm>
            <a:off x="7178040" y="5321808"/>
            <a:ext cx="1018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命中</a:t>
            </a:r>
            <a:endParaRPr lang="en-US" sz="1300" dirty="0"/>
          </a:p>
        </p:txBody>
      </p:sp>
      <p:sp>
        <p:nvSpPr>
          <p:cNvPr id="26" name="srv_48"/>
          <p:cNvSpPr/>
          <p:nvPr/>
        </p:nvSpPr>
        <p:spPr>
          <a:xfrm>
            <a:off x="8535314" y="3474720"/>
            <a:ext cx="1293266" cy="224028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xt_49"/>
          <p:cNvSpPr txBox="1"/>
          <p:nvPr/>
        </p:nvSpPr>
        <p:spPr>
          <a:xfrm>
            <a:off x="8645042" y="3584448"/>
            <a:ext cx="1073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服务器 B</a:t>
            </a:r>
            <a:endParaRPr lang="en-US" sz="1300" dirty="0"/>
          </a:p>
        </p:txBody>
      </p:sp>
      <p:sp>
        <p:nvSpPr>
          <p:cNvPr id="28" name="txt_50"/>
          <p:cNvSpPr txBox="1"/>
          <p:nvPr/>
        </p:nvSpPr>
        <p:spPr>
          <a:xfrm>
            <a:off x="8672474" y="3977640"/>
            <a:ext cx="10189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排队</a:t>
            </a:r>
            <a:endParaRPr lang="en-US" sz="1100" dirty="0"/>
          </a:p>
        </p:txBody>
      </p:sp>
      <p:sp>
        <p:nvSpPr>
          <p:cNvPr id="29" name="q_51"/>
          <p:cNvSpPr/>
          <p:nvPr/>
        </p:nvSpPr>
        <p:spPr>
          <a:xfrm>
            <a:off x="8672474" y="4242816"/>
            <a:ext cx="137160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q_52"/>
          <p:cNvSpPr/>
          <p:nvPr/>
        </p:nvSpPr>
        <p:spPr>
          <a:xfrm>
            <a:off x="8855354" y="4242816"/>
            <a:ext cx="137160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q_53"/>
          <p:cNvSpPr/>
          <p:nvPr/>
        </p:nvSpPr>
        <p:spPr>
          <a:xfrm>
            <a:off x="9038234" y="4242816"/>
            <a:ext cx="137160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q_54"/>
          <p:cNvSpPr/>
          <p:nvPr/>
        </p:nvSpPr>
        <p:spPr>
          <a:xfrm>
            <a:off x="9221114" y="4242816"/>
            <a:ext cx="137160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xt_55"/>
          <p:cNvSpPr txBox="1"/>
          <p:nvPr/>
        </p:nvSpPr>
        <p:spPr>
          <a:xfrm>
            <a:off x="8672474" y="4526280"/>
            <a:ext cx="10189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KV cache 占用</a:t>
            </a:r>
            <a:endParaRPr lang="en-US" sz="1100" dirty="0"/>
          </a:p>
        </p:txBody>
      </p:sp>
      <p:sp>
        <p:nvSpPr>
          <p:cNvPr id="34" name="kvbg_56"/>
          <p:cNvSpPr/>
          <p:nvPr/>
        </p:nvSpPr>
        <p:spPr>
          <a:xfrm>
            <a:off x="8672474" y="4800600"/>
            <a:ext cx="1018946" cy="1463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kv_57"/>
          <p:cNvSpPr/>
          <p:nvPr/>
        </p:nvSpPr>
        <p:spPr>
          <a:xfrm>
            <a:off x="8672474" y="4800600"/>
            <a:ext cx="91705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xt_58"/>
          <p:cNvSpPr txBox="1"/>
          <p:nvPr/>
        </p:nvSpPr>
        <p:spPr>
          <a:xfrm>
            <a:off x="8672474" y="5074920"/>
            <a:ext cx="10189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前缀缓存</a:t>
            </a:r>
            <a:endParaRPr lang="en-US" sz="1100" dirty="0"/>
          </a:p>
        </p:txBody>
      </p:sp>
      <p:sp>
        <p:nvSpPr>
          <p:cNvPr id="37" name="txt_59"/>
          <p:cNvSpPr txBox="1"/>
          <p:nvPr/>
        </p:nvSpPr>
        <p:spPr>
          <a:xfrm>
            <a:off x="8672474" y="5321808"/>
            <a:ext cx="1018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未命中</a:t>
            </a:r>
            <a:endParaRPr lang="en-US" sz="1300" dirty="0"/>
          </a:p>
        </p:txBody>
      </p:sp>
      <p:sp>
        <p:nvSpPr>
          <p:cNvPr id="38" name="srv_60"/>
          <p:cNvSpPr/>
          <p:nvPr/>
        </p:nvSpPr>
        <p:spPr>
          <a:xfrm>
            <a:off x="10029749" y="3474720"/>
            <a:ext cx="1293266" cy="224028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txt_61"/>
          <p:cNvSpPr txBox="1"/>
          <p:nvPr/>
        </p:nvSpPr>
        <p:spPr>
          <a:xfrm>
            <a:off x="10139477" y="3584448"/>
            <a:ext cx="1073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服务器 C</a:t>
            </a:r>
            <a:endParaRPr lang="en-US" sz="1300" dirty="0"/>
          </a:p>
        </p:txBody>
      </p:sp>
      <p:sp>
        <p:nvSpPr>
          <p:cNvPr id="40" name="txt_62"/>
          <p:cNvSpPr txBox="1"/>
          <p:nvPr/>
        </p:nvSpPr>
        <p:spPr>
          <a:xfrm>
            <a:off x="10166909" y="3977640"/>
            <a:ext cx="10189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排队</a:t>
            </a:r>
            <a:endParaRPr lang="en-US" sz="1100" dirty="0"/>
          </a:p>
        </p:txBody>
      </p:sp>
      <p:sp>
        <p:nvSpPr>
          <p:cNvPr id="41" name="q_63"/>
          <p:cNvSpPr/>
          <p:nvPr/>
        </p:nvSpPr>
        <p:spPr>
          <a:xfrm>
            <a:off x="10166909" y="4242816"/>
            <a:ext cx="137160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q_64"/>
          <p:cNvSpPr/>
          <p:nvPr/>
        </p:nvSpPr>
        <p:spPr>
          <a:xfrm>
            <a:off x="10349789" y="4242816"/>
            <a:ext cx="137160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q_65"/>
          <p:cNvSpPr/>
          <p:nvPr/>
        </p:nvSpPr>
        <p:spPr>
          <a:xfrm>
            <a:off x="10532669" y="4242816"/>
            <a:ext cx="137160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q_66"/>
          <p:cNvSpPr/>
          <p:nvPr/>
        </p:nvSpPr>
        <p:spPr>
          <a:xfrm>
            <a:off x="10715549" y="4242816"/>
            <a:ext cx="137160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q_67"/>
          <p:cNvSpPr/>
          <p:nvPr/>
        </p:nvSpPr>
        <p:spPr>
          <a:xfrm>
            <a:off x="10898429" y="4242816"/>
            <a:ext cx="137160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6" name="txt_68"/>
          <p:cNvSpPr txBox="1"/>
          <p:nvPr/>
        </p:nvSpPr>
        <p:spPr>
          <a:xfrm>
            <a:off x="10166909" y="4526280"/>
            <a:ext cx="10189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KV cache 占用</a:t>
            </a:r>
            <a:endParaRPr lang="en-US" sz="1100" dirty="0"/>
          </a:p>
        </p:txBody>
      </p:sp>
      <p:sp>
        <p:nvSpPr>
          <p:cNvPr id="47" name="kvbg_69"/>
          <p:cNvSpPr/>
          <p:nvPr/>
        </p:nvSpPr>
        <p:spPr>
          <a:xfrm>
            <a:off x="10166909" y="4800600"/>
            <a:ext cx="1018946" cy="1463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8" name="kv_70"/>
          <p:cNvSpPr/>
          <p:nvPr/>
        </p:nvSpPr>
        <p:spPr>
          <a:xfrm>
            <a:off x="10166909" y="4800600"/>
            <a:ext cx="71326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9" name="txt_71"/>
          <p:cNvSpPr txBox="1"/>
          <p:nvPr/>
        </p:nvSpPr>
        <p:spPr>
          <a:xfrm>
            <a:off x="10166909" y="5074920"/>
            <a:ext cx="10189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前缀缓存</a:t>
            </a:r>
            <a:endParaRPr lang="en-US" sz="1100" dirty="0"/>
          </a:p>
        </p:txBody>
      </p:sp>
      <p:sp>
        <p:nvSpPr>
          <p:cNvPr id="50" name="txt_72"/>
          <p:cNvSpPr txBox="1"/>
          <p:nvPr/>
        </p:nvSpPr>
        <p:spPr>
          <a:xfrm>
            <a:off x="10166909" y="5321808"/>
            <a:ext cx="1018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未命中</a:t>
            </a:r>
            <a:endParaRPr lang="en-US" sz="1300" dirty="0"/>
          </a:p>
        </p:txBody>
      </p:sp>
      <p:sp>
        <p:nvSpPr>
          <p:cNvPr id="51" name="arrow_73"/>
          <p:cNvSpPr/>
          <p:nvPr/>
        </p:nvSpPr>
        <p:spPr>
          <a:xfrm>
            <a:off x="7687513" y="2971800"/>
            <a:ext cx="0" cy="46634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2" name="txt_74"/>
          <p:cNvSpPr txBox="1"/>
          <p:nvPr/>
        </p:nvSpPr>
        <p:spPr>
          <a:xfrm>
            <a:off x="7040880" y="5824728"/>
            <a:ext cx="4282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选 A：排队短、KV cache 有余量、前缀能命中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一、它解决什么问题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它工作在七层，GGN 工作在三层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OSI 模型把网络通信分成 7 层；同一个推理请求，每一层的设备能看到的信息不同</a:t>
            </a:r>
            <a:endParaRPr lang="en-US" sz="1400" dirty="0"/>
          </a:p>
        </p:txBody>
      </p:sp>
      <p:sp>
        <p:nvSpPr>
          <p:cNvPr id="5" name="layer_75"/>
          <p:cNvSpPr/>
          <p:nvPr/>
        </p:nvSpPr>
        <p:spPr>
          <a:xfrm>
            <a:off x="548640" y="1783080"/>
            <a:ext cx="5669280" cy="658368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xt_76"/>
          <p:cNvSpPr txBox="1"/>
          <p:nvPr/>
        </p:nvSpPr>
        <p:spPr>
          <a:xfrm>
            <a:off x="731520" y="17830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第 7 层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应用层</a:t>
            </a:r>
            <a:endParaRPr lang="en-US" sz="1400" dirty="0"/>
          </a:p>
        </p:txBody>
      </p:sp>
      <p:sp>
        <p:nvSpPr>
          <p:cNvPr id="7" name="txt_77"/>
          <p:cNvSpPr txBox="1"/>
          <p:nvPr/>
        </p:nvSpPr>
        <p:spPr>
          <a:xfrm>
            <a:off x="2880360" y="17830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HTTP、gRPC；MCP、A2A 跑在它上面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→ Inference Gateway、Agent Gateway</a:t>
            </a:r>
            <a:endParaRPr lang="en-US" sz="1300" dirty="0"/>
          </a:p>
        </p:txBody>
      </p:sp>
      <p:sp>
        <p:nvSpPr>
          <p:cNvPr id="8" name="layer_78"/>
          <p:cNvSpPr/>
          <p:nvPr/>
        </p:nvSpPr>
        <p:spPr>
          <a:xfrm>
            <a:off x="548640" y="2532888"/>
            <a:ext cx="566928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_79"/>
          <p:cNvSpPr txBox="1"/>
          <p:nvPr/>
        </p:nvSpPr>
        <p:spPr>
          <a:xfrm>
            <a:off x="731520" y="25328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第 5～6 层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会话层、表示层</a:t>
            </a:r>
            <a:endParaRPr lang="en-US" sz="1200" dirty="0"/>
          </a:p>
        </p:txBody>
      </p:sp>
      <p:sp>
        <p:nvSpPr>
          <p:cNvPr id="10" name="txt_80"/>
          <p:cNvSpPr txBox="1"/>
          <p:nvPr/>
        </p:nvSpPr>
        <p:spPr>
          <a:xfrm>
            <a:off x="2880360" y="2532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实际使用中基本并入第 7 层</a:t>
            </a:r>
            <a:endParaRPr lang="en-US" sz="1200" dirty="0"/>
          </a:p>
        </p:txBody>
      </p:sp>
      <p:sp>
        <p:nvSpPr>
          <p:cNvPr id="11" name="layer_81"/>
          <p:cNvSpPr/>
          <p:nvPr/>
        </p:nvSpPr>
        <p:spPr>
          <a:xfrm>
            <a:off x="548640" y="3008376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xt_82"/>
          <p:cNvSpPr txBox="1"/>
          <p:nvPr/>
        </p:nvSpPr>
        <p:spPr>
          <a:xfrm>
            <a:off x="731520" y="30083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第 4 层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传输层</a:t>
            </a:r>
            <a:endParaRPr lang="en-US" sz="1400" dirty="0"/>
          </a:p>
        </p:txBody>
      </p:sp>
      <p:sp>
        <p:nvSpPr>
          <p:cNvPr id="13" name="txt_83"/>
          <p:cNvSpPr txBox="1"/>
          <p:nvPr/>
        </p:nvSpPr>
        <p:spPr>
          <a:xfrm>
            <a:off x="2880360" y="30083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TCP、UDP、端口号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→ 四层负载均衡</a:t>
            </a:r>
            <a:endParaRPr lang="en-US" sz="1300" dirty="0"/>
          </a:p>
        </p:txBody>
      </p:sp>
      <p:sp>
        <p:nvSpPr>
          <p:cNvPr id="14" name="layer_84"/>
          <p:cNvSpPr/>
          <p:nvPr/>
        </p:nvSpPr>
        <p:spPr>
          <a:xfrm>
            <a:off x="548640" y="3648456"/>
            <a:ext cx="5669280" cy="658368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xt_85"/>
          <p:cNvSpPr txBox="1"/>
          <p:nvPr/>
        </p:nvSpPr>
        <p:spPr>
          <a:xfrm>
            <a:off x="731520" y="364845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第 3 层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网络层</a:t>
            </a:r>
            <a:endParaRPr lang="en-US" sz="1400" dirty="0"/>
          </a:p>
        </p:txBody>
      </p:sp>
      <p:sp>
        <p:nvSpPr>
          <p:cNvPr id="16" name="txt_86"/>
          <p:cNvSpPr txBox="1"/>
          <p:nvPr/>
        </p:nvSpPr>
        <p:spPr>
          <a:xfrm>
            <a:off x="2880360" y="36484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IP 地址、BGP 等路由协议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→ GGN 路由器、TE、gRIBI</a:t>
            </a:r>
            <a:endParaRPr lang="en-US" sz="1300" dirty="0"/>
          </a:p>
        </p:txBody>
      </p:sp>
      <p:sp>
        <p:nvSpPr>
          <p:cNvPr id="17" name="layer_87"/>
          <p:cNvSpPr/>
          <p:nvPr/>
        </p:nvSpPr>
        <p:spPr>
          <a:xfrm>
            <a:off x="548640" y="4398264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xt_88"/>
          <p:cNvSpPr txBox="1"/>
          <p:nvPr/>
        </p:nvSpPr>
        <p:spPr>
          <a:xfrm>
            <a:off x="731520" y="439826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第 2 层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数据链路层</a:t>
            </a:r>
            <a:endParaRPr lang="en-US" sz="1400" dirty="0"/>
          </a:p>
        </p:txBody>
      </p:sp>
      <p:sp>
        <p:nvSpPr>
          <p:cNvPr id="19" name="txt_89"/>
          <p:cNvSpPr txBox="1"/>
          <p:nvPr/>
        </p:nvSpPr>
        <p:spPr>
          <a:xfrm>
            <a:off x="2880360" y="43982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以太网、交换机</a:t>
            </a:r>
            <a:endParaRPr lang="en-US" sz="1300" dirty="0"/>
          </a:p>
        </p:txBody>
      </p:sp>
      <p:sp>
        <p:nvSpPr>
          <p:cNvPr id="20" name="layer_90"/>
          <p:cNvSpPr/>
          <p:nvPr/>
        </p:nvSpPr>
        <p:spPr>
          <a:xfrm>
            <a:off x="548640" y="5038344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xt_91"/>
          <p:cNvSpPr txBox="1"/>
          <p:nvPr/>
        </p:nvSpPr>
        <p:spPr>
          <a:xfrm>
            <a:off x="731520" y="50383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第 1 层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物理层</a:t>
            </a:r>
            <a:endParaRPr lang="en-US" sz="1400" dirty="0"/>
          </a:p>
        </p:txBody>
      </p:sp>
      <p:sp>
        <p:nvSpPr>
          <p:cNvPr id="22" name="txt_92"/>
          <p:cNvSpPr txBox="1"/>
          <p:nvPr/>
        </p:nvSpPr>
        <p:spPr>
          <a:xfrm>
            <a:off x="2880360" y="50383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光纤、光模块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→ GGN 底下的光传输</a:t>
            </a:r>
            <a:endParaRPr lang="en-US" sz="1300" dirty="0"/>
          </a:p>
        </p:txBody>
      </p:sp>
      <p:sp>
        <p:nvSpPr>
          <p:cNvPr id="23" name="txt_93"/>
          <p:cNvSpPr txBox="1"/>
          <p:nvPr/>
        </p:nvSpPr>
        <p:spPr>
          <a:xfrm>
            <a:off x="6583680" y="178308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同一个请求：POST /v1/chat/completions</a:t>
            </a:r>
            <a:endParaRPr lang="en-US" sz="1500" dirty="0"/>
          </a:p>
        </p:txBody>
      </p:sp>
      <p:graphicFrame>
        <p:nvGraphicFramePr>
          <p:cNvPr id="5" name="tbl_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240280"/>
          <a:ext cx="505937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828800"/>
                <a:gridCol w="16303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设备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看到什么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能做的决定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三层路由器（GGN）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目的 IP 地址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下一跳走哪条链路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四层负载均衡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IP 地址和端口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把这条连接分给哪台后端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七层网关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模型名、prompt 前缀、调用方身份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发给哪台机器；放不放行；限不限流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card_95"/>
          <p:cNvSpPr/>
          <p:nvPr/>
        </p:nvSpPr>
        <p:spPr>
          <a:xfrm>
            <a:off x="6583680" y="4892040"/>
            <a:ext cx="505937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xt_96"/>
          <p:cNvSpPr txBox="1"/>
          <p:nvPr/>
        </p:nvSpPr>
        <p:spPr>
          <a:xfrm>
            <a:off x="6812280" y="4892040"/>
            <a:ext cx="4602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代价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七层网关要终结连接、解密、解析内容，每个请求都耗 CPU，多出亚毫秒到毫秒级的处理时间。三层路由器用专用芯片按线速转发，不看内容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二、Next '26 新增内容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新增三项：跨 region、预测延迟路由、P/D 分离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状态以 2026-04 的发布为准；预测延迟路由的状态，幻灯片和博客写得不一样</a:t>
            </a:r>
            <a:endParaRPr lang="en-US" sz="1400" dirty="0"/>
          </a:p>
        </p:txBody>
      </p:sp>
      <p:sp>
        <p:nvSpPr>
          <p:cNvPr id="5" name="card_97"/>
          <p:cNvSpPr/>
          <p:nvPr/>
        </p:nvSpPr>
        <p:spPr>
          <a:xfrm>
            <a:off x="548640" y="1783080"/>
            <a:ext cx="576072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agents_98"/>
          <p:cNvSpPr/>
          <p:nvPr/>
        </p:nvSpPr>
        <p:spPr>
          <a:xfrm>
            <a:off x="2240280" y="2011680"/>
            <a:ext cx="237744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Agent / 用户请求</a:t>
            </a:r>
            <a:endParaRPr lang="en-US" sz="1400" dirty="0"/>
          </a:p>
        </p:txBody>
      </p:sp>
      <p:sp>
        <p:nvSpPr>
          <p:cNvPr id="7" name="arrow_99"/>
          <p:cNvSpPr/>
          <p:nvPr/>
        </p:nvSpPr>
        <p:spPr>
          <a:xfrm>
            <a:off x="3429000" y="2496312"/>
            <a:ext cx="0" cy="32918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mgw_100"/>
          <p:cNvSpPr/>
          <p:nvPr/>
        </p:nvSpPr>
        <p:spPr>
          <a:xfrm>
            <a:off x="1554480" y="2852928"/>
            <a:ext cx="3749040" cy="603504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多 region GKE Inference Gateway</a:t>
            </a:r>
            <a:endParaRPr lang="en-US" sz="1500" dirty="0"/>
          </a:p>
        </p:txBody>
      </p:sp>
      <p:sp>
        <p:nvSpPr>
          <p:cNvPr id="9" name="tag_101"/>
          <p:cNvSpPr/>
          <p:nvPr/>
        </p:nvSpPr>
        <p:spPr>
          <a:xfrm>
            <a:off x="4617720" y="2633472"/>
            <a:ext cx="82296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Preview</a:t>
            </a:r>
            <a:endParaRPr lang="en-US" sz="1100" dirty="0"/>
          </a:p>
        </p:txBody>
      </p:sp>
      <p:sp>
        <p:nvSpPr>
          <p:cNvPr id="10" name="region_102"/>
          <p:cNvSpPr/>
          <p:nvPr/>
        </p:nvSpPr>
        <p:spPr>
          <a:xfrm>
            <a:off x="777240" y="4023360"/>
            <a:ext cx="2514600" cy="16002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xt_103"/>
          <p:cNvSpPr txBox="1"/>
          <p:nvPr/>
        </p:nvSpPr>
        <p:spPr>
          <a:xfrm>
            <a:off x="960120" y="41330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US-EAST</a:t>
            </a:r>
            <a:endParaRPr lang="en-US" sz="1400" dirty="0"/>
          </a:p>
        </p:txBody>
      </p:sp>
      <p:sp>
        <p:nvSpPr>
          <p:cNvPr id="12" name="rbox_104"/>
          <p:cNvSpPr/>
          <p:nvPr/>
        </p:nvSpPr>
        <p:spPr>
          <a:xfrm>
            <a:off x="960120" y="4526280"/>
            <a:ext cx="2148840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_105"/>
          <p:cNvSpPr txBox="1"/>
          <p:nvPr/>
        </p:nvSpPr>
        <p:spPr>
          <a:xfrm>
            <a:off x="1097280" y="45262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模型服务器</a:t>
            </a:r>
            <a:endParaRPr lang="en-US" sz="1300" dirty="0"/>
          </a:p>
        </p:txBody>
      </p:sp>
      <p:sp>
        <p:nvSpPr>
          <p:cNvPr id="14" name="rbox_106"/>
          <p:cNvSpPr/>
          <p:nvPr/>
        </p:nvSpPr>
        <p:spPr>
          <a:xfrm>
            <a:off x="960120" y="5056632"/>
            <a:ext cx="2148840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xt_107"/>
          <p:cNvSpPr txBox="1"/>
          <p:nvPr/>
        </p:nvSpPr>
        <p:spPr>
          <a:xfrm>
            <a:off x="1097280" y="50566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加速卡</a:t>
            </a:r>
            <a:endParaRPr lang="en-US" sz="1300" dirty="0"/>
          </a:p>
        </p:txBody>
      </p:sp>
      <p:sp>
        <p:nvSpPr>
          <p:cNvPr id="16" name="region_108"/>
          <p:cNvSpPr/>
          <p:nvPr/>
        </p:nvSpPr>
        <p:spPr>
          <a:xfrm>
            <a:off x="3566160" y="4023360"/>
            <a:ext cx="2514600" cy="16002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xt_109"/>
          <p:cNvSpPr txBox="1"/>
          <p:nvPr/>
        </p:nvSpPr>
        <p:spPr>
          <a:xfrm>
            <a:off x="3749040" y="41330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US-WEST</a:t>
            </a:r>
            <a:endParaRPr lang="en-US" sz="1400" dirty="0"/>
          </a:p>
        </p:txBody>
      </p:sp>
      <p:sp>
        <p:nvSpPr>
          <p:cNvPr id="18" name="rbox_110"/>
          <p:cNvSpPr/>
          <p:nvPr/>
        </p:nvSpPr>
        <p:spPr>
          <a:xfrm>
            <a:off x="3749040" y="4526280"/>
            <a:ext cx="2148840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xt_111"/>
          <p:cNvSpPr txBox="1"/>
          <p:nvPr/>
        </p:nvSpPr>
        <p:spPr>
          <a:xfrm>
            <a:off x="3886200" y="45262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模型服务器</a:t>
            </a:r>
            <a:endParaRPr lang="en-US" sz="1300" dirty="0"/>
          </a:p>
        </p:txBody>
      </p:sp>
      <p:sp>
        <p:nvSpPr>
          <p:cNvPr id="20" name="rbox_112"/>
          <p:cNvSpPr/>
          <p:nvPr/>
        </p:nvSpPr>
        <p:spPr>
          <a:xfrm>
            <a:off x="3749040" y="5056632"/>
            <a:ext cx="2148840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xt_113"/>
          <p:cNvSpPr txBox="1"/>
          <p:nvPr/>
        </p:nvSpPr>
        <p:spPr>
          <a:xfrm>
            <a:off x="3886200" y="50566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加速卡</a:t>
            </a:r>
            <a:endParaRPr lang="en-US" sz="1300" dirty="0"/>
          </a:p>
        </p:txBody>
      </p:sp>
      <p:sp>
        <p:nvSpPr>
          <p:cNvPr id="22" name="arrow_114"/>
          <p:cNvSpPr/>
          <p:nvPr/>
        </p:nvSpPr>
        <p:spPr>
          <a:xfrm flipH="1">
            <a:off x="2034540" y="3483864"/>
            <a:ext cx="914400" cy="5029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arrow_115"/>
          <p:cNvSpPr/>
          <p:nvPr/>
        </p:nvSpPr>
        <p:spPr>
          <a:xfrm>
            <a:off x="3909060" y="3483864"/>
            <a:ext cx="914400" cy="5029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txt_116"/>
          <p:cNvSpPr txBox="1"/>
          <p:nvPr/>
        </p:nvSpPr>
        <p:spPr>
          <a:xfrm>
            <a:off x="777240" y="57607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■ 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网关到各 region 的请求和结果由 GGN 承载</a:t>
            </a:r>
            <a:endParaRPr lang="en-US" sz="1200" dirty="0"/>
          </a:p>
        </p:txBody>
      </p:sp>
      <p:sp>
        <p:nvSpPr>
          <p:cNvPr id="25" name="card_117"/>
          <p:cNvSpPr/>
          <p:nvPr/>
        </p:nvSpPr>
        <p:spPr>
          <a:xfrm>
            <a:off x="6583680" y="1783080"/>
            <a:ext cx="505937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num_118"/>
          <p:cNvSpPr/>
          <p:nvPr/>
        </p:nvSpPr>
        <p:spPr>
          <a:xfrm>
            <a:off x="6766560" y="1947672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7" name="txt_119"/>
          <p:cNvSpPr txBox="1"/>
          <p:nvPr/>
        </p:nvSpPr>
        <p:spPr>
          <a:xfrm>
            <a:off x="7242048" y="1947672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跨 region 调度（preview）</a:t>
            </a:r>
            <a:endParaRPr lang="en-US" sz="1500" dirty="0"/>
          </a:p>
        </p:txBody>
      </p:sp>
      <p:sp>
        <p:nvSpPr>
          <p:cNvPr id="28" name="txt_120"/>
          <p:cNvSpPr txBox="1"/>
          <p:nvPr/>
        </p:nvSpPr>
        <p:spPr>
          <a:xfrm>
            <a:off x="6766560" y="2386584"/>
            <a:ext cx="4693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一个入口把请求分到多个 region：本地加速卡不够时借用别处空闲算力；某个 region 故障或满载时自动转移。Google 写的收益：用上全球容量、降低 TCO、提高可用性、降低用户延迟</a:t>
            </a:r>
            <a:endParaRPr lang="en-US" sz="1250" dirty="0"/>
          </a:p>
        </p:txBody>
      </p:sp>
      <p:sp>
        <p:nvSpPr>
          <p:cNvPr id="29" name="card_121"/>
          <p:cNvSpPr/>
          <p:nvPr/>
        </p:nvSpPr>
        <p:spPr>
          <a:xfrm>
            <a:off x="6583680" y="3264408"/>
            <a:ext cx="505937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num_122"/>
          <p:cNvSpPr/>
          <p:nvPr/>
        </p:nvSpPr>
        <p:spPr>
          <a:xfrm>
            <a:off x="6766560" y="3429000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txt_123"/>
          <p:cNvSpPr txBox="1"/>
          <p:nvPr/>
        </p:nvSpPr>
        <p:spPr>
          <a:xfrm>
            <a:off x="7242048" y="342900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预测延迟路由</a:t>
            </a:r>
            <a:endParaRPr lang="en-US" sz="1500" dirty="0"/>
          </a:p>
        </p:txBody>
      </p:sp>
      <p:sp>
        <p:nvSpPr>
          <p:cNvPr id="32" name="txt_124"/>
          <p:cNvSpPr txBox="1"/>
          <p:nvPr/>
        </p:nvSpPr>
        <p:spPr>
          <a:xfrm>
            <a:off x="6766560" y="3867912"/>
            <a:ext cx="4693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英文名 predictive latency boost。先预测每台后端能否满足延迟目标，再分配请求。状态：幻灯片标 GA，官方博客写 preview</a:t>
            </a:r>
            <a:endParaRPr lang="en-US" sz="1250" dirty="0"/>
          </a:p>
        </p:txBody>
      </p:sp>
      <p:sp>
        <p:nvSpPr>
          <p:cNvPr id="33" name="card_125"/>
          <p:cNvSpPr/>
          <p:nvPr/>
        </p:nvSpPr>
        <p:spPr>
          <a:xfrm>
            <a:off x="6583680" y="4745736"/>
            <a:ext cx="505937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num_126"/>
          <p:cNvSpPr/>
          <p:nvPr/>
        </p:nvSpPr>
        <p:spPr>
          <a:xfrm>
            <a:off x="6766560" y="4910328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xt_127"/>
          <p:cNvSpPr txBox="1"/>
          <p:nvPr/>
        </p:nvSpPr>
        <p:spPr>
          <a:xfrm>
            <a:off x="7242048" y="4910328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prefill/decode 分离（GA）</a:t>
            </a:r>
            <a:endParaRPr lang="en-US" sz="1500" dirty="0"/>
          </a:p>
        </p:txBody>
      </p:sp>
      <p:sp>
        <p:nvSpPr>
          <p:cNvPr id="36" name="txt_128"/>
          <p:cNvSpPr txBox="1"/>
          <p:nvPr/>
        </p:nvSpPr>
        <p:spPr>
          <a:xfrm>
            <a:off x="6766560" y="5349240"/>
            <a:ext cx="4693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处理输入（prefill）和逐 token 生成（decode）放到不同机器，由网关串起来。SGLang、vLLM 后端支持为 preview；同一平台覆盖 GPU、TPU、AMD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三、和 GGN 的关系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跨 region 推理要 GGN 提供覆盖、时延和可靠性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跨域传的只是请求和结果，带宽需求小；KV cache 留在 region 内</a:t>
            </a:r>
            <a:endParaRPr lang="en-US" sz="1400" dirty="0"/>
          </a:p>
        </p:txBody>
      </p:sp>
      <p:sp>
        <p:nvSpPr>
          <p:cNvPr id="5" name="card_129"/>
          <p:cNvSpPr/>
          <p:nvPr/>
        </p:nvSpPr>
        <p:spPr>
          <a:xfrm>
            <a:off x="548640" y="1783080"/>
            <a:ext cx="3749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_130"/>
          <p:cNvSpPr txBox="1"/>
          <p:nvPr/>
        </p:nvSpPr>
        <p:spPr>
          <a:xfrm>
            <a:off x="777240" y="192024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KB～百 KB</a:t>
            </a:r>
            <a:endParaRPr lang="en-US" sz="2800" dirty="0"/>
          </a:p>
        </p:txBody>
      </p:sp>
      <p:sp>
        <p:nvSpPr>
          <p:cNvPr id="7" name="txt_131"/>
          <p:cNvSpPr txBox="1"/>
          <p:nvPr/>
        </p:nvSpPr>
        <p:spPr>
          <a:xfrm>
            <a:off x="777240" y="247802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每个文本请求和生成结果的大小，多模态请求会更大</a:t>
            </a:r>
            <a:endParaRPr lang="en-US" sz="1250" dirty="0"/>
          </a:p>
        </p:txBody>
      </p:sp>
      <p:sp>
        <p:nvSpPr>
          <p:cNvPr id="8" name="card_132"/>
          <p:cNvSpPr/>
          <p:nvPr/>
        </p:nvSpPr>
        <p:spPr>
          <a:xfrm>
            <a:off x="548640" y="3264408"/>
            <a:ext cx="3749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_133"/>
          <p:cNvSpPr txBox="1"/>
          <p:nvPr/>
        </p:nvSpPr>
        <p:spPr>
          <a:xfrm>
            <a:off x="777240" y="340156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+1 个 RTT</a:t>
            </a:r>
            <a:endParaRPr lang="en-US" sz="2800" dirty="0"/>
          </a:p>
        </p:txBody>
      </p:sp>
      <p:sp>
        <p:nvSpPr>
          <p:cNvPr id="10" name="txt_134"/>
          <p:cNvSpPr txBox="1"/>
          <p:nvPr/>
        </p:nvSpPr>
        <p:spPr>
          <a:xfrm>
            <a:off x="777240" y="395935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跨 region 多出的时延。美东到美西往返约 60～70 ms，而生成本身要数秒</a:t>
            </a:r>
            <a:endParaRPr lang="en-US" sz="1250" dirty="0"/>
          </a:p>
        </p:txBody>
      </p:sp>
      <p:sp>
        <p:nvSpPr>
          <p:cNvPr id="11" name="card_135"/>
          <p:cNvSpPr/>
          <p:nvPr/>
        </p:nvSpPr>
        <p:spPr>
          <a:xfrm>
            <a:off x="548640" y="4745736"/>
            <a:ext cx="3749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xt_136"/>
          <p:cNvSpPr txBox="1"/>
          <p:nvPr/>
        </p:nvSpPr>
        <p:spPr>
          <a:xfrm>
            <a:off x="777240" y="488289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 处</a:t>
            </a:r>
            <a:endParaRPr lang="en-US" sz="2800" dirty="0"/>
          </a:p>
        </p:txBody>
      </p:sp>
      <p:sp>
        <p:nvSpPr>
          <p:cNvPr id="13" name="txt_137"/>
          <p:cNvSpPr txBox="1"/>
          <p:nvPr/>
        </p:nvSpPr>
        <p:spPr>
          <a:xfrm>
            <a:off x="777240" y="544068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GGN 论文里提到推理（inference）或 agent 的地方，没有推理专属机制</a:t>
            </a:r>
            <a:endParaRPr lang="en-US" sz="1250" dirty="0"/>
          </a:p>
        </p:txBody>
      </p:sp>
      <p:sp>
        <p:nvSpPr>
          <p:cNvPr id="14" name="card_138"/>
          <p:cNvSpPr/>
          <p:nvPr/>
        </p:nvSpPr>
        <p:spPr>
          <a:xfrm>
            <a:off x="4572000" y="1783080"/>
            <a:ext cx="7071055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xt_139"/>
          <p:cNvSpPr txBox="1"/>
          <p:nvPr/>
        </p:nvSpPr>
        <p:spPr>
          <a:xfrm>
            <a:off x="4846320" y="1920240"/>
            <a:ext cx="6522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的说法（Koley &amp; Singh，2026-05-26，原话）</a:t>
            </a:r>
            <a:endParaRPr lang="en-US" sz="1300" dirty="0"/>
          </a:p>
        </p:txBody>
      </p:sp>
      <p:sp>
        <p:nvSpPr>
          <p:cNvPr id="16" name="txt_140"/>
          <p:cNvSpPr txBox="1"/>
          <p:nvPr/>
        </p:nvSpPr>
        <p:spPr>
          <a:xfrm>
            <a:off x="4846320" y="2286000"/>
            <a:ext cx="6522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“The need for opportunistic use of expensive AI compute available at distant locations … demand high bandwidth network with a global footprint”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“Google's global network is well-equipped to handle the demands of the age of AI inference.”</a:t>
            </a:r>
            <a:endParaRPr lang="en-US" sz="1300" dirty="0"/>
          </a:p>
        </p:txBody>
      </p:sp>
      <p:sp>
        <p:nvSpPr>
          <p:cNvPr id="17" name="txt_141"/>
          <p:cNvSpPr txBox="1"/>
          <p:nvPr/>
        </p:nvSpPr>
        <p:spPr>
          <a:xfrm>
            <a:off x="4846320" y="3611880"/>
            <a:ext cx="6522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对应的都是现有能力：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43 个 region、200+ 边缘站点、Premium Tier、多 shard 隔离</a:t>
            </a:r>
            <a:endParaRPr lang="en-US" sz="1300" dirty="0"/>
          </a:p>
        </p:txBody>
      </p:sp>
      <p:sp>
        <p:nvSpPr>
          <p:cNvPr id="18" name="step_142"/>
          <p:cNvSpPr/>
          <p:nvPr/>
        </p:nvSpPr>
        <p:spPr>
          <a:xfrm>
            <a:off x="4572000" y="4572000"/>
            <a:ext cx="196596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xt_143"/>
          <p:cNvSpPr txBox="1"/>
          <p:nvPr/>
        </p:nvSpPr>
        <p:spPr>
          <a:xfrm>
            <a:off x="4709160" y="47091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Inference Gateway</a:t>
            </a:r>
            <a:endParaRPr lang="en-US" sz="1400" dirty="0"/>
          </a:p>
        </p:txBody>
      </p:sp>
      <p:sp>
        <p:nvSpPr>
          <p:cNvPr id="20" name="txt_144"/>
          <p:cNvSpPr txBox="1"/>
          <p:nvPr/>
        </p:nvSpPr>
        <p:spPr>
          <a:xfrm>
            <a:off x="4709160" y="510235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决定请求发去哪个 region、哪台机器</a:t>
            </a:r>
            <a:endParaRPr lang="en-US" sz="1250" dirty="0"/>
          </a:p>
        </p:txBody>
      </p:sp>
      <p:sp>
        <p:nvSpPr>
          <p:cNvPr id="21" name="arrow_145"/>
          <p:cNvSpPr/>
          <p:nvPr/>
        </p:nvSpPr>
        <p:spPr>
          <a:xfrm>
            <a:off x="6592824" y="5326380"/>
            <a:ext cx="4768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step_146"/>
          <p:cNvSpPr/>
          <p:nvPr/>
        </p:nvSpPr>
        <p:spPr>
          <a:xfrm>
            <a:off x="7124548" y="4572000"/>
            <a:ext cx="1965960" cy="150876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xt_147"/>
          <p:cNvSpPr txBox="1"/>
          <p:nvPr/>
        </p:nvSpPr>
        <p:spPr>
          <a:xfrm>
            <a:off x="7261708" y="47091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GGN</a:t>
            </a:r>
            <a:endParaRPr lang="en-US" sz="1400" dirty="0"/>
          </a:p>
        </p:txBody>
      </p:sp>
      <p:sp>
        <p:nvSpPr>
          <p:cNvPr id="24" name="txt_148"/>
          <p:cNvSpPr txBox="1"/>
          <p:nvPr/>
        </p:nvSpPr>
        <p:spPr>
          <a:xfrm>
            <a:off x="7261708" y="510235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把请求和结果在 region 之间运过去</a:t>
            </a:r>
            <a:endParaRPr lang="en-US" sz="1250" dirty="0"/>
          </a:p>
        </p:txBody>
      </p:sp>
      <p:sp>
        <p:nvSpPr>
          <p:cNvPr id="25" name="arrow_149"/>
          <p:cNvSpPr/>
          <p:nvPr/>
        </p:nvSpPr>
        <p:spPr>
          <a:xfrm>
            <a:off x="9145372" y="5326380"/>
            <a:ext cx="4768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step_150"/>
          <p:cNvSpPr/>
          <p:nvPr/>
        </p:nvSpPr>
        <p:spPr>
          <a:xfrm>
            <a:off x="9677095" y="4572000"/>
            <a:ext cx="196596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xt_151"/>
          <p:cNvSpPr txBox="1"/>
          <p:nvPr/>
        </p:nvSpPr>
        <p:spPr>
          <a:xfrm>
            <a:off x="9814255" y="47091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目标 region</a:t>
            </a:r>
            <a:endParaRPr lang="en-US" sz="1400" dirty="0"/>
          </a:p>
        </p:txBody>
      </p:sp>
      <p:sp>
        <p:nvSpPr>
          <p:cNvPr id="28" name="txt_152"/>
          <p:cNvSpPr txBox="1"/>
          <p:nvPr/>
        </p:nvSpPr>
        <p:spPr>
          <a:xfrm>
            <a:off x="9814255" y="510235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模型服务器在本地完成 prefill 和 decode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三、和 GGN 的关系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是 GGN 承载的推理业务，但不算 scale-across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Google 说的 scale-across 指训练跨园区；判断要不要高带宽广域网，看跨域传的是什么</a:t>
            </a:r>
            <a:endParaRPr lang="en-US" sz="1400" dirty="0"/>
          </a:p>
        </p:txBody>
      </p:sp>
      <p:graphicFrame>
        <p:nvGraphicFramePr>
          <p:cNvPr id="8" name="tbl_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19018"/>
                <a:gridCol w="3119018"/>
                <a:gridCol w="3119018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跨 region 推理（本主题）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多 region GKE Inference Gateway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跨 DC 的 P/D 分离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研究阶段：PrfaaS（2026-04）、PDD（2026-07）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32B"/>
                          </a:solidFill>
                        </a:rPr>
                        <a:t>scale-across 训练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2B"/>
                          </a:solidFill>
                        </a:rPr>
                        <a:t>Gemini 1.0 Ultra 跨 DC 数据并行；Virgo 跨园区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4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单个任务跨域吗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不跨。每个推理副本完整地放在一个 DC，各地多副本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跨。prefill 和 decode 在不同 DC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跨。一个训练任务拆到多个园区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跨域传什么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请求文本和生成结果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KV cache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激活或梯度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量级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每个请求 KB～百 KB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32K token 的 prompt：GQA 约 10 GiB，MLA 约 2 GiB，混合注意力约 0.5 GiB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每步 GB～数十 GB，需要 Tbps 级带宽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对时延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不敏感：多一个 RTT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敏感：在首 token 延迟的关键路径上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很敏感：要在计算窗口内掩盖掉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_154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xt_155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判断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跨域传请求，普通骨干就够；跨域传 KV cache 或梯度，要按「传输量 ÷ 能掩盖的时间」算带宽。跨 region 推理属于前者，是 GGN 承载的业务之一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四、启示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对跨 DC 推理和 RL 的启示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【推断】以下是基于公开资料的推断，不是 Google 的说法</a:t>
            </a:r>
            <a:endParaRPr lang="en-US" sz="1400" dirty="0"/>
          </a:p>
        </p:txBody>
      </p:sp>
      <p:sp>
        <p:nvSpPr>
          <p:cNvPr id="5" name="colhd_156"/>
          <p:cNvSpPr/>
          <p:nvPr/>
        </p:nvSpPr>
        <p:spPr>
          <a:xfrm>
            <a:off x="548640" y="1783080"/>
            <a:ext cx="5410048" cy="475488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xt_157"/>
          <p:cNvSpPr txBox="1"/>
          <p:nvPr/>
        </p:nvSpPr>
        <p:spPr>
          <a:xfrm>
            <a:off x="777240" y="1783080"/>
            <a:ext cx="495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可以照搬</a:t>
            </a:r>
            <a:endParaRPr lang="en-US" sz="1600" dirty="0"/>
          </a:p>
        </p:txBody>
      </p:sp>
      <p:sp>
        <p:nvSpPr>
          <p:cNvPr id="7" name="card_158"/>
          <p:cNvSpPr/>
          <p:nvPr/>
        </p:nvSpPr>
        <p:spPr>
          <a:xfrm>
            <a:off x="548640" y="2395728"/>
            <a:ext cx="5410048" cy="1152144"/>
          </a:xfrm>
          <a:prstGeom prst="roundRect">
            <a:avLst>
              <a:gd name="adj" fmla="val 63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_159"/>
          <p:cNvSpPr txBox="1"/>
          <p:nvPr/>
        </p:nvSpPr>
        <p:spPr>
          <a:xfrm>
            <a:off x="777240" y="2523744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跨 region 推理门槛低</a:t>
            </a:r>
            <a:endParaRPr lang="en-US" sz="1500" dirty="0"/>
          </a:p>
        </p:txBody>
      </p:sp>
      <p:sp>
        <p:nvSpPr>
          <p:cNvPr id="9" name="txt_160"/>
          <p:cNvSpPr txBox="1"/>
          <p:nvPr/>
        </p:nvSpPr>
        <p:spPr>
          <a:xfrm>
            <a:off x="777240" y="2889504"/>
            <a:ext cx="495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只要七层路由加普通骨干带宽，不需要长距离 RDMA，也不需要 Tbps 级专线</a:t>
            </a:r>
            <a:endParaRPr lang="en-US" sz="1350" dirty="0"/>
          </a:p>
        </p:txBody>
      </p:sp>
      <p:sp>
        <p:nvSpPr>
          <p:cNvPr id="10" name="card_161"/>
          <p:cNvSpPr/>
          <p:nvPr/>
        </p:nvSpPr>
        <p:spPr>
          <a:xfrm>
            <a:off x="548640" y="3657600"/>
            <a:ext cx="5410048" cy="1152144"/>
          </a:xfrm>
          <a:prstGeom prst="roundRect">
            <a:avLst>
              <a:gd name="adj" fmla="val 63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xt_162"/>
          <p:cNvSpPr txBox="1"/>
          <p:nvPr/>
        </p:nvSpPr>
        <p:spPr>
          <a:xfrm>
            <a:off x="777240" y="3785616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推理引擎要把指标交给网关</a:t>
            </a:r>
            <a:endParaRPr lang="en-US" sz="1500" dirty="0"/>
          </a:p>
        </p:txBody>
      </p:sp>
      <p:sp>
        <p:nvSpPr>
          <p:cNvPr id="12" name="txt_163"/>
          <p:cNvSpPr txBox="1"/>
          <p:nvPr/>
        </p:nvSpPr>
        <p:spPr>
          <a:xfrm>
            <a:off x="777240" y="4151376"/>
            <a:ext cx="495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排队长度、KV cache 占用、前缀缓存信息要暴露出来，路由才有依据</a:t>
            </a:r>
            <a:endParaRPr lang="en-US" sz="1350" dirty="0"/>
          </a:p>
        </p:txBody>
      </p:sp>
      <p:sp>
        <p:nvSpPr>
          <p:cNvPr id="13" name="card_164"/>
          <p:cNvSpPr/>
          <p:nvPr/>
        </p:nvSpPr>
        <p:spPr>
          <a:xfrm>
            <a:off x="548640" y="4919472"/>
            <a:ext cx="5410048" cy="1152144"/>
          </a:xfrm>
          <a:prstGeom prst="roundRect">
            <a:avLst>
              <a:gd name="adj" fmla="val 63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xt_165"/>
          <p:cNvSpPr txBox="1"/>
          <p:nvPr/>
        </p:nvSpPr>
        <p:spPr>
          <a:xfrm>
            <a:off x="777240" y="5047488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借远处空闲算力、跨 region 切换</a:t>
            </a:r>
            <a:endParaRPr lang="en-US" sz="1500" dirty="0"/>
          </a:p>
        </p:txBody>
      </p:sp>
      <p:sp>
        <p:nvSpPr>
          <p:cNvPr id="15" name="txt_166"/>
          <p:cNvSpPr txBox="1"/>
          <p:nvPr/>
        </p:nvSpPr>
        <p:spPr>
          <a:xfrm>
            <a:off x="777240" y="5413248"/>
            <a:ext cx="495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能直接提高推理集群的利用率和可用性</a:t>
            </a:r>
            <a:endParaRPr lang="en-US" sz="1350" dirty="0"/>
          </a:p>
        </p:txBody>
      </p:sp>
      <p:sp>
        <p:nvSpPr>
          <p:cNvPr id="16" name="colhd_167"/>
          <p:cNvSpPr/>
          <p:nvPr/>
        </p:nvSpPr>
        <p:spPr>
          <a:xfrm>
            <a:off x="6233008" y="1783080"/>
            <a:ext cx="541004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xt_168"/>
          <p:cNvSpPr txBox="1"/>
          <p:nvPr/>
        </p:nvSpPr>
        <p:spPr>
          <a:xfrm>
            <a:off x="6461608" y="1783080"/>
            <a:ext cx="495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要单独评估</a:t>
            </a:r>
            <a:endParaRPr lang="en-US" sz="1600" dirty="0"/>
          </a:p>
        </p:txBody>
      </p:sp>
      <p:sp>
        <p:nvSpPr>
          <p:cNvPr id="18" name="card_169"/>
          <p:cNvSpPr/>
          <p:nvPr/>
        </p:nvSpPr>
        <p:spPr>
          <a:xfrm>
            <a:off x="6233008" y="2395728"/>
            <a:ext cx="5410048" cy="1152144"/>
          </a:xfrm>
          <a:prstGeom prst="roundRect">
            <a:avLst>
              <a:gd name="adj" fmla="val 63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xt_170"/>
          <p:cNvSpPr txBox="1"/>
          <p:nvPr/>
        </p:nvSpPr>
        <p:spPr>
          <a:xfrm>
            <a:off x="6461608" y="2523744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跨 DC 的 P/D 分离</a:t>
            </a:r>
            <a:endParaRPr lang="en-US" sz="1500" dirty="0"/>
          </a:p>
        </p:txBody>
      </p:sp>
      <p:sp>
        <p:nvSpPr>
          <p:cNvPr id="20" name="txt_171"/>
          <p:cNvSpPr txBox="1"/>
          <p:nvPr/>
        </p:nvSpPr>
        <p:spPr>
          <a:xfrm>
            <a:off x="6461608" y="2889504"/>
            <a:ext cx="495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只有 KV cache 小（MLA、混合注意力、前缀命中率高）且传输能被掩盖时才划算</a:t>
            </a:r>
            <a:endParaRPr lang="en-US" sz="1350" dirty="0"/>
          </a:p>
        </p:txBody>
      </p:sp>
      <p:sp>
        <p:nvSpPr>
          <p:cNvPr id="21" name="card_172"/>
          <p:cNvSpPr/>
          <p:nvPr/>
        </p:nvSpPr>
        <p:spPr>
          <a:xfrm>
            <a:off x="6233008" y="3657600"/>
            <a:ext cx="5410048" cy="1152144"/>
          </a:xfrm>
          <a:prstGeom prst="roundRect">
            <a:avLst>
              <a:gd name="adj" fmla="val 63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xt_173"/>
          <p:cNvSpPr txBox="1"/>
          <p:nvPr/>
        </p:nvSpPr>
        <p:spPr>
          <a:xfrm>
            <a:off x="6461608" y="3785616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RL rollout 跨 DC</a:t>
            </a:r>
            <a:endParaRPr lang="en-US" sz="1500" dirty="0"/>
          </a:p>
        </p:txBody>
      </p:sp>
      <p:sp>
        <p:nvSpPr>
          <p:cNvPr id="23" name="txt_174"/>
          <p:cNvSpPr txBox="1"/>
          <p:nvPr/>
        </p:nvSpPr>
        <p:spPr>
          <a:xfrm>
            <a:off x="6461608" y="4151376"/>
            <a:ext cx="495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请求分发同上；吃带宽的是训练端每步把新权重同步给各 rollout 引擎，要单独算</a:t>
            </a:r>
            <a:endParaRPr lang="en-US" sz="1350" dirty="0"/>
          </a:p>
        </p:txBody>
      </p:sp>
      <p:sp>
        <p:nvSpPr>
          <p:cNvPr id="24" name="card_175"/>
          <p:cNvSpPr/>
          <p:nvPr/>
        </p:nvSpPr>
        <p:spPr>
          <a:xfrm>
            <a:off x="6233008" y="4919472"/>
            <a:ext cx="5410048" cy="1152144"/>
          </a:xfrm>
          <a:prstGeom prst="roundRect">
            <a:avLst>
              <a:gd name="adj" fmla="val 63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xt_176"/>
          <p:cNvSpPr txBox="1"/>
          <p:nvPr/>
        </p:nvSpPr>
        <p:spPr>
          <a:xfrm>
            <a:off x="6461608" y="5047488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公开资料没写的</a:t>
            </a:r>
            <a:endParaRPr lang="en-US" sz="1500" dirty="0"/>
          </a:p>
        </p:txBody>
      </p:sp>
      <p:sp>
        <p:nvSpPr>
          <p:cNvPr id="26" name="txt_177"/>
          <p:cNvSpPr txBox="1"/>
          <p:nvPr/>
        </p:nvSpPr>
        <p:spPr>
          <a:xfrm>
            <a:off x="6461608" y="5413248"/>
            <a:ext cx="495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跨 region 选路策略、跨 region 流量计费、是否支持 GKE 以外的后端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缩写表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每个缩写给出全称和一句定义</a:t>
            </a:r>
            <a:endParaRPr lang="en-US" sz="1400" dirty="0"/>
          </a:p>
        </p:txBody>
      </p:sp>
      <p:graphicFrame>
        <p:nvGraphicFramePr>
          <p:cNvPr id="10" name="abtbl_1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10048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426704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缩写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全称与定义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GKE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Google Kubernetes Engine，Google 的托管容器集群服务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GGN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Google 新一代全球网络，由 B2 和 B4 两张骨干网合并而成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KV cache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注意力计算中缓存的键（Key）和值（Value），占显存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TTFT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Time To First Token，从发请求到收到第一个 token 的时间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P95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95 分位：100 个请求里排第 95 慢的那个的值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P/D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prefill / decode：处理输入阶段 / 逐 token 生成阶段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General Availability，正式商用；Preview 指公开预览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OSI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Open Systems Interconnection，把网络分 7 层的参考模型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HTTP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HyperText Transfer Protocol，网页和 API 用的应用层协议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gRPC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Google 开源的远程调用框架，跑在 HTTP/2 上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MCP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Model Context Protocol，agent 调用工具的协议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A2A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Agent2Agent，Google 提出的 agent 之间互相调用的协议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abtbl_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783080"/>
          <a:ext cx="5410048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426704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缩写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全称与定义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TCP / UDP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传输层协议：TCP 保证按序送达，UDP 不保证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IP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Internet Protocol，网络层协议，按 IP 地址寻址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BGP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Border Gateway Protocol，路由器之间交换路由的协议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Traffic Engineering，流量工程：主动安排流量走哪条路径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gRIBI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gRPC Routing Information Base Interface，写路由表的接口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TCO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Total Cost of Ownership，总拥有成本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RTT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Round-Trip Time，往返时延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Premium Tier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Google Cloud 网络档位：用户流量就近进入 Google 骨干网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GQA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Grouped-Query Attention，多个 query 头共用一组 KV 头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MLA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Multi-head Latent Attention，DeepSeek 把 KV 压成低维向量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RDMA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Remote Direct Memory Access，网卡直接读写远端内存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Reinforcement Learning，强化学习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来源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检索日期 2026-10-29</a:t>
            </a:r>
            <a:endParaRPr lang="en-US" sz="1400" dirty="0"/>
          </a:p>
        </p:txBody>
      </p:sp>
      <p:sp>
        <p:nvSpPr>
          <p:cNvPr id="5" name="num_180"/>
          <p:cNvSpPr/>
          <p:nvPr/>
        </p:nvSpPr>
        <p:spPr>
          <a:xfrm>
            <a:off x="548640" y="1856232"/>
            <a:ext cx="365760" cy="36576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xt_181"/>
          <p:cNvSpPr txBox="1"/>
          <p:nvPr/>
        </p:nvSpPr>
        <p:spPr>
          <a:xfrm>
            <a:off x="1097280" y="178308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Google Cloud Next '26 分会 BRK1-073「What's new in the Cross-Cloud Network」</a:t>
            </a:r>
            <a:endParaRPr lang="en-US" sz="1400" dirty="0"/>
          </a:p>
        </p:txBody>
      </p:sp>
      <p:sp>
        <p:nvSpPr>
          <p:cNvPr id="7" name="txt_182"/>
          <p:cNvSpPr txBox="1"/>
          <p:nvPr/>
        </p:nvSpPr>
        <p:spPr>
          <a:xfrm>
            <a:off x="1097280" y="209397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幻灯片 PDF（会议页面附件）与精华版视频 youtube.com/watch?v=4Jf5jNQ3fAE，2026-04-22；Top 5 清单取自视频画面</a:t>
            </a:r>
            <a:endParaRPr lang="en-US" sz="1200" dirty="0"/>
          </a:p>
        </p:txBody>
      </p:sp>
      <p:sp>
        <p:nvSpPr>
          <p:cNvPr id="8" name="num_183"/>
          <p:cNvSpPr/>
          <p:nvPr/>
        </p:nvSpPr>
        <p:spPr>
          <a:xfrm>
            <a:off x="548640" y="2569464"/>
            <a:ext cx="365760" cy="36576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xt_184"/>
          <p:cNvSpPr txBox="1"/>
          <p:nvPr/>
        </p:nvSpPr>
        <p:spPr>
          <a:xfrm>
            <a:off x="1097280" y="2496312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R. Enns, What's new with the Cross-Cloud Network at Next '26</a:t>
            </a:r>
            <a:endParaRPr lang="en-US" sz="1400" dirty="0"/>
          </a:p>
        </p:txBody>
      </p:sp>
      <p:sp>
        <p:nvSpPr>
          <p:cNvPr id="10" name="txt_185"/>
          <p:cNvSpPr txBox="1"/>
          <p:nvPr/>
        </p:nvSpPr>
        <p:spPr>
          <a:xfrm>
            <a:off x="1097280" y="280720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Google Cloud Blog，2026-04-22</a:t>
            </a:r>
            <a:endParaRPr lang="en-US" sz="1200" dirty="0"/>
          </a:p>
        </p:txBody>
      </p:sp>
      <p:sp>
        <p:nvSpPr>
          <p:cNvPr id="11" name="num_186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xt_187"/>
          <p:cNvSpPr txBox="1"/>
          <p:nvPr/>
        </p:nvSpPr>
        <p:spPr>
          <a:xfrm>
            <a:off x="1097280" y="3209544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B. Koley, A. Singh, How we evolved Google's global and data center networks for the AI era</a:t>
            </a:r>
            <a:endParaRPr lang="en-US" sz="1400" dirty="0"/>
          </a:p>
        </p:txBody>
      </p:sp>
      <p:sp>
        <p:nvSpPr>
          <p:cNvPr id="13" name="txt_188"/>
          <p:cNvSpPr txBox="1"/>
          <p:nvPr/>
        </p:nvSpPr>
        <p:spPr>
          <a:xfrm>
            <a:off x="1097280" y="35204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Google Cloud Blog，2026-05-26</a:t>
            </a:r>
            <a:endParaRPr lang="en-US" sz="1200" dirty="0"/>
          </a:p>
        </p:txBody>
      </p:sp>
      <p:sp>
        <p:nvSpPr>
          <p:cNvPr id="14" name="num_189"/>
          <p:cNvSpPr/>
          <p:nvPr/>
        </p:nvSpPr>
        <p:spPr>
          <a:xfrm>
            <a:off x="548640" y="3995928"/>
            <a:ext cx="365760" cy="36576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xt_190"/>
          <p:cNvSpPr txBox="1"/>
          <p:nvPr/>
        </p:nvSpPr>
        <p:spPr>
          <a:xfrm>
            <a:off x="1097280" y="3922776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M. Al-Fares et al., GGN: Experiences in Designing and Deploying Next-Generation Google Global Network</a:t>
            </a:r>
            <a:endParaRPr lang="en-US" sz="1400" dirty="0"/>
          </a:p>
        </p:txBody>
      </p:sp>
      <p:sp>
        <p:nvSpPr>
          <p:cNvPr id="16" name="txt_191"/>
          <p:cNvSpPr txBox="1"/>
          <p:nvPr/>
        </p:nvSpPr>
        <p:spPr>
          <a:xfrm>
            <a:off x="1097280" y="423367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ACM SIGCOMM 2026</a:t>
            </a:r>
            <a:endParaRPr lang="en-US" sz="1200" dirty="0"/>
          </a:p>
        </p:txBody>
      </p:sp>
      <p:sp>
        <p:nvSpPr>
          <p:cNvPr id="17" name="num_192"/>
          <p:cNvSpPr/>
          <p:nvPr/>
        </p:nvSpPr>
        <p:spPr>
          <a:xfrm>
            <a:off x="548640" y="4709160"/>
            <a:ext cx="365760" cy="36576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xt_193"/>
          <p:cNvSpPr txBox="1"/>
          <p:nvPr/>
        </p:nvSpPr>
        <p:spPr>
          <a:xfrm>
            <a:off x="1097280" y="4636008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R. Qin et al., Prefill-as-a-Service: KVCache of Next-Generation Models Could Go Cross-Datacenter</a:t>
            </a:r>
            <a:endParaRPr lang="en-US" sz="1400" dirty="0"/>
          </a:p>
        </p:txBody>
      </p:sp>
      <p:sp>
        <p:nvSpPr>
          <p:cNvPr id="19" name="txt_194"/>
          <p:cNvSpPr txBox="1"/>
          <p:nvPr/>
        </p:nvSpPr>
        <p:spPr>
          <a:xfrm>
            <a:off x="1097280" y="49469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arXiv 2604.15039，2026-04</a:t>
            </a:r>
            <a:endParaRPr lang="en-US" sz="1200" dirty="0"/>
          </a:p>
        </p:txBody>
      </p:sp>
      <p:sp>
        <p:nvSpPr>
          <p:cNvPr id="20" name="num_195"/>
          <p:cNvSpPr/>
          <p:nvPr/>
        </p:nvSpPr>
        <p:spPr>
          <a:xfrm>
            <a:off x="548640" y="5422392"/>
            <a:ext cx="365760" cy="36576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xt_196"/>
          <p:cNvSpPr txBox="1"/>
          <p:nvPr/>
        </p:nvSpPr>
        <p:spPr>
          <a:xfrm>
            <a:off x="1097280" y="53492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Infinigence AI, PDD: Cross-Datacenter Prefill-Decode Disaggregation</a:t>
            </a:r>
            <a:endParaRPr lang="en-US" sz="1400" dirty="0"/>
          </a:p>
        </p:txBody>
      </p:sp>
      <p:sp>
        <p:nvSpPr>
          <p:cNvPr id="22" name="txt_197"/>
          <p:cNvSpPr txBox="1"/>
          <p:nvPr/>
        </p:nvSpPr>
        <p:spPr>
          <a:xfrm>
            <a:off x="1097280" y="566013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技术报告与代码，github.com/infinigence/pdd，2026-07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GN Teal">
  <a:themeElements>
    <a:clrScheme name="GGN Teal">
      <a:dk1>
        <a:srgbClr val="14232B"/>
      </a:dk1>
      <a:lt1>
        <a:srgbClr val="FFFFFF"/>
      </a:lt1>
      <a:dk2>
        <a:srgbClr val="0E3B43"/>
      </a:dk2>
      <a:lt2>
        <a:srgbClr val="EEF3F4"/>
      </a:lt2>
      <a:accent1>
        <a:srgbClr val="0F7C80"/>
      </a:accent1>
      <a:accent2>
        <a:srgbClr val="E3A43A"/>
      </a:accent2>
      <a:accent3>
        <a:srgbClr val="5B7A8C"/>
      </a:accent3>
      <a:accent4>
        <a:srgbClr val="A7D3D0"/>
      </a:accent4>
      <a:accent5>
        <a:srgbClr val="B5523B"/>
      </a:accent5>
      <a:accent6>
        <a:srgbClr val="5E6E76"/>
      </a:accent6>
      <a:hlink>
        <a:srgbClr val="0F7C80"/>
      </a:hlink>
      <a:folHlink>
        <a:srgbClr val="5B7A8C"/>
      </a:folHlink>
    </a:clrScheme>
    <a:fontScheme name="GGN Teal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 region 推理：多 region GKE Inference Gateway</dc:title>
  <dc:subject>PptxGenJS Presentation</dc:subject>
  <dc:creator>Xin Ye</dc:creator>
  <cp:lastModifiedBy>Xin Ye</cp:lastModifiedBy>
  <cp:revision>1</cp:revision>
  <dcterms:created xsi:type="dcterms:W3CDTF">2026-10-29T05:41:18Z</dcterms:created>
  <dcterms:modified xsi:type="dcterms:W3CDTF">2026-10-29T05:41:18Z</dcterms:modified>
</cp:coreProperties>
</file>